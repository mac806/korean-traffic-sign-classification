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70" r:id="rId3"/>
    <p:sldId id="271" r:id="rId4"/>
    <p:sldId id="272" r:id="rId5"/>
    <p:sldId id="257" r:id="rId6"/>
    <p:sldId id="258" r:id="rId7"/>
    <p:sldId id="274" r:id="rId8"/>
    <p:sldId id="275" r:id="rId9"/>
    <p:sldId id="276" r:id="rId10"/>
    <p:sldId id="259" r:id="rId11"/>
    <p:sldId id="260" r:id="rId12"/>
    <p:sldId id="261" r:id="rId13"/>
    <p:sldId id="279" r:id="rId14"/>
    <p:sldId id="277" r:id="rId15"/>
    <p:sldId id="280" r:id="rId16"/>
    <p:sldId id="262" r:id="rId17"/>
    <p:sldId id="263" r:id="rId18"/>
    <p:sldId id="281" r:id="rId19"/>
    <p:sldId id="282" r:id="rId20"/>
    <p:sldId id="283" r:id="rId21"/>
    <p:sldId id="264" r:id="rId22"/>
    <p:sldId id="284" r:id="rId23"/>
    <p:sldId id="265" r:id="rId24"/>
    <p:sldId id="285" r:id="rId25"/>
    <p:sldId id="286" r:id="rId26"/>
    <p:sldId id="266" r:id="rId27"/>
    <p:sldId id="287" r:id="rId28"/>
    <p:sldId id="288" r:id="rId29"/>
    <p:sldId id="267" r:id="rId30"/>
    <p:sldId id="268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3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13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97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4A233-EDDF-9678-D484-641550F6A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524655-8D83-A4CE-3E55-77AA53EFF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F260B-0B55-55AC-5D79-96264B861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EDD14-4113-AB9E-1B4A-6E900CB33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712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F8209-CF13-B971-E81A-788599D20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4E3956-BD92-1121-D87C-1C7B4FB7BD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D002B-C3E7-2DF1-1A2D-23FFD6958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C7959-F542-027E-E8E2-1CD6815855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227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D1D90-BE8A-AA21-AAE4-9548D5CDD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87660-854A-B099-F73D-997F92063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32752-BA74-C099-DA8F-D8EF2776A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E09E0-D36F-450C-F391-DC4D9F8FE4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9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00243-5E6A-46D0-192F-11C249651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AE7627-330E-2805-DBBA-F5A722B7A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AA7ED-E302-6D16-60F7-CE7D0611E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6E772-9870-A188-6DED-1ECF4165FD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369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B2C90-AD3A-6B54-B73B-DB99CCCB0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0126B-B701-91FE-A97F-57A906B45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1BE5B-16D3-82D4-4D29-7123DBCA2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B94DA-053D-A4AB-9101-4EE112085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8715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58AA8-CAAC-12BC-DF07-B693B6303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52376-26DD-9BAE-516F-2908614D8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C19195-1317-DFC8-2094-664826DB9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DB700-0436-B9DE-CC94-78E251B504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813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60124-D903-A800-61C4-A7ADE7D14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05599-F3C4-3196-DE2C-5A2262627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262B0-605F-4214-7B99-FF97212A4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23E0E-8D44-5853-1ED5-508E2A4C0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55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A62E3-104A-808D-6533-17E1A18C1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02153F-05F4-9FA9-5BB8-1D0786D41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1F9CFA-9C74-D4A2-DBFC-520B78B95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12C7A-C6FB-ED68-9930-71CA9BA7AF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6445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937C8-3CBC-BAF5-B98D-20C05012C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6B588-DE38-AB72-DA65-CE2CB8DED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C528B-A439-28CF-168A-62479819FA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93F15-21E8-4798-C524-CB835BBD43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059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77BB4-8558-EE99-E6E1-E375255C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127E8-7BE1-DBB5-4F22-F812E3EEF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6D1F6-F5CE-2592-DB99-F83372ADF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2D3AE-8EB2-6E28-DAF7-9A67CA1257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8332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BA956-156B-4A1D-1A39-115520B3B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8B9F7-592C-C44E-EB41-FB853CA40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1A513-924C-9F8C-47E2-0149C722B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529DC-ED9F-21D7-1468-60F279A742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00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65760" y="781812"/>
            <a:ext cx="8412480" cy="2286000"/>
          </a:xfrm>
          <a:prstGeom prst="rect">
            <a:avLst/>
          </a:prstGeom>
          <a:solidFill>
            <a:srgbClr val="2563EB">
              <a:alpha val="12000"/>
            </a:srgbClr>
          </a:solidFill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88696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도로 표지판 인식 및 위험도 분류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CNN </a:t>
            </a:r>
            <a:r>
              <a:rPr lang="en-US" sz="1300" dirty="0" err="1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기반</a:t>
            </a:r>
            <a:r>
              <a:rPr lang="en-US" sz="1300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r>
              <a:rPr lang="en-US" sz="1300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비교 연구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ResNet50 · ResNet101 · MobileNetV2 · VGG16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3218688"/>
            <a:ext cx="8412480" cy="0"/>
          </a:xfrm>
          <a:prstGeom prst="line">
            <a:avLst/>
          </a:prstGeom>
          <a:noFill/>
          <a:ln w="1524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3364992"/>
            <a:ext cx="411480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34015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학번 / 이름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36393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C284045 / 최원오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3364992"/>
            <a:ext cx="411480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818888" y="3401568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과목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18888" y="36393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머신러닝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023360"/>
            <a:ext cx="411480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5488" y="405993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데이터셋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42976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Hub 한국 교통표지판 (110,900장)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4023360"/>
            <a:ext cx="4114800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18888" y="405993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18888" y="42976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RTX 4070 Super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머신러닝 기말 프로젝트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342901" y="1200150"/>
            <a:ext cx="8457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한국 도로환경 특수성 + 표지판 인식의 위험도 연계 필요성</a:t>
            </a:r>
            <a:endParaRPr lang="en-US" sz="12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2900" y="1748790"/>
            <a:ext cx="2606040" cy="1303020"/>
          </a:xfrm>
          <a:prstGeom prst="roundRect">
            <a:avLst>
              <a:gd name="adj" fmla="val 68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" y="1885950"/>
            <a:ext cx="356616" cy="356616"/>
          </a:xfrm>
          <a:prstGeom prst="ellipse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6344" y="188595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dirty="0">
                <a:solidFill>
                  <a:srgbClr val="000000"/>
                </a:solidFill>
                <a:latin typeface="+mn-ea"/>
                <a:cs typeface="Pretendard" pitchFamily="34" charset="-120"/>
              </a:rPr>
              <a:t>🌐</a:t>
            </a:r>
            <a:endParaRPr lang="en-US" sz="1350" dirty="0">
              <a:latin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05256" y="188595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222222"/>
                </a:solidFill>
                <a:latin typeface="+mn-ea"/>
                <a:cs typeface="Pretendard" pitchFamily="34" charset="-120"/>
              </a:rPr>
              <a:t>해외 데이터셋의 한계</a:t>
            </a:r>
            <a:endParaRPr lang="en-US" sz="975" dirty="0">
              <a:latin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344" y="228371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3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GTSRB 등 해외 벤치마크는</a:t>
            </a:r>
            <a:endParaRPr lang="en-US" sz="863" dirty="0">
              <a:latin typeface="+mn-ea"/>
            </a:endParaRPr>
          </a:p>
          <a:p>
            <a:r>
              <a:rPr lang="en-US" sz="863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한국 표지판 기준과 상이</a:t>
            </a:r>
            <a:endParaRPr lang="en-US" sz="863" dirty="0">
              <a:latin typeface="+mn-ea"/>
            </a:endParaRPr>
          </a:p>
          <a:p>
            <a:r>
              <a:rPr lang="en-US" sz="863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→ 실도로 적용 불가</a:t>
            </a:r>
            <a:endParaRPr lang="en-US" sz="863" dirty="0">
              <a:latin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188970" y="1748790"/>
            <a:ext cx="2606040" cy="1303020"/>
          </a:xfrm>
          <a:prstGeom prst="roundRect">
            <a:avLst>
              <a:gd name="adj" fmla="val 68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312414" y="1885950"/>
            <a:ext cx="356616" cy="356616"/>
          </a:xfrm>
          <a:prstGeom prst="ellipse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12414" y="188595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dirty="0">
                <a:solidFill>
                  <a:srgbClr val="000000"/>
                </a:solidFill>
                <a:latin typeface="+mn-ea"/>
                <a:cs typeface="Pretendard" pitchFamily="34" charset="-120"/>
              </a:rPr>
              <a:t>📊</a:t>
            </a:r>
            <a:endParaRPr lang="en-US" sz="1350" dirty="0">
              <a:latin typeface="+mn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51326" y="188595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222222"/>
                </a:solidFill>
                <a:latin typeface="+mn-ea"/>
                <a:cs typeface="Pretendard" pitchFamily="34" charset="-120"/>
              </a:rPr>
              <a:t>단순 분류의 한계</a:t>
            </a:r>
            <a:endParaRPr lang="en-US" sz="975" dirty="0">
              <a:latin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12414" y="228371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3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기존 모델은 표지판 종류만 분류</a:t>
            </a:r>
            <a:endParaRPr lang="en-US" sz="863" dirty="0">
              <a:latin typeface="+mn-ea"/>
            </a:endParaRPr>
          </a:p>
          <a:p>
            <a:r>
              <a:rPr lang="en-US" sz="863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위험도 정보 미제공</a:t>
            </a:r>
            <a:endParaRPr lang="en-US" sz="863" dirty="0">
              <a:latin typeface="+mn-ea"/>
            </a:endParaRPr>
          </a:p>
          <a:p>
            <a:r>
              <a:rPr lang="en-US" sz="863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→ 운전자 의사결정 지원 불가</a:t>
            </a:r>
            <a:endParaRPr lang="en-US" sz="863" dirty="0">
              <a:latin typeface="+mn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35040" y="1748790"/>
            <a:ext cx="2606040" cy="1303020"/>
          </a:xfrm>
          <a:prstGeom prst="roundRect">
            <a:avLst>
              <a:gd name="adj" fmla="val 684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58484" y="1885950"/>
            <a:ext cx="356616" cy="356616"/>
          </a:xfrm>
          <a:prstGeom prst="ellipse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58484" y="188595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dirty="0">
                <a:solidFill>
                  <a:srgbClr val="000000"/>
                </a:solidFill>
                <a:latin typeface="+mn-ea"/>
                <a:cs typeface="Pretendard" pitchFamily="34" charset="-120"/>
              </a:rPr>
              <a:t>🚗</a:t>
            </a:r>
            <a:endParaRPr lang="en-US" sz="1350" dirty="0">
              <a:latin typeface="+mn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97396" y="188595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222222"/>
                </a:solidFill>
                <a:latin typeface="+mn-ea"/>
                <a:cs typeface="Pretendard" pitchFamily="34" charset="-120"/>
              </a:rPr>
              <a:t>자율주행·ADAS 수요</a:t>
            </a:r>
            <a:endParaRPr lang="en-US" sz="975" dirty="0">
              <a:latin typeface="+mn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58484" y="2283714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3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국내 도로환경 특화 데이터</a:t>
            </a:r>
            <a:endParaRPr lang="en-US" sz="863" dirty="0">
              <a:latin typeface="+mn-ea"/>
            </a:endParaRPr>
          </a:p>
          <a:p>
            <a:r>
              <a:rPr lang="en-US" sz="863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및 위험 인지 모델 필요</a:t>
            </a:r>
            <a:endParaRPr lang="en-US" sz="863" dirty="0">
              <a:latin typeface="+mn-ea"/>
            </a:endParaRPr>
          </a:p>
          <a:p>
            <a:r>
              <a:rPr lang="en-US" sz="863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→ 국내 기술 경쟁력 확보</a:t>
            </a:r>
            <a:endParaRPr lang="en-US" sz="863" dirty="0">
              <a:latin typeface="+mn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42901" y="3236976"/>
            <a:ext cx="8457971" cy="1268730"/>
          </a:xfrm>
          <a:prstGeom prst="roundRect">
            <a:avLst>
              <a:gd name="adj" fmla="val 8108"/>
            </a:avLst>
          </a:prstGeom>
          <a:solidFill>
            <a:srgbClr val="1456F0"/>
          </a:solidFill>
          <a:ln/>
          <a:effectLst>
            <a:outerShdw blurRad="190500" dist="50800" dir="8100000" algn="bl" rotWithShape="0">
              <a:srgbClr val="2C1E74">
                <a:alpha val="16000"/>
              </a:srgbClr>
            </a:outerShdw>
          </a:effectLst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2930" y="3360420"/>
            <a:ext cx="78867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FFFFFF">
                    <a:alpha val="85000"/>
                  </a:srgbClr>
                </a:solidFill>
                <a:latin typeface="+mn-ea"/>
                <a:cs typeface="Pretendard" pitchFamily="34" charset="-120"/>
              </a:rPr>
              <a:t>✅  본 프로젝트의 해결 방향</a:t>
            </a:r>
            <a:endParaRPr lang="en-US" sz="900" dirty="0">
              <a:latin typeface="+mn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2930" y="3593592"/>
            <a:ext cx="78867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FFFFFF"/>
                </a:solidFill>
                <a:latin typeface="+mn-ea"/>
                <a:cs typeface="Pretendard" pitchFamily="34" charset="-120"/>
              </a:rPr>
              <a:t>AI Hub 한국 실도로 주행 </a:t>
            </a:r>
            <a:r>
              <a:rPr lang="en-US" sz="1050" dirty="0" err="1">
                <a:solidFill>
                  <a:srgbClr val="FFFFFF"/>
                </a:solidFill>
                <a:latin typeface="+mn-ea"/>
                <a:cs typeface="Pretendard" pitchFamily="34" charset="-120"/>
              </a:rPr>
              <a:t>영상</a:t>
            </a:r>
            <a:r>
              <a:rPr lang="en-US" sz="1050" dirty="0">
                <a:solidFill>
                  <a:srgbClr val="FFFFFF"/>
                </a:solidFill>
                <a:latin typeface="+mn-ea"/>
                <a:cs typeface="Pretendard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+mn-ea"/>
                <a:cs typeface="Pretendard" pitchFamily="34" charset="-120"/>
              </a:rPr>
              <a:t>데이터에서</a:t>
            </a:r>
            <a:r>
              <a:rPr lang="en-US" sz="1050" dirty="0">
                <a:solidFill>
                  <a:srgbClr val="FFFFFF"/>
                </a:solidFill>
                <a:latin typeface="+mn-ea"/>
                <a:cs typeface="Pretendard" pitchFamily="34" charset="-120"/>
              </a:rPr>
              <a:t> 표지판 이미지를 추출하여 CNN으로 종류를 분류하고,</a:t>
            </a:r>
            <a:endParaRPr lang="en-US" sz="1050" dirty="0">
              <a:latin typeface="+mn-ea"/>
            </a:endParaRPr>
          </a:p>
          <a:p>
            <a:r>
              <a:rPr lang="en-US" sz="1050" dirty="0">
                <a:solidFill>
                  <a:srgbClr val="FFFFFF"/>
                </a:solidFill>
                <a:latin typeface="+mn-ea"/>
                <a:cs typeface="Pretendard" pitchFamily="34" charset="-120"/>
              </a:rPr>
              <a:t>도로교통공단 TAAS 사고 통계를 근거로 설계한 위험등급(고위험 / 주의 / 보통 / 안전)을 함께 출력하는 시스템 개발</a:t>
            </a:r>
            <a:endParaRPr lang="en-US" sz="1050" dirty="0">
              <a:latin typeface="+mn-ea"/>
            </a:endParaRPr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DA05BC62-0027-EAF9-3243-A61BBB36C02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42901" y="304460"/>
            <a:ext cx="8457971" cy="30547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000" b="1" kern="0" spc="-38" dirty="0">
                <a:solidFill>
                  <a:schemeClr val="bg1"/>
                </a:solidFill>
                <a:latin typeface="+mn-ea"/>
                <a:cs typeface="Pretendard" pitchFamily="34" charset="-120"/>
              </a:rPr>
              <a:t>왜 이 문제를 해결해야 하는가?</a:t>
            </a:r>
            <a:endParaRPr lang="en-US" sz="2000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342901" y="1200150"/>
            <a:ext cx="8457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출처: aihub.or.kr · dataSetSn=188 · 국가 공식 AI 데이터 플랫폼</a:t>
            </a:r>
            <a:endParaRPr lang="en-US" sz="12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2900" y="1748790"/>
            <a:ext cx="3977640" cy="284607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0060" y="187223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456F0"/>
                </a:solidFill>
                <a:latin typeface="+mn-ea"/>
                <a:cs typeface="Pretendard" pitchFamily="34" charset="-120"/>
              </a:rPr>
              <a:t>📋  데이터셋 주요 스펙</a:t>
            </a:r>
            <a:endParaRPr lang="en-US" sz="900" dirty="0">
              <a:latin typeface="+mn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0060" y="2173986"/>
            <a:ext cx="960120" cy="219456"/>
          </a:xfrm>
          <a:prstGeom prst="roundRect">
            <a:avLst>
              <a:gd name="adj" fmla="val 12500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060" y="217398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456F0"/>
                </a:solidFill>
                <a:latin typeface="+mn-ea"/>
                <a:cs typeface="Pretendard" pitchFamily="34" charset="-120"/>
              </a:rPr>
              <a:t>촬영 방법</a:t>
            </a:r>
            <a:endParaRPr lang="en-US" sz="750" dirty="0">
              <a:latin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22476" y="2173986"/>
            <a:ext cx="2640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222222"/>
                </a:solidFill>
                <a:latin typeface="+mn-ea"/>
                <a:cs typeface="Pretendard" pitchFamily="34" charset="-120"/>
              </a:rPr>
              <a:t>차량 탑재 카메라로 수도권 실도로 주행 영상 수집</a:t>
            </a:r>
            <a:endParaRPr lang="en-US" sz="788" dirty="0">
              <a:latin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0060" y="2427732"/>
            <a:ext cx="3703320" cy="3429"/>
          </a:xfrm>
          <a:prstGeom prst="rect">
            <a:avLst/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0060" y="2564892"/>
            <a:ext cx="960120" cy="219456"/>
          </a:xfrm>
          <a:prstGeom prst="roundRect">
            <a:avLst>
              <a:gd name="adj" fmla="val 12500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0060" y="256489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456F0"/>
                </a:solidFill>
                <a:latin typeface="+mn-ea"/>
                <a:cs typeface="Pretendard" pitchFamily="34" charset="-120"/>
              </a:rPr>
              <a:t>원시 데이터</a:t>
            </a:r>
            <a:endParaRPr lang="en-US" sz="750" dirty="0">
              <a:latin typeface="+mn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522476" y="2564892"/>
            <a:ext cx="2640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222222"/>
                </a:solidFill>
                <a:latin typeface="+mn-ea"/>
                <a:cs typeface="Pretendard" pitchFamily="34" charset="-120"/>
              </a:rPr>
              <a:t>300시간 이상 주행 영상</a:t>
            </a:r>
            <a:endParaRPr lang="en-US" sz="788" dirty="0">
              <a:latin typeface="+mn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0060" y="2818638"/>
            <a:ext cx="3703320" cy="3429"/>
          </a:xfrm>
          <a:prstGeom prst="rect">
            <a:avLst/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80060" y="2955798"/>
            <a:ext cx="960120" cy="219456"/>
          </a:xfrm>
          <a:prstGeom prst="roundRect">
            <a:avLst>
              <a:gd name="adj" fmla="val 12500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0060" y="295579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456F0"/>
                </a:solidFill>
                <a:latin typeface="+mn-ea"/>
                <a:cs typeface="Pretendard" pitchFamily="34" charset="-120"/>
              </a:rPr>
              <a:t>가공 이미지</a:t>
            </a:r>
            <a:endParaRPr lang="en-US" sz="750" dirty="0">
              <a:latin typeface="+mn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522476" y="2955798"/>
            <a:ext cx="2640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222222"/>
                </a:solidFill>
                <a:latin typeface="+mn-ea"/>
                <a:cs typeface="Pretendard" pitchFamily="34" charset="-120"/>
              </a:rPr>
              <a:t>약 190만 장 이미지 (bounding box 라벨링)</a:t>
            </a:r>
            <a:endParaRPr lang="en-US" sz="788" dirty="0">
              <a:latin typeface="+mn-ea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0060" y="3209544"/>
            <a:ext cx="3703320" cy="3429"/>
          </a:xfrm>
          <a:prstGeom prst="rect">
            <a:avLst/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0060" y="3346704"/>
            <a:ext cx="960120" cy="219456"/>
          </a:xfrm>
          <a:prstGeom prst="roundRect">
            <a:avLst>
              <a:gd name="adj" fmla="val 12500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0060" y="334670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456F0"/>
                </a:solidFill>
                <a:latin typeface="+mn-ea"/>
                <a:cs typeface="Pretendard" pitchFamily="34" charset="-120"/>
              </a:rPr>
              <a:t>라벨 정보</a:t>
            </a:r>
            <a:endParaRPr lang="en-US" sz="750" dirty="0">
              <a:latin typeface="+mn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522476" y="3346704"/>
            <a:ext cx="2640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222222"/>
                </a:solidFill>
                <a:latin typeface="+mn-ea"/>
                <a:cs typeface="Pretendard" pitchFamily="34" charset="-120"/>
              </a:rPr>
              <a:t>표지판 위치(box) + 종류(지시/규제/주의) + 신호등 상태</a:t>
            </a:r>
            <a:endParaRPr lang="en-US" sz="788" dirty="0">
              <a:latin typeface="+mn-ea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0060" y="3600450"/>
            <a:ext cx="3703320" cy="3429"/>
          </a:xfrm>
          <a:prstGeom prst="rect">
            <a:avLst/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0060" y="3737610"/>
            <a:ext cx="960120" cy="219456"/>
          </a:xfrm>
          <a:prstGeom prst="roundRect">
            <a:avLst>
              <a:gd name="adj" fmla="val 12500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80060" y="373761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456F0"/>
                </a:solidFill>
                <a:latin typeface="+mn-ea"/>
                <a:cs typeface="Pretendard" pitchFamily="34" charset="-120"/>
              </a:rPr>
              <a:t>환경 다양성</a:t>
            </a:r>
            <a:endParaRPr lang="en-US" sz="750" dirty="0">
              <a:latin typeface="+mn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522476" y="3737610"/>
            <a:ext cx="2640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222222"/>
                </a:solidFill>
                <a:latin typeface="+mn-ea"/>
                <a:cs typeface="Pretendard" pitchFamily="34" charset="-120"/>
              </a:rPr>
              <a:t>주간·야간·역광·눈·비·안개 포함</a:t>
            </a:r>
            <a:endParaRPr lang="en-US" sz="788" dirty="0">
              <a:latin typeface="+mn-ea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0060" y="3991356"/>
            <a:ext cx="3703320" cy="3429"/>
          </a:xfrm>
          <a:prstGeom prst="rect">
            <a:avLst/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0060" y="4128516"/>
            <a:ext cx="960120" cy="219456"/>
          </a:xfrm>
          <a:prstGeom prst="roundRect">
            <a:avLst>
              <a:gd name="adj" fmla="val 12500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0060" y="412851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456F0"/>
                </a:solidFill>
                <a:latin typeface="+mn-ea"/>
                <a:cs typeface="Pretendard" pitchFamily="34" charset="-120"/>
              </a:rPr>
              <a:t>데이터 출처</a:t>
            </a:r>
            <a:endParaRPr lang="en-US" sz="750" dirty="0">
              <a:latin typeface="+mn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522476" y="4128516"/>
            <a:ext cx="264033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dirty="0">
                <a:solidFill>
                  <a:srgbClr val="222222"/>
                </a:solidFill>
                <a:latin typeface="+mn-ea"/>
                <a:cs typeface="Pretendard" pitchFamily="34" charset="-120"/>
              </a:rPr>
              <a:t>AI Hub (aihub.or.kr)</a:t>
            </a:r>
            <a:endParaRPr lang="en-US" sz="788" dirty="0">
              <a:latin typeface="+mn-ea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560570" y="1748790"/>
            <a:ext cx="4251960" cy="284607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697730" y="1872234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222222"/>
                </a:solidFill>
                <a:latin typeface="+mn-ea"/>
                <a:cs typeface="Pretendard" pitchFamily="34" charset="-120"/>
              </a:rPr>
              <a:t>🔄  데이터 활용 흐름</a:t>
            </a:r>
            <a:endParaRPr lang="en-US" sz="900" dirty="0">
              <a:latin typeface="+mn-ea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752594" y="2194560"/>
            <a:ext cx="685800" cy="514350"/>
          </a:xfrm>
          <a:prstGeom prst="roundRect">
            <a:avLst>
              <a:gd name="adj" fmla="val 10667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752594" y="2194560"/>
            <a:ext cx="685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1456F0"/>
                </a:solidFill>
                <a:latin typeface="+mn-ea"/>
                <a:cs typeface="Pretendard" pitchFamily="34" charset="-120"/>
              </a:rPr>
              <a:t>주행 영상</a:t>
            </a:r>
            <a:endParaRPr lang="en-US" sz="675" dirty="0">
              <a:latin typeface="+mn-ea"/>
            </a:endParaRPr>
          </a:p>
          <a:p>
            <a:pPr algn="ctr"/>
            <a:r>
              <a:rPr lang="en-US" sz="675" dirty="0">
                <a:solidFill>
                  <a:srgbClr val="1456F0"/>
                </a:solidFill>
                <a:latin typeface="+mn-ea"/>
                <a:cs typeface="Pretendard" pitchFamily="34" charset="-120"/>
              </a:rPr>
              <a:t>(원시)</a:t>
            </a:r>
            <a:endParaRPr lang="en-US" sz="675" dirty="0">
              <a:latin typeface="+mn-ea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752594" y="277749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38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차량 카메라로</a:t>
            </a:r>
            <a:endParaRPr lang="en-US" sz="638" dirty="0">
              <a:latin typeface="+mn-ea"/>
            </a:endParaRPr>
          </a:p>
          <a:p>
            <a:pPr algn="ctr"/>
            <a:r>
              <a:rPr lang="en-US" sz="638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수도권 실도로 촬영</a:t>
            </a:r>
            <a:endParaRPr lang="en-US" sz="638" dirty="0">
              <a:latin typeface="+mn-ea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445252" y="2345436"/>
            <a:ext cx="12344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8E8E93"/>
                </a:solidFill>
                <a:latin typeface="+mn-ea"/>
                <a:cs typeface="Pretendard" pitchFamily="34" charset="-120"/>
              </a:rPr>
              <a:t>→</a:t>
            </a:r>
            <a:endParaRPr lang="en-US" sz="900" dirty="0">
              <a:latin typeface="+mn-ea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548122" y="2194560"/>
            <a:ext cx="685800" cy="514350"/>
          </a:xfrm>
          <a:prstGeom prst="roundRect">
            <a:avLst>
              <a:gd name="adj" fmla="val 10667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548122" y="2194560"/>
            <a:ext cx="685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1456F0"/>
                </a:solidFill>
                <a:latin typeface="+mn-ea"/>
                <a:cs typeface="Pretendard" pitchFamily="34" charset="-120"/>
              </a:rPr>
              <a:t>이미지 추출</a:t>
            </a:r>
            <a:endParaRPr lang="en-US" sz="675" dirty="0">
              <a:latin typeface="+mn-ea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548122" y="277749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38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영상 프레임 단위</a:t>
            </a:r>
            <a:endParaRPr lang="en-US" sz="638" dirty="0">
              <a:latin typeface="+mn-ea"/>
            </a:endParaRPr>
          </a:p>
          <a:p>
            <a:pPr algn="ctr"/>
            <a:r>
              <a:rPr lang="en-US" sz="638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이미지 분리</a:t>
            </a:r>
            <a:endParaRPr lang="en-US" sz="638" dirty="0">
              <a:latin typeface="+mn-ea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240780" y="2345436"/>
            <a:ext cx="12344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8E8E93"/>
                </a:solidFill>
                <a:latin typeface="+mn-ea"/>
                <a:cs typeface="Pretendard" pitchFamily="34" charset="-120"/>
              </a:rPr>
              <a:t>→</a:t>
            </a:r>
            <a:endParaRPr lang="en-US" sz="900" dirty="0">
              <a:latin typeface="+mn-ea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343650" y="2194560"/>
            <a:ext cx="685800" cy="514350"/>
          </a:xfrm>
          <a:prstGeom prst="roundRect">
            <a:avLst>
              <a:gd name="adj" fmla="val 10667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343650" y="2194560"/>
            <a:ext cx="685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1456F0"/>
                </a:solidFill>
                <a:latin typeface="+mn-ea"/>
                <a:cs typeface="Pretendard" pitchFamily="34" charset="-120"/>
              </a:rPr>
              <a:t>bbox Crop</a:t>
            </a:r>
            <a:endParaRPr lang="en-US" sz="675" dirty="0">
              <a:latin typeface="+mn-ea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343650" y="277749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38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표지판 좌표로</a:t>
            </a:r>
            <a:endParaRPr lang="en-US" sz="638" dirty="0">
              <a:latin typeface="+mn-ea"/>
            </a:endParaRPr>
          </a:p>
          <a:p>
            <a:pPr algn="ctr"/>
            <a:r>
              <a:rPr lang="en-US" sz="638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영역 잘라내기</a:t>
            </a:r>
            <a:endParaRPr lang="en-US" sz="638" dirty="0">
              <a:latin typeface="+mn-ea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036308" y="2345436"/>
            <a:ext cx="12344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8E8E93"/>
                </a:solidFill>
                <a:latin typeface="+mn-ea"/>
                <a:cs typeface="Pretendard" pitchFamily="34" charset="-120"/>
              </a:rPr>
              <a:t>→</a:t>
            </a:r>
            <a:endParaRPr lang="en-US" sz="900" dirty="0">
              <a:latin typeface="+mn-ea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139178" y="2194560"/>
            <a:ext cx="685800" cy="514350"/>
          </a:xfrm>
          <a:prstGeom prst="roundRect">
            <a:avLst>
              <a:gd name="adj" fmla="val 10667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139178" y="2194560"/>
            <a:ext cx="685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dirty="0">
                <a:solidFill>
                  <a:srgbClr val="1456F0"/>
                </a:solidFill>
                <a:latin typeface="+mn-ea"/>
                <a:cs typeface="Pretendard" pitchFamily="34" charset="-120"/>
              </a:rPr>
              <a:t>리사이즈</a:t>
            </a:r>
            <a:endParaRPr lang="en-US" sz="675" dirty="0">
              <a:latin typeface="+mn-ea"/>
            </a:endParaRPr>
          </a:p>
          <a:p>
            <a:pPr algn="ctr"/>
            <a:r>
              <a:rPr lang="en-US" sz="675" dirty="0">
                <a:solidFill>
                  <a:srgbClr val="1456F0"/>
                </a:solidFill>
                <a:latin typeface="+mn-ea"/>
                <a:cs typeface="Pretendard" pitchFamily="34" charset="-120"/>
              </a:rPr>
              <a:t>&amp; 정규화</a:t>
            </a:r>
            <a:endParaRPr lang="en-US" sz="675" dirty="0">
              <a:latin typeface="+mn-ea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139178" y="277749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38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224×224 변환</a:t>
            </a:r>
            <a:endParaRPr lang="en-US" sz="638" dirty="0">
              <a:latin typeface="+mn-ea"/>
            </a:endParaRPr>
          </a:p>
          <a:p>
            <a:pPr algn="ctr"/>
            <a:r>
              <a:rPr lang="en-US" sz="638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+ 채널 정규화</a:t>
            </a:r>
            <a:endParaRPr lang="en-US" sz="638" dirty="0">
              <a:latin typeface="+mn-ea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831836" y="2345436"/>
            <a:ext cx="12344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8E8E93"/>
                </a:solidFill>
                <a:latin typeface="+mn-ea"/>
                <a:cs typeface="Pretendard" pitchFamily="34" charset="-120"/>
              </a:rPr>
              <a:t>→</a:t>
            </a:r>
            <a:endParaRPr lang="en-US" sz="900" dirty="0">
              <a:latin typeface="+mn-ea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934706" y="2194560"/>
            <a:ext cx="685800" cy="514350"/>
          </a:xfrm>
          <a:prstGeom prst="roundRect">
            <a:avLst>
              <a:gd name="adj" fmla="val 1066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934706" y="2194560"/>
            <a:ext cx="6858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FFFFFF"/>
                </a:solidFill>
                <a:latin typeface="+mn-ea"/>
                <a:cs typeface="Pretendard" pitchFamily="34" charset="-120"/>
              </a:rPr>
              <a:t>CNN 학습</a:t>
            </a:r>
            <a:endParaRPr lang="en-US" sz="675" dirty="0">
              <a:latin typeface="+mn-ea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934706" y="277749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638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클래스 분류</a:t>
            </a:r>
            <a:endParaRPr lang="en-US" sz="638" dirty="0">
              <a:latin typeface="+mn-ea"/>
            </a:endParaRPr>
          </a:p>
          <a:p>
            <a:pPr algn="ctr"/>
            <a:r>
              <a:rPr lang="en-US" sz="638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+ 위험등급 매핑</a:t>
            </a:r>
            <a:endParaRPr lang="en-US" sz="638" dirty="0">
              <a:latin typeface="+mn-ea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697730" y="3326130"/>
            <a:ext cx="3977640" cy="6858"/>
          </a:xfrm>
          <a:prstGeom prst="rect">
            <a:avLst/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697730" y="3408426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222222"/>
                </a:solidFill>
                <a:latin typeface="+mn-ea"/>
                <a:cs typeface="Pretendard" pitchFamily="34" charset="-120"/>
              </a:rPr>
              <a:t>📁  라벨 구조 (JSON 예시)</a:t>
            </a:r>
            <a:endParaRPr lang="en-US" sz="825" dirty="0">
              <a:latin typeface="+mn-ea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4697730" y="3655314"/>
            <a:ext cx="3977640" cy="809244"/>
          </a:xfrm>
          <a:prstGeom prst="roundRect">
            <a:avLst>
              <a:gd name="adj" fmla="val 678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4800600" y="3682746"/>
            <a:ext cx="380619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image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원본 주행 사진 파일명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box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표지판 위치 좌표 </a:t>
            </a:r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(CNN 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입력용 </a:t>
            </a:r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Crop 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영역</a:t>
            </a:r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)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class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: 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표지판 종류 </a:t>
            </a:r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모델이 맞출 정답지</a:t>
            </a:r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)</a:t>
            </a:r>
          </a:p>
          <a:p>
            <a:endParaRPr lang="ko-KR" altLang="en-US" sz="9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8" name="Shape 0">
            <a:extLst>
              <a:ext uri="{FF2B5EF4-FFF2-40B4-BE49-F238E27FC236}">
                <a16:creationId xmlns:a16="http://schemas.microsoft.com/office/drawing/2014/main" id="{128314A7-2186-9930-EE8B-3E7A396BC63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54559" y="309753"/>
            <a:ext cx="8457971" cy="2903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000" b="1" kern="0" spc="-38" dirty="0">
                <a:solidFill>
                  <a:schemeClr val="bg1"/>
                </a:solidFill>
                <a:latin typeface="+mn-ea"/>
                <a:cs typeface="Pretendard" pitchFamily="34" charset="-120"/>
              </a:rPr>
              <a:t>데이터셋: AI Hub 신호등/도로표지판 </a:t>
            </a:r>
            <a:r>
              <a:rPr lang="en-US" sz="2000" b="1" kern="0" spc="-38" dirty="0" err="1">
                <a:solidFill>
                  <a:schemeClr val="bg1"/>
                </a:solidFill>
                <a:latin typeface="+mn-ea"/>
                <a:cs typeface="Pretendard" pitchFamily="34" charset="-120"/>
              </a:rPr>
              <a:t>인지</a:t>
            </a:r>
            <a:r>
              <a:rPr lang="en-US" sz="2000" b="1" kern="0" spc="-38" dirty="0">
                <a:solidFill>
                  <a:schemeClr val="bg1"/>
                </a:solidFill>
                <a:latin typeface="+mn-ea"/>
                <a:cs typeface="Pretendard" pitchFamily="34" charset="-120"/>
              </a:rPr>
              <a:t> </a:t>
            </a:r>
            <a:r>
              <a:rPr lang="en-US" sz="2000" b="1" kern="0" spc="-38" dirty="0" err="1">
                <a:solidFill>
                  <a:schemeClr val="bg1"/>
                </a:solidFill>
                <a:latin typeface="+mn-ea"/>
                <a:cs typeface="Pretendard" pitchFamily="34" charset="-120"/>
              </a:rPr>
              <a:t>영상</a:t>
            </a:r>
            <a:endParaRPr lang="en-US" sz="2000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342901" y="1200150"/>
            <a:ext cx="8457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45515E"/>
                </a:solidFill>
                <a:latin typeface="+mn-ea"/>
                <a:cs typeface="Pretendard" pitchFamily="34" charset="-120"/>
              </a:rPr>
              <a:t>AI Hub 공식 페이지 + 실제 데이터셋 샘플 확인</a:t>
            </a:r>
            <a:endParaRPr lang="en-US" sz="12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42900" y="1748790"/>
            <a:ext cx="4046220" cy="2846070"/>
          </a:xfrm>
          <a:prstGeom prst="roundRect">
            <a:avLst>
              <a:gd name="adj" fmla="val 3373"/>
            </a:avLst>
          </a:prstGeom>
          <a:solidFill>
            <a:srgbClr val="F2F3F5"/>
          </a:solidFill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42900" y="3051810"/>
            <a:ext cx="40462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5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0060" y="4286250"/>
            <a:ext cx="1508760" cy="205740"/>
          </a:xfrm>
          <a:prstGeom prst="roundRect">
            <a:avLst>
              <a:gd name="adj" fmla="val 2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0060" y="4286250"/>
            <a:ext cx="1508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FFFFFF"/>
                </a:solidFill>
                <a:latin typeface="+mn-ea"/>
                <a:cs typeface="Pretendard" pitchFamily="34" charset="-120"/>
              </a:rPr>
              <a:t>출처: aihub.or.kr</a:t>
            </a:r>
            <a:endParaRPr lang="en-US" sz="713" dirty="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94860" y="1748790"/>
            <a:ext cx="4046220" cy="1337310"/>
          </a:xfrm>
          <a:prstGeom prst="roundRect">
            <a:avLst>
              <a:gd name="adj" fmla="val 6667"/>
            </a:avLst>
          </a:prstGeom>
          <a:solidFill>
            <a:srgbClr val="F2F3F5"/>
          </a:solidFill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94860" y="3257550"/>
            <a:ext cx="4046220" cy="1337310"/>
          </a:xfrm>
          <a:prstGeom prst="roundRect">
            <a:avLst>
              <a:gd name="adj" fmla="val 6667"/>
            </a:avLst>
          </a:prstGeom>
          <a:solidFill>
            <a:srgbClr val="F2F3F5"/>
          </a:solidFill>
          <a:ln w="190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50">
              <a:latin typeface="+mn-ea"/>
            </a:endParaRPr>
          </a:p>
        </p:txBody>
      </p:sp>
      <p:pic>
        <p:nvPicPr>
          <p:cNvPr id="23" name="그림 22" descr="The image shows a web page interface with a Korean language navigation bar, a list of various data categories, and download options for sample data.&#10;&#10;AI 생성 콘텐츠는 정확하지 않을 수 있습니다.">
            <a:extLst>
              <a:ext uri="{FF2B5EF4-FFF2-40B4-BE49-F238E27FC236}">
                <a16:creationId xmlns:a16="http://schemas.microsoft.com/office/drawing/2014/main" id="{8F9544FB-C2C5-8296-EF9B-FB2265839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" y="1988820"/>
            <a:ext cx="3787782" cy="226314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444EB97-FA7A-8F69-5935-0CB806666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461" y="1877236"/>
            <a:ext cx="1727690" cy="108041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213DA8C-4D68-FC04-5BEC-BA9F52B308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496" y="1877235"/>
            <a:ext cx="2126240" cy="1111956"/>
          </a:xfrm>
          <a:prstGeom prst="rect">
            <a:avLst/>
          </a:prstGeom>
        </p:spPr>
      </p:pic>
      <p:pic>
        <p:nvPicPr>
          <p:cNvPr id="28" name="그림 27" descr="1&#10;&#10;AI 생성 콘텐츠는 정확하지 않을 수 있습니다.">
            <a:extLst>
              <a:ext uri="{FF2B5EF4-FFF2-40B4-BE49-F238E27FC236}">
                <a16:creationId xmlns:a16="http://schemas.microsoft.com/office/drawing/2014/main" id="{E371C641-34E3-5A76-5C2C-25CD6C3714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2861" y="3360420"/>
            <a:ext cx="1345291" cy="1107018"/>
          </a:xfrm>
          <a:prstGeom prst="rect">
            <a:avLst/>
          </a:prstGeom>
        </p:spPr>
      </p:pic>
      <p:pic>
        <p:nvPicPr>
          <p:cNvPr id="30" name="그림 29" descr="The image depicts a dark, circular pattern with a distinct, symmetrical design.&#10;&#10;AI 생성 콘텐츠는 정확하지 않을 수 있습니다.">
            <a:extLst>
              <a:ext uri="{FF2B5EF4-FFF2-40B4-BE49-F238E27FC236}">
                <a16:creationId xmlns:a16="http://schemas.microsoft.com/office/drawing/2014/main" id="{CF3CF5E9-2BE1-BBEB-AF48-1D343AD350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4169" y="3355482"/>
            <a:ext cx="1290893" cy="1111957"/>
          </a:xfrm>
          <a:prstGeom prst="rect">
            <a:avLst/>
          </a:prstGeom>
        </p:spPr>
      </p:pic>
      <p:sp>
        <p:nvSpPr>
          <p:cNvPr id="9" name="Shape 0">
            <a:extLst>
              <a:ext uri="{FF2B5EF4-FFF2-40B4-BE49-F238E27FC236}">
                <a16:creationId xmlns:a16="http://schemas.microsoft.com/office/drawing/2014/main" id="{6AD9F26F-A5DE-CCC3-D33A-7FF653A4893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42900" y="302472"/>
            <a:ext cx="8457971" cy="30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2000" b="1" kern="0" spc="-38" dirty="0">
                <a:solidFill>
                  <a:schemeClr val="bg1"/>
                </a:solidFill>
                <a:latin typeface="+mn-ea"/>
                <a:cs typeface="Pretendard" pitchFamily="34" charset="-120"/>
              </a:rPr>
              <a:t>데이터셋 출처 및 샘플 이미지</a:t>
            </a:r>
            <a:endParaRPr lang="en-US" sz="2000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전체 흐름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078992"/>
            <a:ext cx="28346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475488" cy="11704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28600" y="1078992"/>
            <a:ext cx="4754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8952" y="1243584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1609344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구조 파악 · 10→9대 클래스 설계 · TAAS 위험도 매핑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078992"/>
            <a:ext cx="28346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200400" y="1078992"/>
            <a:ext cx="475488" cy="117043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00400" y="1078992"/>
            <a:ext cx="4754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30752" y="1243584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전처리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30752" y="1609344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BBox 크롭 · CSV 라벨링 · Stratified Split 70/15/15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1078992"/>
            <a:ext cx="28346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172200" y="1078992"/>
            <a:ext cx="475488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172200" y="1078992"/>
            <a:ext cx="4754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02552" y="1243584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환경 구축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02552" y="1609344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CPU 학습 한계 확인 · RTX 4070 Super 세팅 · Mixed Precision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2340864"/>
            <a:ext cx="28346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228600" y="2340864"/>
            <a:ext cx="47548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28600" y="2340864"/>
            <a:ext cx="4754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" y="250545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ResNet50 학습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" y="2871216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워밍업 → 파인튜닝 · 장단점 분석 · Test Acc 90.62%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0" y="2340864"/>
            <a:ext cx="28346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200400" y="2340864"/>
            <a:ext cx="47548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200400" y="2340864"/>
            <a:ext cx="4754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30752" y="250545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ResNet101 학습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30752" y="2871216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심층 네트워크 확장 · 성능 향상 · Test Acc 91.76%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72200" y="2340864"/>
            <a:ext cx="28346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172200" y="2340864"/>
            <a:ext cx="475488" cy="1170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172200" y="2340864"/>
            <a:ext cx="4754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02552" y="2505456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VGG16 &amp; MobileNetV2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02552" y="2871216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붕괴 · Mode Collapse · 실패 원인 분석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3602736"/>
            <a:ext cx="28346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228600" y="3602736"/>
            <a:ext cx="475488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228600" y="3602736"/>
            <a:ext cx="4754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8952" y="3767328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모델 실전 테스트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8952" y="413308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 표지판 · 크롭 이미지 · 모델별 예측 비교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0" y="3602736"/>
            <a:ext cx="28346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200400" y="3602736"/>
            <a:ext cx="475488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200400" y="3602736"/>
            <a:ext cx="4754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730752" y="3767328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ResNet101 + 데이터 증강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30752" y="413308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회전/줌/대비 증강 적용 · 증강 역효과 분석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72200" y="3602736"/>
            <a:ext cx="283464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172200" y="3602736"/>
            <a:ext cx="475488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172200" y="3602736"/>
            <a:ext cx="4754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702552" y="3767328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결과 및 결론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702552" y="4133088"/>
            <a:ext cx="22311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비교 요약 · 한계점 · 향후 개선 방향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데이터 분석 – JSON 구조 파악 &amp; 9대 클래스 설계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0624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92608" y="105156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구조 분석 결과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다른 복합 구조 → type 단독 분류 불가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2608" y="1874520"/>
            <a:ext cx="1005840" cy="402336"/>
          </a:xfrm>
          <a:prstGeom prst="rect">
            <a:avLst/>
          </a:prstGeom>
          <a:solidFill>
            <a:srgbClr val="DBEAFE"/>
          </a:solidFill>
          <a:ln w="762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92608" y="187452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annotation[]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35024" y="1892808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traffic_sign + traffic_light 혼재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335024" y="2075688"/>
            <a:ext cx="3035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 필드로 필터링 필요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2608" y="2350008"/>
            <a:ext cx="1005840" cy="402336"/>
          </a:xfrm>
          <a:prstGeom prst="rect">
            <a:avLst/>
          </a:prstGeom>
          <a:solidFill>
            <a:srgbClr val="DBEAFE"/>
          </a:solidFill>
          <a:ln w="762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92608" y="235000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type 필드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35024" y="2368296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restriction / instruction / caution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335024" y="2551176"/>
            <a:ext cx="3035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3종류만 → 세분화 필요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92608" y="2825496"/>
            <a:ext cx="1005840" cy="402336"/>
          </a:xfrm>
          <a:prstGeom prst="rect">
            <a:avLst/>
          </a:prstGeom>
          <a:solidFill>
            <a:srgbClr val="DBEAFE"/>
          </a:solidFill>
          <a:ln w="762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92608" y="282549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shape 필드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35024" y="2843784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circle / triangle / rectangle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335024" y="3026664"/>
            <a:ext cx="3035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 기반 분류 가능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92608" y="3300984"/>
            <a:ext cx="1005840" cy="402336"/>
          </a:xfrm>
          <a:prstGeom prst="rect">
            <a:avLst/>
          </a:prstGeom>
          <a:solidFill>
            <a:srgbClr val="DBEAFE"/>
          </a:solidFill>
          <a:ln w="762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92608" y="330098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color 필드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35024" y="3319272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 / blue / yellow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335024" y="3502152"/>
            <a:ext cx="3035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 기반 분류 가능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92608" y="3776472"/>
            <a:ext cx="1005840" cy="402336"/>
          </a:xfrm>
          <a:prstGeom prst="rect">
            <a:avLst/>
          </a:prstGeom>
          <a:solidFill>
            <a:srgbClr val="DBEAFE"/>
          </a:solidFill>
          <a:ln w="762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92608" y="377647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text 필드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35024" y="3794760"/>
            <a:ext cx="3035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"0", "30", "60", "4.5" 등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335024" y="3977640"/>
            <a:ext cx="3035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세부 클래스 분류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28600" y="4270248"/>
            <a:ext cx="4206240" cy="301752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92608" y="4270248"/>
            <a:ext cx="4069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결론: type + shape + color + text 4가지 속성 복합 규칙으로 9대 클래스 설계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09160" y="1051560"/>
            <a:ext cx="420624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709160" y="1051560"/>
            <a:ext cx="42062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73168" y="105156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9대 클래스 &amp; TAAS 위험도 매핑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73168" y="1508760"/>
            <a:ext cx="406908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773168" y="1508760"/>
            <a:ext cx="45720" cy="301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846320" y="150876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스쿨존_속도제한30이하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784848" y="1508760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4,312장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635240" y="1545336"/>
            <a:ext cx="804672" cy="228600"/>
          </a:xfrm>
          <a:prstGeom prst="rect">
            <a:avLst/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7635240" y="1545336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고위험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73168" y="1837944"/>
            <a:ext cx="406908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773168" y="1837944"/>
            <a:ext cx="45720" cy="301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846320" y="183794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보호구역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784848" y="1837944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13,282장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635240" y="1874520"/>
            <a:ext cx="804672" cy="228600"/>
          </a:xfrm>
          <a:prstGeom prst="rect">
            <a:avLst/>
          </a:prstGeom>
          <a:solidFill>
            <a:srgbClr val="FEE2E2"/>
          </a:solidFill>
          <a:ln w="88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7635240" y="1874520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고위험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73168" y="2167128"/>
            <a:ext cx="4069080" cy="301752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773168" y="2167128"/>
            <a:ext cx="4572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846320" y="216712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진입_주정차금지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784848" y="216712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44,516장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635240" y="2203704"/>
            <a:ext cx="804672" cy="228600"/>
          </a:xfrm>
          <a:prstGeom prst="rect">
            <a:avLst/>
          </a:prstGeom>
          <a:solidFill>
            <a:srgbClr val="FEF3C7"/>
          </a:solidFill>
          <a:ln w="889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7635240" y="2203704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73168" y="2496312"/>
            <a:ext cx="4069080" cy="301752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4773168" y="2496312"/>
            <a:ext cx="4572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4846320" y="2496312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주의표지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84848" y="2496312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16,702장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635240" y="2532888"/>
            <a:ext cx="804672" cy="228600"/>
          </a:xfrm>
          <a:prstGeom prst="rect">
            <a:avLst/>
          </a:prstGeom>
          <a:solidFill>
            <a:srgbClr val="FEF3C7"/>
          </a:solidFill>
          <a:ln w="889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7635240" y="253288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73168" y="2825496"/>
            <a:ext cx="4069080" cy="301752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4773168" y="2825496"/>
            <a:ext cx="4572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4846320" y="2825496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속도제한40_60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784848" y="282549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20,320장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635240" y="2862072"/>
            <a:ext cx="804672" cy="228600"/>
          </a:xfrm>
          <a:prstGeom prst="rect">
            <a:avLst/>
          </a:prstGeom>
          <a:solidFill>
            <a:srgbClr val="FEF3C7"/>
          </a:solidFill>
          <a:ln w="889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7635240" y="2862072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773168" y="3154680"/>
            <a:ext cx="4069080" cy="301752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4773168" y="3154680"/>
            <a:ext cx="4572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4846320" y="315468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속도제한90이상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784848" y="3154680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1,744장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635240" y="3191256"/>
            <a:ext cx="804672" cy="228600"/>
          </a:xfrm>
          <a:prstGeom prst="rect">
            <a:avLst/>
          </a:prstGeom>
          <a:solidFill>
            <a:srgbClr val="FEF3C7"/>
          </a:solidFill>
          <a:ln w="889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7635240" y="3191256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73168" y="3483864"/>
            <a:ext cx="4069080" cy="301752"/>
          </a:xfrm>
          <a:prstGeom prst="rect">
            <a:avLst/>
          </a:prstGeom>
          <a:solidFill>
            <a:srgbClr val="E2E8F0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Shape 68"/>
          <p:cNvSpPr/>
          <p:nvPr/>
        </p:nvSpPr>
        <p:spPr>
          <a:xfrm>
            <a:off x="4773168" y="3483864"/>
            <a:ext cx="45720" cy="3017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4846320" y="348386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속도제한70_80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784848" y="3483864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4,382장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635240" y="3520440"/>
            <a:ext cx="804672" cy="228600"/>
          </a:xfrm>
          <a:prstGeom prst="rect">
            <a:avLst/>
          </a:prstGeom>
          <a:solidFill>
            <a:srgbClr val="E2E8F0"/>
          </a:solidFill>
          <a:ln w="889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7635240" y="3520440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773168" y="3813048"/>
            <a:ext cx="4069080" cy="301752"/>
          </a:xfrm>
          <a:prstGeom prst="rect">
            <a:avLst/>
          </a:prstGeom>
          <a:solidFill>
            <a:srgbClr val="E2E8F0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4773168" y="3813048"/>
            <a:ext cx="45720" cy="3017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4846320" y="381304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높이_중량제한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784848" y="3813048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1,452장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7635240" y="3849624"/>
            <a:ext cx="804672" cy="228600"/>
          </a:xfrm>
          <a:prstGeom prst="rect">
            <a:avLst/>
          </a:prstGeom>
          <a:solidFill>
            <a:srgbClr val="E2E8F0"/>
          </a:solidFill>
          <a:ln w="889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/>
          <p:cNvSpPr/>
          <p:nvPr/>
        </p:nvSpPr>
        <p:spPr>
          <a:xfrm>
            <a:off x="7635240" y="3849624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보통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773168" y="4142232"/>
            <a:ext cx="4069080" cy="301752"/>
          </a:xfrm>
          <a:prstGeom prst="rect">
            <a:avLst/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80"/>
          <p:cNvSpPr/>
          <p:nvPr/>
        </p:nvSpPr>
        <p:spPr>
          <a:xfrm>
            <a:off x="4773168" y="4142232"/>
            <a:ext cx="4572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81"/>
          <p:cNvSpPr/>
          <p:nvPr/>
        </p:nvSpPr>
        <p:spPr>
          <a:xfrm>
            <a:off x="4846320" y="4142232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지시표지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6784848" y="4142232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46,373장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7635240" y="4178808"/>
            <a:ext cx="804672" cy="228600"/>
          </a:xfrm>
          <a:prstGeom prst="rect">
            <a:avLst/>
          </a:prstGeom>
          <a:solidFill>
            <a:srgbClr val="D1FAE5"/>
          </a:solidFill>
          <a:ln w="889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/>
          <p:cNvSpPr/>
          <p:nvPr/>
        </p:nvSpPr>
        <p:spPr>
          <a:xfrm>
            <a:off x="7635240" y="4178808"/>
            <a:ext cx="8046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709160" y="4480560"/>
            <a:ext cx="4206240" cy="91440"/>
          </a:xfrm>
          <a:prstGeom prst="rect">
            <a:avLst/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4754880" y="4480560"/>
            <a:ext cx="4114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TAAS 2024 교통사고 통계 기반 간접 위험도 매핑 (도로종류·구역·위반유형·치사율)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/>
          <p:cNvSpPr/>
          <p:nvPr/>
        </p:nvSpPr>
        <p:spPr>
          <a:xfrm>
            <a:off x="292608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미분류(None): 21,023장 → 노이즈 제거 후 153,083장 학습 사용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A766D3-A74B-DF4F-59AD-45BA5162D44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484F45-0088-D184-A9F7-30C508ABF064}"/>
              </a:ext>
            </a:extLst>
          </p:cNvPr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9</a:t>
            </a:r>
            <a:r>
              <a:rPr lang="ko-KR" altLang="en-US" sz="2000" dirty="0">
                <a:solidFill>
                  <a:schemeClr val="bg1"/>
                </a:solidFill>
              </a:rPr>
              <a:t>가지 클래스 근거 </a:t>
            </a:r>
            <a:r>
              <a:rPr lang="en-US" altLang="ko-KR" sz="2000" dirty="0">
                <a:solidFill>
                  <a:schemeClr val="bg1"/>
                </a:solidFill>
              </a:rPr>
              <a:t>– </a:t>
            </a:r>
            <a:r>
              <a:rPr lang="ko-KR" altLang="en-US" sz="2000" dirty="0">
                <a:solidFill>
                  <a:schemeClr val="bg1"/>
                </a:solidFill>
              </a:rPr>
              <a:t>고위험 </a:t>
            </a:r>
            <a:r>
              <a:rPr lang="en-US" altLang="ko-KR" sz="2000" dirty="0">
                <a:solidFill>
                  <a:schemeClr val="bg1"/>
                </a:solidFill>
              </a:rPr>
              <a:t>/ </a:t>
            </a:r>
            <a:r>
              <a:rPr lang="ko-KR" altLang="en-US" sz="2000" dirty="0">
                <a:solidFill>
                  <a:schemeClr val="bg1"/>
                </a:solidFill>
              </a:rPr>
              <a:t>위험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70A5C31C-D8F7-0034-EC7C-048353146F05}"/>
              </a:ext>
            </a:extLst>
          </p:cNvPr>
          <p:cNvSpPr/>
          <p:nvPr/>
        </p:nvSpPr>
        <p:spPr>
          <a:xfrm>
            <a:off x="951506" y="1015538"/>
            <a:ext cx="2094221" cy="3897548"/>
          </a:xfrm>
          <a:prstGeom prst="roundRect">
            <a:avLst>
              <a:gd name="adj" fmla="val 4828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27B50B58-6C57-FAD2-CB98-49507B42A1C3}"/>
              </a:ext>
            </a:extLst>
          </p:cNvPr>
          <p:cNvSpPr/>
          <p:nvPr/>
        </p:nvSpPr>
        <p:spPr>
          <a:xfrm>
            <a:off x="951506" y="1015538"/>
            <a:ext cx="2094221" cy="5314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9372C0F4-AD6D-1391-2F3B-61B5609C6002}"/>
              </a:ext>
            </a:extLst>
          </p:cNvPr>
          <p:cNvSpPr/>
          <p:nvPr/>
        </p:nvSpPr>
        <p:spPr>
          <a:xfrm>
            <a:off x="951506" y="1074592"/>
            <a:ext cx="2094221" cy="41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n-ea"/>
                <a:cs typeface="Pretendard" pitchFamily="34" charset="-120"/>
              </a:rPr>
              <a:t>고위험</a:t>
            </a:r>
            <a:endParaRPr lang="en-US" sz="1600" dirty="0">
              <a:latin typeface="+mn-ea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304385EE-EFB6-DCB6-3C7E-F3C8DD0F8B3A}"/>
              </a:ext>
            </a:extLst>
          </p:cNvPr>
          <p:cNvSpPr/>
          <p:nvPr/>
        </p:nvSpPr>
        <p:spPr>
          <a:xfrm>
            <a:off x="1059828" y="1700562"/>
            <a:ext cx="1877577" cy="29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DC2626"/>
                </a:solidFill>
                <a:latin typeface="+mn-ea"/>
                <a:cs typeface="Pretendard" pitchFamily="34" charset="-120"/>
              </a:rPr>
              <a:t>1.</a:t>
            </a:r>
            <a:r>
              <a:rPr lang="ko-KR" altLang="en-US" sz="1000" b="1" dirty="0">
                <a:solidFill>
                  <a:srgbClr val="DC2626"/>
                </a:solidFill>
                <a:latin typeface="+mn-ea"/>
                <a:cs typeface="Pretendard" pitchFamily="34" charset="-120"/>
              </a:rPr>
              <a:t> </a:t>
            </a:r>
            <a:r>
              <a:rPr lang="ko-KR" altLang="en-US" sz="1000" b="1" dirty="0" err="1">
                <a:solidFill>
                  <a:srgbClr val="DC2626"/>
                </a:solidFill>
                <a:latin typeface="+mn-ea"/>
                <a:cs typeface="Pretendard" pitchFamily="34" charset="-120"/>
              </a:rPr>
              <a:t>스쿨존</a:t>
            </a:r>
            <a:r>
              <a:rPr lang="en-US" altLang="ko-KR" sz="1000" b="1" dirty="0">
                <a:solidFill>
                  <a:srgbClr val="DC2626"/>
                </a:solidFill>
                <a:latin typeface="+mn-ea"/>
                <a:cs typeface="Pretendard" pitchFamily="34" charset="-120"/>
              </a:rPr>
              <a:t>_</a:t>
            </a:r>
            <a:r>
              <a:rPr lang="ko-KR" altLang="en-US" sz="1000" b="1" dirty="0">
                <a:solidFill>
                  <a:srgbClr val="DC2626"/>
                </a:solidFill>
                <a:latin typeface="+mn-ea"/>
                <a:cs typeface="Pretendard" pitchFamily="34" charset="-120"/>
              </a:rPr>
              <a:t>속도제한 </a:t>
            </a:r>
            <a:r>
              <a:rPr lang="en-US" altLang="ko-KR" sz="1000" b="1" dirty="0">
                <a:solidFill>
                  <a:srgbClr val="DC2626"/>
                </a:solidFill>
                <a:latin typeface="+mn-ea"/>
                <a:cs typeface="Pretendard" pitchFamily="34" charset="-120"/>
              </a:rPr>
              <a:t>30</a:t>
            </a:r>
            <a:r>
              <a:rPr lang="ko-KR" altLang="en-US" sz="1000" b="1" dirty="0">
                <a:solidFill>
                  <a:srgbClr val="DC2626"/>
                </a:solidFill>
                <a:latin typeface="+mn-ea"/>
                <a:cs typeface="Pretendard" pitchFamily="34" charset="-120"/>
              </a:rPr>
              <a:t>이하</a:t>
            </a:r>
            <a:r>
              <a:rPr lang="en-US" altLang="ko-KR" sz="1000" b="1" dirty="0">
                <a:solidFill>
                  <a:srgbClr val="FF0000"/>
                </a:solidFill>
                <a:latin typeface="+mn-ea"/>
                <a:cs typeface="Pretendard" pitchFamily="34" charset="-120"/>
              </a:rPr>
              <a:t> </a:t>
            </a:r>
            <a:r>
              <a:rPr lang="ko-KR" altLang="ko-KR" sz="1000" dirty="0" err="1"/>
              <a:t>restriction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circle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red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txt</a:t>
            </a:r>
            <a:r>
              <a:rPr lang="ko-KR" altLang="ko-KR" sz="1000" dirty="0"/>
              <a:t>[20, 30]</a:t>
            </a:r>
            <a:endParaRPr lang="en-US" sz="1000" dirty="0">
              <a:latin typeface="+mn-ea"/>
            </a:endParaRP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5E1C845E-0180-8727-5E6D-106A99488A8A}"/>
              </a:ext>
            </a:extLst>
          </p:cNvPr>
          <p:cNvSpPr/>
          <p:nvPr/>
        </p:nvSpPr>
        <p:spPr>
          <a:xfrm>
            <a:off x="1059828" y="2019452"/>
            <a:ext cx="1877577" cy="1535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>
              <a:latin typeface="+mn-ea"/>
            </a:endParaRPr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F673EC19-629D-643A-3DAC-09595956E018}"/>
              </a:ext>
            </a:extLst>
          </p:cNvPr>
          <p:cNvSpPr/>
          <p:nvPr/>
        </p:nvSpPr>
        <p:spPr>
          <a:xfrm>
            <a:off x="1059827" y="3147670"/>
            <a:ext cx="1877577" cy="11811"/>
          </a:xfrm>
          <a:prstGeom prst="rect">
            <a:avLst/>
          </a:prstGeom>
          <a:solidFill>
            <a:srgbClr val="DC2626">
              <a:alpha val="40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B55C0F65-751E-24EF-61CC-B24409A174D5}"/>
              </a:ext>
            </a:extLst>
          </p:cNvPr>
          <p:cNvSpPr/>
          <p:nvPr/>
        </p:nvSpPr>
        <p:spPr>
          <a:xfrm>
            <a:off x="1059826" y="3147670"/>
            <a:ext cx="1877577" cy="25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 err="1">
                <a:solidFill>
                  <a:srgbClr val="DC2626"/>
                </a:solidFill>
                <a:latin typeface="+mn-ea"/>
                <a:cs typeface="Pretendard" pitchFamily="34" charset="-120"/>
              </a:rPr>
              <a:t>근거</a:t>
            </a:r>
            <a:endParaRPr lang="en-US" sz="950" dirty="0">
              <a:latin typeface="+mn-ea"/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80D4A3A5-CC9F-8013-BFAD-81C363E8B5BD}"/>
              </a:ext>
            </a:extLst>
          </p:cNvPr>
          <p:cNvSpPr/>
          <p:nvPr/>
        </p:nvSpPr>
        <p:spPr>
          <a:xfrm>
            <a:off x="1059827" y="3525614"/>
            <a:ext cx="1877577" cy="109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000" dirty="0"/>
              <a:t>어린이보호구역 내 사고 526건(전년 대비 +8.0%), 사망 2명. 16~18시 사망의 75.0% 집중. 과속사고 치사율 17.8로 일반 치사율 1.3의 13.7배. 30km/</a:t>
            </a:r>
            <a:r>
              <a:rPr lang="ko-KR" altLang="ko-KR" sz="1000" dirty="0" err="1"/>
              <a:t>h</a:t>
            </a:r>
            <a:r>
              <a:rPr lang="ko-KR" altLang="ko-KR" sz="1000" dirty="0"/>
              <a:t> 이하 제한 구역은 보호구역과 중첩되므로 고위험으로 분류.</a:t>
            </a:r>
            <a:endParaRPr lang="en-US" sz="1000" dirty="0">
              <a:latin typeface="+mn-ea"/>
            </a:endParaRPr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72D7854A-00CD-3756-B853-A9E05EAE7D97}"/>
              </a:ext>
            </a:extLst>
          </p:cNvPr>
          <p:cNvSpPr/>
          <p:nvPr/>
        </p:nvSpPr>
        <p:spPr>
          <a:xfrm>
            <a:off x="3524889" y="1015538"/>
            <a:ext cx="2094221" cy="3897548"/>
          </a:xfrm>
          <a:prstGeom prst="roundRect">
            <a:avLst>
              <a:gd name="adj" fmla="val 4828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913FBECA-E8E4-C93C-6AAF-888B373DDAA8}"/>
              </a:ext>
            </a:extLst>
          </p:cNvPr>
          <p:cNvSpPr/>
          <p:nvPr/>
        </p:nvSpPr>
        <p:spPr>
          <a:xfrm>
            <a:off x="3524889" y="1015538"/>
            <a:ext cx="2094221" cy="5314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74690FF9-8CA6-6EF0-18C4-14B93A807E30}"/>
              </a:ext>
            </a:extLst>
          </p:cNvPr>
          <p:cNvSpPr/>
          <p:nvPr/>
        </p:nvSpPr>
        <p:spPr>
          <a:xfrm>
            <a:off x="3524889" y="1074592"/>
            <a:ext cx="2094221" cy="41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n-ea"/>
                <a:cs typeface="Pretendard" pitchFamily="34" charset="-120"/>
              </a:rPr>
              <a:t>고위험</a:t>
            </a:r>
            <a:endParaRPr lang="en-US" sz="1600" dirty="0">
              <a:latin typeface="+mn-ea"/>
            </a:endParaRPr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1EE64517-977E-46DE-215A-F85A369EE6C5}"/>
              </a:ext>
            </a:extLst>
          </p:cNvPr>
          <p:cNvSpPr/>
          <p:nvPr/>
        </p:nvSpPr>
        <p:spPr>
          <a:xfrm>
            <a:off x="3633211" y="1700562"/>
            <a:ext cx="1877577" cy="29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DC2626"/>
                </a:solidFill>
                <a:latin typeface="+mn-ea"/>
                <a:cs typeface="Pretendard" pitchFamily="34" charset="-120"/>
              </a:rPr>
              <a:t>2. </a:t>
            </a:r>
            <a:r>
              <a:rPr lang="ko-KR" altLang="en-US" sz="1000" b="1" dirty="0">
                <a:solidFill>
                  <a:srgbClr val="DC2626"/>
                </a:solidFill>
                <a:latin typeface="+mn-ea"/>
                <a:cs typeface="Pretendard" pitchFamily="34" charset="-120"/>
              </a:rPr>
              <a:t>보호구역</a:t>
            </a:r>
            <a:endParaRPr lang="en-US" altLang="ko-KR" sz="1000" b="1" dirty="0">
              <a:solidFill>
                <a:srgbClr val="DC2626"/>
              </a:solidFill>
              <a:latin typeface="+mn-ea"/>
              <a:cs typeface="Pretendard" pitchFamily="34" charset="-120"/>
            </a:endParaRPr>
          </a:p>
          <a:p>
            <a:r>
              <a:rPr lang="ko-KR" altLang="ko-KR" sz="1000" dirty="0" err="1"/>
              <a:t>instruction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triangle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blue</a:t>
            </a:r>
            <a:r>
              <a:rPr lang="en-US" altLang="ko-KR" sz="1000" b="1" dirty="0">
                <a:solidFill>
                  <a:srgbClr val="DC2626"/>
                </a:solidFill>
                <a:latin typeface="+mn-ea"/>
                <a:cs typeface="Pretendard" pitchFamily="34" charset="-120"/>
              </a:rPr>
              <a:t> </a:t>
            </a:r>
            <a:r>
              <a:rPr lang="ko-KR" altLang="en-US" sz="1000" b="1" dirty="0">
                <a:solidFill>
                  <a:srgbClr val="DC2626"/>
                </a:solidFill>
                <a:latin typeface="+mn-ea"/>
                <a:cs typeface="Pretendard" pitchFamily="34" charset="-120"/>
              </a:rPr>
              <a:t> </a:t>
            </a:r>
            <a:endParaRPr lang="en-US" sz="1000" dirty="0">
              <a:latin typeface="+mn-ea"/>
            </a:endParaRPr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6D3E418A-504F-8616-25A7-76BDC36B3CD6}"/>
              </a:ext>
            </a:extLst>
          </p:cNvPr>
          <p:cNvSpPr/>
          <p:nvPr/>
        </p:nvSpPr>
        <p:spPr>
          <a:xfrm>
            <a:off x="3633211" y="2019452"/>
            <a:ext cx="1877577" cy="1535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>
              <a:latin typeface="+mn-ea"/>
            </a:endParaRPr>
          </a:p>
        </p:txBody>
      </p:sp>
      <p:sp>
        <p:nvSpPr>
          <p:cNvPr id="55" name="Shape 6">
            <a:extLst>
              <a:ext uri="{FF2B5EF4-FFF2-40B4-BE49-F238E27FC236}">
                <a16:creationId xmlns:a16="http://schemas.microsoft.com/office/drawing/2014/main" id="{ABD1D1F3-2781-D3F5-B374-97FA54F6EEFD}"/>
              </a:ext>
            </a:extLst>
          </p:cNvPr>
          <p:cNvSpPr/>
          <p:nvPr/>
        </p:nvSpPr>
        <p:spPr>
          <a:xfrm>
            <a:off x="6098272" y="1015538"/>
            <a:ext cx="2094221" cy="3897548"/>
          </a:xfrm>
          <a:prstGeom prst="roundRect">
            <a:avLst>
              <a:gd name="adj" fmla="val 4828"/>
            </a:avLst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56" name="Shape 7">
            <a:extLst>
              <a:ext uri="{FF2B5EF4-FFF2-40B4-BE49-F238E27FC236}">
                <a16:creationId xmlns:a16="http://schemas.microsoft.com/office/drawing/2014/main" id="{81E07CE5-B86D-6EDD-B47D-71A6B9E8F88F}"/>
              </a:ext>
            </a:extLst>
          </p:cNvPr>
          <p:cNvSpPr/>
          <p:nvPr/>
        </p:nvSpPr>
        <p:spPr>
          <a:xfrm>
            <a:off x="6098272" y="1015538"/>
            <a:ext cx="2094221" cy="5314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24794D08-1FF5-32E2-5B2F-C658250B5007}"/>
              </a:ext>
            </a:extLst>
          </p:cNvPr>
          <p:cNvSpPr/>
          <p:nvPr/>
        </p:nvSpPr>
        <p:spPr>
          <a:xfrm>
            <a:off x="6098272" y="1074592"/>
            <a:ext cx="2094221" cy="41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+mn-ea"/>
                <a:cs typeface="Pretendard" pitchFamily="34" charset="-120"/>
              </a:rPr>
              <a:t>위험</a:t>
            </a:r>
            <a:endParaRPr lang="en-US" sz="1600" dirty="0">
              <a:latin typeface="+mn-ea"/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100BB4F3-7BBB-21FC-929A-A9B4743D11C0}"/>
              </a:ext>
            </a:extLst>
          </p:cNvPr>
          <p:cNvSpPr/>
          <p:nvPr/>
        </p:nvSpPr>
        <p:spPr>
          <a:xfrm>
            <a:off x="6206594" y="1700562"/>
            <a:ext cx="1877577" cy="4167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DC2626"/>
                </a:solidFill>
                <a:latin typeface="+mn-ea"/>
                <a:cs typeface="Pretendard" pitchFamily="34" charset="-120"/>
              </a:rPr>
              <a:t>1.</a:t>
            </a:r>
            <a:r>
              <a:rPr lang="ko-KR" altLang="en-US" sz="1000" b="1" dirty="0">
                <a:solidFill>
                  <a:srgbClr val="DC2626"/>
                </a:solidFill>
                <a:latin typeface="+mn-ea"/>
                <a:cs typeface="Pretendard" pitchFamily="34" charset="-120"/>
              </a:rPr>
              <a:t>진입 </a:t>
            </a:r>
            <a:r>
              <a:rPr lang="ko-KR" altLang="en-US" sz="1000" b="1" dirty="0" err="1">
                <a:solidFill>
                  <a:srgbClr val="DC2626"/>
                </a:solidFill>
                <a:latin typeface="+mn-ea"/>
                <a:cs typeface="Pretendard" pitchFamily="34" charset="-120"/>
              </a:rPr>
              <a:t>주정차</a:t>
            </a:r>
            <a:r>
              <a:rPr lang="ko-KR" altLang="en-US" sz="1000" b="1" dirty="0">
                <a:solidFill>
                  <a:srgbClr val="DC2626"/>
                </a:solidFill>
                <a:latin typeface="+mn-ea"/>
                <a:cs typeface="Pretendard" pitchFamily="34" charset="-120"/>
              </a:rPr>
              <a:t> 금지</a:t>
            </a:r>
            <a:endParaRPr lang="en-US" altLang="ko-KR" sz="1000" b="1" dirty="0">
              <a:solidFill>
                <a:srgbClr val="DC2626"/>
              </a:solidFill>
              <a:latin typeface="+mn-ea"/>
              <a:cs typeface="Pretendard" pitchFamily="34" charset="-120"/>
            </a:endParaRPr>
          </a:p>
          <a:p>
            <a:r>
              <a:rPr lang="ko-KR" altLang="ko-KR" sz="1000" dirty="0" err="1"/>
              <a:t>restriction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circle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red</a:t>
            </a:r>
            <a:r>
              <a:rPr lang="ko-KR" altLang="ko-KR" sz="1000" dirty="0"/>
              <a:t> </a:t>
            </a:r>
            <a:r>
              <a:rPr lang="ko-KR" altLang="ko-KR" sz="1000" dirty="0" err="1"/>
              <a:t>or</a:t>
            </a:r>
            <a:r>
              <a:rPr lang="ko-KR" altLang="ko-KR" sz="1000" dirty="0"/>
              <a:t> </a:t>
            </a:r>
            <a:r>
              <a:rPr lang="ko-KR" altLang="ko-KR" sz="1000" dirty="0" err="1"/>
              <a:t>blue</a:t>
            </a:r>
            <a:r>
              <a:rPr lang="ko-KR" altLang="ko-KR" sz="1000" dirty="0"/>
              <a:t> + </a:t>
            </a:r>
            <a:endParaRPr lang="en-US" altLang="ko-KR" sz="1000" dirty="0"/>
          </a:p>
          <a:p>
            <a:r>
              <a:rPr lang="en-US" altLang="ko-KR" sz="1000" dirty="0"/>
              <a:t>	</a:t>
            </a:r>
            <a:r>
              <a:rPr lang="ko-KR" altLang="ko-KR" sz="1000" dirty="0" err="1"/>
              <a:t>txt</a:t>
            </a:r>
            <a:r>
              <a:rPr lang="ko-KR" altLang="ko-KR" sz="1000" dirty="0"/>
              <a:t> == 0</a:t>
            </a:r>
            <a:endParaRPr lang="en-US" sz="1000" dirty="0">
              <a:latin typeface="+mn-ea"/>
            </a:endParaRPr>
          </a:p>
        </p:txBody>
      </p:sp>
      <p:sp>
        <p:nvSpPr>
          <p:cNvPr id="59" name="Text 10">
            <a:extLst>
              <a:ext uri="{FF2B5EF4-FFF2-40B4-BE49-F238E27FC236}">
                <a16:creationId xmlns:a16="http://schemas.microsoft.com/office/drawing/2014/main" id="{15F4BF66-43DB-0507-5EA7-DC2B7CE553AE}"/>
              </a:ext>
            </a:extLst>
          </p:cNvPr>
          <p:cNvSpPr/>
          <p:nvPr/>
        </p:nvSpPr>
        <p:spPr>
          <a:xfrm>
            <a:off x="6206594" y="2019452"/>
            <a:ext cx="1877577" cy="1535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dirty="0">
              <a:latin typeface="+mn-ea"/>
            </a:endParaRPr>
          </a:p>
        </p:txBody>
      </p:sp>
      <p:sp>
        <p:nvSpPr>
          <p:cNvPr id="64" name="Shape 11">
            <a:extLst>
              <a:ext uri="{FF2B5EF4-FFF2-40B4-BE49-F238E27FC236}">
                <a16:creationId xmlns:a16="http://schemas.microsoft.com/office/drawing/2014/main" id="{DD38062F-627B-D39E-D204-2FCBD2D22D09}"/>
              </a:ext>
            </a:extLst>
          </p:cNvPr>
          <p:cNvSpPr/>
          <p:nvPr/>
        </p:nvSpPr>
        <p:spPr>
          <a:xfrm>
            <a:off x="3633211" y="3147670"/>
            <a:ext cx="1877577" cy="11811"/>
          </a:xfrm>
          <a:prstGeom prst="rect">
            <a:avLst/>
          </a:prstGeom>
          <a:solidFill>
            <a:srgbClr val="DC2626">
              <a:alpha val="40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E94624E5-4277-3F81-99A8-BFDB8DA3A768}"/>
              </a:ext>
            </a:extLst>
          </p:cNvPr>
          <p:cNvSpPr/>
          <p:nvPr/>
        </p:nvSpPr>
        <p:spPr>
          <a:xfrm>
            <a:off x="3633210" y="3147670"/>
            <a:ext cx="1877577" cy="25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 err="1">
                <a:solidFill>
                  <a:srgbClr val="DC2626"/>
                </a:solidFill>
                <a:latin typeface="+mn-ea"/>
                <a:cs typeface="Pretendard" pitchFamily="34" charset="-120"/>
              </a:rPr>
              <a:t>근거</a:t>
            </a:r>
            <a:endParaRPr lang="en-US" sz="950" dirty="0">
              <a:latin typeface="+mn-ea"/>
            </a:endParaRPr>
          </a:p>
        </p:txBody>
      </p:sp>
      <p:sp>
        <p:nvSpPr>
          <p:cNvPr id="66" name="Text 13">
            <a:extLst>
              <a:ext uri="{FF2B5EF4-FFF2-40B4-BE49-F238E27FC236}">
                <a16:creationId xmlns:a16="http://schemas.microsoft.com/office/drawing/2014/main" id="{29F23FD4-D26E-8C87-198A-8238A4F7321A}"/>
              </a:ext>
            </a:extLst>
          </p:cNvPr>
          <p:cNvSpPr/>
          <p:nvPr/>
        </p:nvSpPr>
        <p:spPr>
          <a:xfrm>
            <a:off x="3633211" y="3525614"/>
            <a:ext cx="1877577" cy="109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000" dirty="0"/>
              <a:t>고령자 사고 40,208건, 사망 1,299명으로 전체 사망자의 51.5% 차지. 전년 대비 +4.8% 증가 추세. 보행 중 사망 47.4%. </a:t>
            </a:r>
            <a:r>
              <a:rPr lang="ko-KR" altLang="ko-KR" sz="1000" dirty="0" err="1"/>
              <a:t>노인·어린이보호구역은</a:t>
            </a:r>
            <a:r>
              <a:rPr lang="ko-KR" altLang="ko-KR" sz="1000" dirty="0"/>
              <a:t> 취약계층 밀집 지점으로 사고 발생 시 치명도가 높아 고위험 분류.</a:t>
            </a:r>
            <a:endParaRPr lang="en-US" sz="1000" dirty="0">
              <a:latin typeface="+mn-ea"/>
            </a:endParaRPr>
          </a:p>
        </p:txBody>
      </p:sp>
      <p:sp>
        <p:nvSpPr>
          <p:cNvPr id="67" name="Shape 11">
            <a:extLst>
              <a:ext uri="{FF2B5EF4-FFF2-40B4-BE49-F238E27FC236}">
                <a16:creationId xmlns:a16="http://schemas.microsoft.com/office/drawing/2014/main" id="{F9B66BFC-E9FC-5461-A0E0-588A4D31521C}"/>
              </a:ext>
            </a:extLst>
          </p:cNvPr>
          <p:cNvSpPr/>
          <p:nvPr/>
        </p:nvSpPr>
        <p:spPr>
          <a:xfrm>
            <a:off x="6206594" y="3147670"/>
            <a:ext cx="1877577" cy="11811"/>
          </a:xfrm>
          <a:prstGeom prst="rect">
            <a:avLst/>
          </a:prstGeom>
          <a:solidFill>
            <a:srgbClr val="DC2626">
              <a:alpha val="40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8" name="Text 12">
            <a:extLst>
              <a:ext uri="{FF2B5EF4-FFF2-40B4-BE49-F238E27FC236}">
                <a16:creationId xmlns:a16="http://schemas.microsoft.com/office/drawing/2014/main" id="{D0B1C62C-DED2-B798-CF98-F68B8C8BDC1C}"/>
              </a:ext>
            </a:extLst>
          </p:cNvPr>
          <p:cNvSpPr/>
          <p:nvPr/>
        </p:nvSpPr>
        <p:spPr>
          <a:xfrm>
            <a:off x="6206593" y="3147670"/>
            <a:ext cx="1877577" cy="25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 err="1">
                <a:solidFill>
                  <a:srgbClr val="DC2626"/>
                </a:solidFill>
                <a:latin typeface="+mn-ea"/>
                <a:cs typeface="Pretendard" pitchFamily="34" charset="-120"/>
              </a:rPr>
              <a:t>근거</a:t>
            </a:r>
            <a:endParaRPr lang="en-US" sz="950" dirty="0">
              <a:latin typeface="+mn-ea"/>
            </a:endParaRPr>
          </a:p>
        </p:txBody>
      </p:sp>
      <p:sp>
        <p:nvSpPr>
          <p:cNvPr id="69" name="Text 13">
            <a:extLst>
              <a:ext uri="{FF2B5EF4-FFF2-40B4-BE49-F238E27FC236}">
                <a16:creationId xmlns:a16="http://schemas.microsoft.com/office/drawing/2014/main" id="{F174041A-5C4E-9A24-CDDE-B352BB61064E}"/>
              </a:ext>
            </a:extLst>
          </p:cNvPr>
          <p:cNvSpPr/>
          <p:nvPr/>
        </p:nvSpPr>
        <p:spPr>
          <a:xfrm>
            <a:off x="6206594" y="3525614"/>
            <a:ext cx="1877577" cy="109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000" dirty="0"/>
              <a:t>신호위반 22,371건(전체 11.4%), 중앙선침범 7,051건(치사율 2.4). </a:t>
            </a:r>
            <a:r>
              <a:rPr lang="ko-KR" altLang="ko-KR" sz="1000" dirty="0" err="1"/>
              <a:t>진입금지·주정차금지</a:t>
            </a:r>
            <a:r>
              <a:rPr lang="ko-KR" altLang="ko-KR" sz="1000" dirty="0"/>
              <a:t> 위반은 </a:t>
            </a:r>
            <a:r>
              <a:rPr lang="ko-KR" altLang="ko-KR" sz="1000" dirty="0" err="1"/>
              <a:t>정면충돌·측면충돌로</a:t>
            </a:r>
            <a:r>
              <a:rPr lang="ko-KR" altLang="ko-KR" sz="1000" dirty="0"/>
              <a:t> 이어지는 경우가 많으며, </a:t>
            </a:r>
            <a:r>
              <a:rPr lang="ko-KR" altLang="ko-KR" sz="1000" dirty="0" err="1"/>
              <a:t>차대차</a:t>
            </a:r>
            <a:r>
              <a:rPr lang="ko-KR" altLang="ko-KR" sz="1000" dirty="0"/>
              <a:t> 사고 치사율 0.7 대비 충돌형 치사율은 상대적으로 높음. 직접 통계는 없으나 법규위반 패턴상 위험 분류.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33701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D414C-2D8C-762D-1FB2-9D0324022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4">
            <a:extLst>
              <a:ext uri="{FF2B5EF4-FFF2-40B4-BE49-F238E27FC236}">
                <a16:creationId xmlns:a16="http://schemas.microsoft.com/office/drawing/2014/main" id="{A81F4CEB-7DED-C122-5935-E84DD3F04529}"/>
              </a:ext>
            </a:extLst>
          </p:cNvPr>
          <p:cNvSpPr/>
          <p:nvPr/>
        </p:nvSpPr>
        <p:spPr>
          <a:xfrm>
            <a:off x="951503" y="1015538"/>
            <a:ext cx="2094221" cy="3897548"/>
          </a:xfrm>
          <a:prstGeom prst="roundRect">
            <a:avLst>
              <a:gd name="adj" fmla="val 4828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04" name="Shape 15">
            <a:extLst>
              <a:ext uri="{FF2B5EF4-FFF2-40B4-BE49-F238E27FC236}">
                <a16:creationId xmlns:a16="http://schemas.microsoft.com/office/drawing/2014/main" id="{6DC7CF5B-994D-9619-2FD0-638A01CF2484}"/>
              </a:ext>
            </a:extLst>
          </p:cNvPr>
          <p:cNvSpPr/>
          <p:nvPr/>
        </p:nvSpPr>
        <p:spPr>
          <a:xfrm>
            <a:off x="951503" y="1015538"/>
            <a:ext cx="2094221" cy="5314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05" name="Text 16">
            <a:extLst>
              <a:ext uri="{FF2B5EF4-FFF2-40B4-BE49-F238E27FC236}">
                <a16:creationId xmlns:a16="http://schemas.microsoft.com/office/drawing/2014/main" id="{D046672E-E231-3BEA-FAF7-40765255CC2C}"/>
              </a:ext>
            </a:extLst>
          </p:cNvPr>
          <p:cNvSpPr/>
          <p:nvPr/>
        </p:nvSpPr>
        <p:spPr>
          <a:xfrm>
            <a:off x="951503" y="1074592"/>
            <a:ext cx="2094221" cy="41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n-ea"/>
                <a:cs typeface="Pretendard" pitchFamily="34" charset="-120"/>
              </a:rPr>
              <a:t>주의</a:t>
            </a:r>
            <a:endParaRPr lang="en-US" sz="1600" dirty="0">
              <a:latin typeface="+mn-ea"/>
            </a:endParaRPr>
          </a:p>
        </p:txBody>
      </p:sp>
      <p:sp>
        <p:nvSpPr>
          <p:cNvPr id="108" name="Shape 19">
            <a:extLst>
              <a:ext uri="{FF2B5EF4-FFF2-40B4-BE49-F238E27FC236}">
                <a16:creationId xmlns:a16="http://schemas.microsoft.com/office/drawing/2014/main" id="{9EC6D403-BC08-F8A8-E9FE-F1D9D1666DCB}"/>
              </a:ext>
            </a:extLst>
          </p:cNvPr>
          <p:cNvSpPr/>
          <p:nvPr/>
        </p:nvSpPr>
        <p:spPr>
          <a:xfrm>
            <a:off x="1059825" y="2852110"/>
            <a:ext cx="1877577" cy="11811"/>
          </a:xfrm>
          <a:prstGeom prst="rect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09" name="Text 20">
            <a:extLst>
              <a:ext uri="{FF2B5EF4-FFF2-40B4-BE49-F238E27FC236}">
                <a16:creationId xmlns:a16="http://schemas.microsoft.com/office/drawing/2014/main" id="{26B36882-8F50-BFC6-FD68-40931630BF06}"/>
              </a:ext>
            </a:extLst>
          </p:cNvPr>
          <p:cNvSpPr/>
          <p:nvPr/>
        </p:nvSpPr>
        <p:spPr>
          <a:xfrm>
            <a:off x="1059825" y="2958407"/>
            <a:ext cx="1877577" cy="25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97316"/>
                </a:solidFill>
                <a:latin typeface="+mn-ea"/>
                <a:cs typeface="Pretendard" pitchFamily="34" charset="-120"/>
              </a:rPr>
              <a:t>근거</a:t>
            </a:r>
            <a:endParaRPr lang="en-US" sz="950" dirty="0">
              <a:latin typeface="+mn-ea"/>
            </a:endParaRPr>
          </a:p>
        </p:txBody>
      </p:sp>
      <p:sp>
        <p:nvSpPr>
          <p:cNvPr id="110" name="Text 21">
            <a:extLst>
              <a:ext uri="{FF2B5EF4-FFF2-40B4-BE49-F238E27FC236}">
                <a16:creationId xmlns:a16="http://schemas.microsoft.com/office/drawing/2014/main" id="{D3C8D127-C6C6-9A3D-8D30-17AC186F1AD2}"/>
              </a:ext>
            </a:extLst>
          </p:cNvPr>
          <p:cNvSpPr/>
          <p:nvPr/>
        </p:nvSpPr>
        <p:spPr>
          <a:xfrm>
            <a:off x="1059825" y="3230054"/>
            <a:ext cx="1877577" cy="649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000" dirty="0" err="1"/>
              <a:t>커브·곡각도로</a:t>
            </a:r>
            <a:r>
              <a:rPr lang="ko-KR" altLang="ko-KR" sz="1000" dirty="0"/>
              <a:t> 사고 22,491건, 사망 458명, 치사율 2.0(직선도로 1.2의 1.7배). 안개 구간 치사율 8.7. 주의 표지판이 설치되는 </a:t>
            </a:r>
            <a:r>
              <a:rPr lang="ko-KR" altLang="ko-KR" sz="1000" dirty="0" err="1"/>
              <a:t>커브·기상</a:t>
            </a:r>
            <a:r>
              <a:rPr lang="ko-KR" altLang="ko-KR" sz="1000" dirty="0"/>
              <a:t> 위험 구간의 치사율이 일반 도로보다 유의미하게 높으나, 다양한 심벌을 단일 타입으로 묶기 때문에 최대 위험이 아닌 주의 분류.</a:t>
            </a:r>
            <a:endParaRPr lang="en-US" sz="1000" dirty="0">
              <a:latin typeface="+mn-ea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D1B5B33-96FB-F806-47DB-495132A2BD94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5017CB-3886-3C27-04F4-7313B806182E}"/>
              </a:ext>
            </a:extLst>
          </p:cNvPr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9</a:t>
            </a:r>
            <a:r>
              <a:rPr lang="ko-KR" altLang="en-US" sz="2000" dirty="0">
                <a:solidFill>
                  <a:schemeClr val="bg1"/>
                </a:solidFill>
              </a:rPr>
              <a:t>가지 클래스 근거 </a:t>
            </a:r>
            <a:r>
              <a:rPr lang="en-US" altLang="ko-KR" sz="2000" dirty="0">
                <a:solidFill>
                  <a:schemeClr val="bg1"/>
                </a:solidFill>
              </a:rPr>
              <a:t>– </a:t>
            </a:r>
            <a:r>
              <a:rPr lang="ko-KR" altLang="en-US" sz="2000" dirty="0">
                <a:solidFill>
                  <a:schemeClr val="bg1"/>
                </a:solidFill>
              </a:rPr>
              <a:t>주의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4" name="Shape 14">
            <a:extLst>
              <a:ext uri="{FF2B5EF4-FFF2-40B4-BE49-F238E27FC236}">
                <a16:creationId xmlns:a16="http://schemas.microsoft.com/office/drawing/2014/main" id="{A0BC4B6C-64B9-4FF4-BECD-FE44C1CE1F5D}"/>
              </a:ext>
            </a:extLst>
          </p:cNvPr>
          <p:cNvSpPr/>
          <p:nvPr/>
        </p:nvSpPr>
        <p:spPr>
          <a:xfrm>
            <a:off x="3524886" y="1015538"/>
            <a:ext cx="2094221" cy="3897548"/>
          </a:xfrm>
          <a:prstGeom prst="roundRect">
            <a:avLst>
              <a:gd name="adj" fmla="val 4828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95" name="Shape 15">
            <a:extLst>
              <a:ext uri="{FF2B5EF4-FFF2-40B4-BE49-F238E27FC236}">
                <a16:creationId xmlns:a16="http://schemas.microsoft.com/office/drawing/2014/main" id="{BD9AA78C-A58B-59C9-7BED-C75DFEA329EA}"/>
              </a:ext>
            </a:extLst>
          </p:cNvPr>
          <p:cNvSpPr/>
          <p:nvPr/>
        </p:nvSpPr>
        <p:spPr>
          <a:xfrm>
            <a:off x="3524886" y="1015538"/>
            <a:ext cx="2094221" cy="5314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96" name="Text 16">
            <a:extLst>
              <a:ext uri="{FF2B5EF4-FFF2-40B4-BE49-F238E27FC236}">
                <a16:creationId xmlns:a16="http://schemas.microsoft.com/office/drawing/2014/main" id="{38DBEB0B-1E84-727E-335F-AC4E30A5382E}"/>
              </a:ext>
            </a:extLst>
          </p:cNvPr>
          <p:cNvSpPr/>
          <p:nvPr/>
        </p:nvSpPr>
        <p:spPr>
          <a:xfrm>
            <a:off x="3524886" y="1074592"/>
            <a:ext cx="2094221" cy="41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n-ea"/>
                <a:cs typeface="Pretendard" pitchFamily="34" charset="-120"/>
              </a:rPr>
              <a:t>주의</a:t>
            </a:r>
            <a:endParaRPr lang="en-US" sz="1600" dirty="0">
              <a:latin typeface="+mn-ea"/>
            </a:endParaRPr>
          </a:p>
        </p:txBody>
      </p:sp>
      <p:sp>
        <p:nvSpPr>
          <p:cNvPr id="97" name="Text 17">
            <a:extLst>
              <a:ext uri="{FF2B5EF4-FFF2-40B4-BE49-F238E27FC236}">
                <a16:creationId xmlns:a16="http://schemas.microsoft.com/office/drawing/2014/main" id="{4B124CCF-9F34-8E9E-04DF-B9E91815A8D2}"/>
              </a:ext>
            </a:extLst>
          </p:cNvPr>
          <p:cNvSpPr/>
          <p:nvPr/>
        </p:nvSpPr>
        <p:spPr>
          <a:xfrm>
            <a:off x="3633208" y="1700562"/>
            <a:ext cx="1877577" cy="438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000" b="1" dirty="0">
                <a:solidFill>
                  <a:srgbClr val="F97316"/>
                </a:solidFill>
                <a:latin typeface="+mn-ea"/>
                <a:cs typeface="Pretendard" pitchFamily="34" charset="-120"/>
              </a:rPr>
              <a:t>5. </a:t>
            </a:r>
            <a:r>
              <a:rPr lang="ko-KR" altLang="en-US" sz="1000" b="1" dirty="0">
                <a:solidFill>
                  <a:srgbClr val="F97316"/>
                </a:solidFill>
                <a:latin typeface="+mn-ea"/>
                <a:cs typeface="Pretendard" pitchFamily="34" charset="-120"/>
              </a:rPr>
              <a:t>속도제한</a:t>
            </a:r>
            <a:r>
              <a:rPr lang="en-US" altLang="ko-KR" sz="1000" b="1" dirty="0">
                <a:solidFill>
                  <a:srgbClr val="F97316"/>
                </a:solidFill>
                <a:latin typeface="+mn-ea"/>
                <a:cs typeface="Pretendard" pitchFamily="34" charset="-120"/>
              </a:rPr>
              <a:t>40_60</a:t>
            </a:r>
          </a:p>
          <a:p>
            <a:r>
              <a:rPr lang="ko-KR" altLang="en-US" sz="1000" b="1" dirty="0">
                <a:solidFill>
                  <a:srgbClr val="F97316"/>
                </a:solidFill>
                <a:latin typeface="+mn-ea"/>
                <a:cs typeface="Pretendard" pitchFamily="34" charset="-120"/>
              </a:rPr>
              <a:t> </a:t>
            </a:r>
            <a:r>
              <a:rPr lang="ko-KR" altLang="ko-KR" sz="1000" dirty="0" err="1"/>
              <a:t>restriction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circle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red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txt</a:t>
            </a:r>
            <a:r>
              <a:rPr lang="ko-KR" altLang="ko-KR" sz="1000" dirty="0"/>
              <a:t> [40, 50, 60]</a:t>
            </a:r>
            <a:endParaRPr lang="en-US" sz="1000" dirty="0">
              <a:latin typeface="+mn-ea"/>
            </a:endParaRPr>
          </a:p>
        </p:txBody>
      </p:sp>
      <p:sp>
        <p:nvSpPr>
          <p:cNvPr id="99" name="Shape 19">
            <a:extLst>
              <a:ext uri="{FF2B5EF4-FFF2-40B4-BE49-F238E27FC236}">
                <a16:creationId xmlns:a16="http://schemas.microsoft.com/office/drawing/2014/main" id="{8853676E-5672-CCC9-E856-DC5E2BE25EEB}"/>
              </a:ext>
            </a:extLst>
          </p:cNvPr>
          <p:cNvSpPr/>
          <p:nvPr/>
        </p:nvSpPr>
        <p:spPr>
          <a:xfrm>
            <a:off x="3633208" y="2852110"/>
            <a:ext cx="1877577" cy="11811"/>
          </a:xfrm>
          <a:prstGeom prst="rect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00" name="Text 20">
            <a:extLst>
              <a:ext uri="{FF2B5EF4-FFF2-40B4-BE49-F238E27FC236}">
                <a16:creationId xmlns:a16="http://schemas.microsoft.com/office/drawing/2014/main" id="{A8353304-7AD8-B54D-EF16-E18EB1B4A4FA}"/>
              </a:ext>
            </a:extLst>
          </p:cNvPr>
          <p:cNvSpPr/>
          <p:nvPr/>
        </p:nvSpPr>
        <p:spPr>
          <a:xfrm>
            <a:off x="3633208" y="2958407"/>
            <a:ext cx="1877577" cy="25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97316"/>
                </a:solidFill>
                <a:latin typeface="+mn-ea"/>
                <a:cs typeface="Pretendard" pitchFamily="34" charset="-120"/>
              </a:rPr>
              <a:t>근거</a:t>
            </a:r>
            <a:endParaRPr lang="en-US" sz="950" dirty="0">
              <a:latin typeface="+mn-ea"/>
            </a:endParaRPr>
          </a:p>
        </p:txBody>
      </p:sp>
      <p:sp>
        <p:nvSpPr>
          <p:cNvPr id="101" name="Text 21">
            <a:extLst>
              <a:ext uri="{FF2B5EF4-FFF2-40B4-BE49-F238E27FC236}">
                <a16:creationId xmlns:a16="http://schemas.microsoft.com/office/drawing/2014/main" id="{DE3F4340-199A-CF94-25CD-9598953D4CEA}"/>
              </a:ext>
            </a:extLst>
          </p:cNvPr>
          <p:cNvSpPr/>
          <p:nvPr/>
        </p:nvSpPr>
        <p:spPr>
          <a:xfrm>
            <a:off x="3633208" y="3230054"/>
            <a:ext cx="1877577" cy="649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000" dirty="0" err="1"/>
              <a:t>도시부</a:t>
            </a:r>
            <a:r>
              <a:rPr lang="ko-KR" altLang="ko-KR" sz="1000" dirty="0"/>
              <a:t> 일반도로(특별광역시도 39.5%, 시도 31.4%)에서 사고가 집중. 해당 구간 과속사고 치사율은 전체 평균보다 높으나 30 이하 구간 대비 보호구역 중첩 비율이 낮음. 보행사망자의 </a:t>
            </a:r>
            <a:r>
              <a:rPr lang="ko-KR" altLang="ko-KR" sz="1000" dirty="0" err="1"/>
              <a:t>도시부</a:t>
            </a:r>
            <a:r>
              <a:rPr lang="ko-KR" altLang="ko-KR" sz="1000" dirty="0"/>
              <a:t> 집중(특별광역시도 32.6%, 시도 32.1%)을 고려하여 주의 분류.</a:t>
            </a:r>
            <a:endParaRPr lang="en-US" sz="1000" dirty="0">
              <a:latin typeface="+mn-ea"/>
            </a:endParaRPr>
          </a:p>
        </p:txBody>
      </p:sp>
      <p:sp>
        <p:nvSpPr>
          <p:cNvPr id="112" name="Shape 14">
            <a:extLst>
              <a:ext uri="{FF2B5EF4-FFF2-40B4-BE49-F238E27FC236}">
                <a16:creationId xmlns:a16="http://schemas.microsoft.com/office/drawing/2014/main" id="{F5C6EB2C-90A1-5885-5E90-EFB657F87736}"/>
              </a:ext>
            </a:extLst>
          </p:cNvPr>
          <p:cNvSpPr/>
          <p:nvPr/>
        </p:nvSpPr>
        <p:spPr>
          <a:xfrm>
            <a:off x="6098272" y="1015538"/>
            <a:ext cx="2094221" cy="3897548"/>
          </a:xfrm>
          <a:prstGeom prst="roundRect">
            <a:avLst>
              <a:gd name="adj" fmla="val 4828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13" name="Shape 15">
            <a:extLst>
              <a:ext uri="{FF2B5EF4-FFF2-40B4-BE49-F238E27FC236}">
                <a16:creationId xmlns:a16="http://schemas.microsoft.com/office/drawing/2014/main" id="{BE201A92-A1C5-A38D-EC82-4711C3C4BBDB}"/>
              </a:ext>
            </a:extLst>
          </p:cNvPr>
          <p:cNvSpPr/>
          <p:nvPr/>
        </p:nvSpPr>
        <p:spPr>
          <a:xfrm>
            <a:off x="6098272" y="1015538"/>
            <a:ext cx="2094221" cy="5314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14" name="Text 16">
            <a:extLst>
              <a:ext uri="{FF2B5EF4-FFF2-40B4-BE49-F238E27FC236}">
                <a16:creationId xmlns:a16="http://schemas.microsoft.com/office/drawing/2014/main" id="{F56F2BCA-5DC5-651B-6A78-50E3A513168B}"/>
              </a:ext>
            </a:extLst>
          </p:cNvPr>
          <p:cNvSpPr/>
          <p:nvPr/>
        </p:nvSpPr>
        <p:spPr>
          <a:xfrm>
            <a:off x="6098272" y="1074592"/>
            <a:ext cx="2094221" cy="41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n-ea"/>
                <a:cs typeface="Pretendard" pitchFamily="34" charset="-120"/>
              </a:rPr>
              <a:t>주의</a:t>
            </a:r>
            <a:endParaRPr lang="en-US" sz="1600" dirty="0">
              <a:latin typeface="+mn-ea"/>
            </a:endParaRPr>
          </a:p>
        </p:txBody>
      </p:sp>
      <p:sp>
        <p:nvSpPr>
          <p:cNvPr id="115" name="Text 17">
            <a:extLst>
              <a:ext uri="{FF2B5EF4-FFF2-40B4-BE49-F238E27FC236}">
                <a16:creationId xmlns:a16="http://schemas.microsoft.com/office/drawing/2014/main" id="{79EBC643-E53D-B83C-A923-37A7B8E65604}"/>
              </a:ext>
            </a:extLst>
          </p:cNvPr>
          <p:cNvSpPr/>
          <p:nvPr/>
        </p:nvSpPr>
        <p:spPr>
          <a:xfrm>
            <a:off x="6206594" y="1700562"/>
            <a:ext cx="1877577" cy="4381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97316"/>
                </a:solidFill>
                <a:latin typeface="+mn-ea"/>
              </a:rPr>
              <a:t>6. </a:t>
            </a:r>
            <a:r>
              <a:rPr lang="ko-KR" altLang="en-US" sz="1000" b="1" dirty="0">
                <a:solidFill>
                  <a:srgbClr val="F97316"/>
                </a:solidFill>
                <a:latin typeface="+mn-ea"/>
              </a:rPr>
              <a:t>속도제한</a:t>
            </a:r>
            <a:r>
              <a:rPr lang="en-US" altLang="ko-KR" sz="1000" b="1" dirty="0">
                <a:solidFill>
                  <a:srgbClr val="F97316"/>
                </a:solidFill>
                <a:latin typeface="+mn-ea"/>
              </a:rPr>
              <a:t>90 </a:t>
            </a:r>
            <a:r>
              <a:rPr lang="ko-KR" altLang="en-US" sz="1000" b="1" dirty="0">
                <a:solidFill>
                  <a:srgbClr val="F97316"/>
                </a:solidFill>
                <a:latin typeface="+mn-ea"/>
              </a:rPr>
              <a:t>이상</a:t>
            </a:r>
            <a:endParaRPr lang="en-US" altLang="ko-KR" sz="1000" b="1" dirty="0">
              <a:solidFill>
                <a:srgbClr val="F97316"/>
              </a:solidFill>
              <a:latin typeface="+mn-ea"/>
            </a:endParaRPr>
          </a:p>
          <a:p>
            <a:r>
              <a:rPr lang="ko-KR" altLang="ko-KR" sz="1000" dirty="0" err="1"/>
              <a:t>estriction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circle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red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txt</a:t>
            </a:r>
            <a:r>
              <a:rPr lang="ko-KR" altLang="ko-KR" sz="1000" dirty="0"/>
              <a:t> </a:t>
            </a:r>
            <a:r>
              <a:rPr lang="ko-KR" altLang="ko-KR" sz="1000" dirty="0" err="1"/>
              <a:t>in</a:t>
            </a:r>
            <a:r>
              <a:rPr lang="ko-KR" altLang="ko-KR" sz="1000" dirty="0"/>
              <a:t> [90, 100, 110]</a:t>
            </a:r>
            <a:endParaRPr lang="en-US" sz="1000" dirty="0">
              <a:latin typeface="+mn-ea"/>
            </a:endParaRPr>
          </a:p>
        </p:txBody>
      </p:sp>
      <p:sp>
        <p:nvSpPr>
          <p:cNvPr id="117" name="Shape 19">
            <a:extLst>
              <a:ext uri="{FF2B5EF4-FFF2-40B4-BE49-F238E27FC236}">
                <a16:creationId xmlns:a16="http://schemas.microsoft.com/office/drawing/2014/main" id="{D267752F-8A00-9054-9F89-E73DA1732945}"/>
              </a:ext>
            </a:extLst>
          </p:cNvPr>
          <p:cNvSpPr/>
          <p:nvPr/>
        </p:nvSpPr>
        <p:spPr>
          <a:xfrm>
            <a:off x="6206594" y="2863921"/>
            <a:ext cx="1877577" cy="11811"/>
          </a:xfrm>
          <a:prstGeom prst="rect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18" name="Text 20">
            <a:extLst>
              <a:ext uri="{FF2B5EF4-FFF2-40B4-BE49-F238E27FC236}">
                <a16:creationId xmlns:a16="http://schemas.microsoft.com/office/drawing/2014/main" id="{5AC5FF6A-E4EA-DEA2-061F-E06785826378}"/>
              </a:ext>
            </a:extLst>
          </p:cNvPr>
          <p:cNvSpPr/>
          <p:nvPr/>
        </p:nvSpPr>
        <p:spPr>
          <a:xfrm>
            <a:off x="6206594" y="2970218"/>
            <a:ext cx="1877577" cy="25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97316"/>
                </a:solidFill>
                <a:latin typeface="+mn-ea"/>
                <a:cs typeface="Pretendard" pitchFamily="34" charset="-120"/>
              </a:rPr>
              <a:t>근거</a:t>
            </a:r>
            <a:endParaRPr lang="en-US" sz="950" dirty="0">
              <a:latin typeface="+mn-ea"/>
            </a:endParaRPr>
          </a:p>
        </p:txBody>
      </p:sp>
      <p:sp>
        <p:nvSpPr>
          <p:cNvPr id="119" name="Text 21">
            <a:extLst>
              <a:ext uri="{FF2B5EF4-FFF2-40B4-BE49-F238E27FC236}">
                <a16:creationId xmlns:a16="http://schemas.microsoft.com/office/drawing/2014/main" id="{147B6BB2-B65A-1950-D3D3-403CBC5793C9}"/>
              </a:ext>
            </a:extLst>
          </p:cNvPr>
          <p:cNvSpPr/>
          <p:nvPr/>
        </p:nvSpPr>
        <p:spPr>
          <a:xfrm>
            <a:off x="6206594" y="3241865"/>
            <a:ext cx="1877577" cy="649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000" dirty="0"/>
              <a:t>고속국도 사고 5,311건, 사망 187명, 치사율 3.5(전체 도로 중 최고). </a:t>
            </a:r>
            <a:r>
              <a:rPr lang="ko-KR" altLang="ko-KR" sz="1000" dirty="0" err="1"/>
              <a:t>안전거리미확보</a:t>
            </a:r>
            <a:r>
              <a:rPr lang="ko-KR" altLang="ko-KR" sz="1000" dirty="0"/>
              <a:t> 34.4%로 해당 구간 1위 위반. 추돌 치사율 5.4. 고속 구간은 치사율이 높지만 사고 건수 자체는 낮고 운전자 인지도가 높아 주의 분류(고위험과 주의 경계).</a:t>
            </a:r>
            <a:endParaRPr lang="en-US" sz="1000" dirty="0">
              <a:latin typeface="+mn-ea"/>
            </a:endParaRPr>
          </a:p>
        </p:txBody>
      </p:sp>
      <p:sp>
        <p:nvSpPr>
          <p:cNvPr id="122" name="Text 17">
            <a:extLst>
              <a:ext uri="{FF2B5EF4-FFF2-40B4-BE49-F238E27FC236}">
                <a16:creationId xmlns:a16="http://schemas.microsoft.com/office/drawing/2014/main" id="{B2771FD1-3146-9074-81A8-9EE14A1F98DF}"/>
              </a:ext>
            </a:extLst>
          </p:cNvPr>
          <p:cNvSpPr/>
          <p:nvPr/>
        </p:nvSpPr>
        <p:spPr>
          <a:xfrm>
            <a:off x="1059821" y="1694655"/>
            <a:ext cx="1877577" cy="295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000" b="1" dirty="0">
                <a:solidFill>
                  <a:srgbClr val="F97316"/>
                </a:solidFill>
                <a:latin typeface="+mn-ea"/>
                <a:cs typeface="Pretendard" pitchFamily="34" charset="-120"/>
              </a:rPr>
              <a:t>4. </a:t>
            </a:r>
            <a:r>
              <a:rPr lang="ko-KR" altLang="en-US" sz="1000" b="1" dirty="0">
                <a:solidFill>
                  <a:srgbClr val="F97316"/>
                </a:solidFill>
                <a:latin typeface="+mn-ea"/>
                <a:cs typeface="Pretendard" pitchFamily="34" charset="-120"/>
              </a:rPr>
              <a:t>주의 표시</a:t>
            </a:r>
            <a:endParaRPr lang="en-US" altLang="ko-KR" sz="1000" b="1" dirty="0">
              <a:solidFill>
                <a:srgbClr val="F97316"/>
              </a:solidFill>
              <a:latin typeface="+mn-ea"/>
              <a:cs typeface="Pretendard" pitchFamily="34" charset="-120"/>
            </a:endParaRPr>
          </a:p>
          <a:p>
            <a:r>
              <a:rPr lang="ko-KR" altLang="ko-KR" sz="1000" dirty="0" err="1"/>
              <a:t>caution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triangle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yellow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82457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357E9-0FFE-DDE0-DE9C-33A22A29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0">
            <a:extLst>
              <a:ext uri="{FF2B5EF4-FFF2-40B4-BE49-F238E27FC236}">
                <a16:creationId xmlns:a16="http://schemas.microsoft.com/office/drawing/2014/main" id="{15D6F583-235C-5412-4145-267F909AF05F}"/>
              </a:ext>
            </a:extLst>
          </p:cNvPr>
          <p:cNvSpPr/>
          <p:nvPr/>
        </p:nvSpPr>
        <p:spPr>
          <a:xfrm>
            <a:off x="6098266" y="1015538"/>
            <a:ext cx="2094221" cy="3897548"/>
          </a:xfrm>
          <a:prstGeom prst="roundRect">
            <a:avLst>
              <a:gd name="adj" fmla="val 4828"/>
            </a:avLst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86064DD0-5744-F7A4-A72D-DD0B3D2B3878}"/>
              </a:ext>
            </a:extLst>
          </p:cNvPr>
          <p:cNvSpPr/>
          <p:nvPr/>
        </p:nvSpPr>
        <p:spPr>
          <a:xfrm>
            <a:off x="6098266" y="1015538"/>
            <a:ext cx="2094221" cy="5314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3AF0C2A6-9DBC-FE10-C2CF-4A81AE48CB56}"/>
              </a:ext>
            </a:extLst>
          </p:cNvPr>
          <p:cNvSpPr/>
          <p:nvPr/>
        </p:nvSpPr>
        <p:spPr>
          <a:xfrm>
            <a:off x="6098266" y="1074592"/>
            <a:ext cx="2094221" cy="41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n-ea"/>
                <a:cs typeface="Pretendard" pitchFamily="34" charset="-120"/>
              </a:rPr>
              <a:t>안전</a:t>
            </a:r>
            <a:endParaRPr lang="en-US" sz="1600" dirty="0">
              <a:latin typeface="+mn-ea"/>
            </a:endParaRP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970D11B9-9720-0C38-F6B8-AC1DA873FACA}"/>
              </a:ext>
            </a:extLst>
          </p:cNvPr>
          <p:cNvSpPr/>
          <p:nvPr/>
        </p:nvSpPr>
        <p:spPr>
          <a:xfrm>
            <a:off x="6206588" y="1700562"/>
            <a:ext cx="1877577" cy="434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  <a:latin typeface="+mn-ea"/>
              </a:rPr>
              <a:t>9. </a:t>
            </a:r>
            <a:r>
              <a:rPr lang="ko-KR" altLang="en-US" sz="1000" b="1" dirty="0">
                <a:solidFill>
                  <a:srgbClr val="22C55E"/>
                </a:solidFill>
                <a:latin typeface="+mn-ea"/>
              </a:rPr>
              <a:t>지시표지</a:t>
            </a:r>
            <a:endParaRPr lang="en-US" altLang="ko-KR" sz="1000" b="1" dirty="0">
              <a:solidFill>
                <a:srgbClr val="22C55E"/>
              </a:solidFill>
              <a:latin typeface="+mn-ea"/>
            </a:endParaRPr>
          </a:p>
          <a:p>
            <a:r>
              <a:rPr lang="ko-KR" altLang="ko-KR" sz="1000" dirty="0" err="1"/>
              <a:t>instruction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circle</a:t>
            </a:r>
            <a:r>
              <a:rPr lang="ko-KR" altLang="ko-KR" sz="1000" dirty="0"/>
              <a:t> </a:t>
            </a:r>
            <a:r>
              <a:rPr lang="ko-KR" altLang="ko-KR" sz="1000" dirty="0" err="1"/>
              <a:t>or</a:t>
            </a:r>
            <a:r>
              <a:rPr lang="ko-KR" altLang="ko-KR" sz="1000" dirty="0"/>
              <a:t> </a:t>
            </a:r>
            <a:r>
              <a:rPr lang="ko-KR" altLang="ko-KR" sz="1000" dirty="0" err="1"/>
              <a:t>rectangle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blue</a:t>
            </a:r>
            <a:r>
              <a:rPr lang="en-US" sz="1000" b="1" dirty="0">
                <a:solidFill>
                  <a:srgbClr val="22C55E"/>
                </a:solidFill>
                <a:latin typeface="+mn-ea"/>
              </a:rPr>
              <a:t> </a:t>
            </a:r>
            <a:endParaRPr lang="en-US" sz="1000" dirty="0">
              <a:latin typeface="+mn-ea"/>
            </a:endParaRPr>
          </a:p>
        </p:txBody>
      </p:sp>
      <p:sp>
        <p:nvSpPr>
          <p:cNvPr id="40" name="Shape 35">
            <a:extLst>
              <a:ext uri="{FF2B5EF4-FFF2-40B4-BE49-F238E27FC236}">
                <a16:creationId xmlns:a16="http://schemas.microsoft.com/office/drawing/2014/main" id="{5FF324BB-E495-9C16-FF4B-0C07C9C41871}"/>
              </a:ext>
            </a:extLst>
          </p:cNvPr>
          <p:cNvSpPr/>
          <p:nvPr/>
        </p:nvSpPr>
        <p:spPr>
          <a:xfrm>
            <a:off x="6206588" y="2821460"/>
            <a:ext cx="1877577" cy="11811"/>
          </a:xfrm>
          <a:prstGeom prst="rect">
            <a:avLst/>
          </a:prstGeom>
          <a:solidFill>
            <a:srgbClr val="22C55E">
              <a:alpha val="40000"/>
            </a:srgbClr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4279F649-D56E-4DFC-9CD3-21C3CEDDC0ED}"/>
              </a:ext>
            </a:extLst>
          </p:cNvPr>
          <p:cNvSpPr/>
          <p:nvPr/>
        </p:nvSpPr>
        <p:spPr>
          <a:xfrm>
            <a:off x="6206588" y="2927757"/>
            <a:ext cx="1877577" cy="25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C55E"/>
                </a:solidFill>
                <a:latin typeface="+mn-ea"/>
                <a:cs typeface="Pretendard" pitchFamily="34" charset="-120"/>
              </a:rPr>
              <a:t>근거</a:t>
            </a:r>
            <a:endParaRPr lang="en-US" sz="950" dirty="0">
              <a:latin typeface="+mn-ea"/>
            </a:endParaRPr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5318BBC9-D309-88BF-CE25-71E752D96205}"/>
              </a:ext>
            </a:extLst>
          </p:cNvPr>
          <p:cNvSpPr/>
          <p:nvPr/>
        </p:nvSpPr>
        <p:spPr>
          <a:xfrm>
            <a:off x="6206588" y="3199404"/>
            <a:ext cx="1877577" cy="649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000" dirty="0"/>
              <a:t>지시 표지판이 설치된 구간 자체의 사고 유발 요인은 낮음. </a:t>
            </a:r>
            <a:r>
              <a:rPr lang="ko-KR" altLang="ko-KR" sz="1000" dirty="0" err="1"/>
              <a:t>일방통행·주차</a:t>
            </a:r>
            <a:r>
              <a:rPr lang="ko-KR" altLang="ko-KR" sz="1000" dirty="0"/>
              <a:t> 지시 위반은 경미 사고 비율이 높으며, 음주사고를 제외한 지시 위반 단독 치사율 데이터는 별도 집계되지 않음. 타 클래스 대비 상대적으로 낮은 위험으로 안전 분류.</a:t>
            </a:r>
            <a:endParaRPr lang="en-US" sz="1000" dirty="0">
              <a:latin typeface="+mn-ea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E376B652-DEFF-7627-1046-40E300F0669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8A9875-7011-5647-7611-4EB9C1637482}"/>
              </a:ext>
            </a:extLst>
          </p:cNvPr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9</a:t>
            </a:r>
            <a:r>
              <a:rPr lang="ko-KR" altLang="en-US" sz="2000" dirty="0">
                <a:solidFill>
                  <a:schemeClr val="bg1"/>
                </a:solidFill>
              </a:rPr>
              <a:t>가지 클래스 근거 </a:t>
            </a:r>
            <a:r>
              <a:rPr lang="en-US" altLang="ko-KR" sz="2000" dirty="0">
                <a:solidFill>
                  <a:schemeClr val="bg1"/>
                </a:solidFill>
              </a:rPr>
              <a:t>– </a:t>
            </a:r>
            <a:r>
              <a:rPr lang="ko-KR" altLang="en-US" sz="2000" dirty="0">
                <a:solidFill>
                  <a:schemeClr val="bg1"/>
                </a:solidFill>
              </a:rPr>
              <a:t>보통 </a:t>
            </a:r>
            <a:r>
              <a:rPr lang="en-US" altLang="ko-KR" sz="2000" dirty="0">
                <a:solidFill>
                  <a:schemeClr val="bg1"/>
                </a:solidFill>
              </a:rPr>
              <a:t>/ </a:t>
            </a:r>
            <a:r>
              <a:rPr lang="ko-KR" altLang="en-US" sz="2000" dirty="0">
                <a:solidFill>
                  <a:schemeClr val="bg1"/>
                </a:solidFill>
              </a:rPr>
              <a:t>안전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Shape 22">
            <a:extLst>
              <a:ext uri="{FF2B5EF4-FFF2-40B4-BE49-F238E27FC236}">
                <a16:creationId xmlns:a16="http://schemas.microsoft.com/office/drawing/2014/main" id="{49700ADA-133D-124E-9C23-7C30716B3519}"/>
              </a:ext>
            </a:extLst>
          </p:cNvPr>
          <p:cNvSpPr/>
          <p:nvPr/>
        </p:nvSpPr>
        <p:spPr>
          <a:xfrm>
            <a:off x="951503" y="1015538"/>
            <a:ext cx="2094221" cy="3897548"/>
          </a:xfrm>
          <a:prstGeom prst="roundRect">
            <a:avLst>
              <a:gd name="adj" fmla="val 4828"/>
            </a:avLst>
          </a:prstGeom>
          <a:solidFill>
            <a:srgbClr val="FEFCE8"/>
          </a:solidFill>
          <a:ln w="19050">
            <a:solidFill>
              <a:srgbClr val="EAB30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7" name="Shape 23">
            <a:extLst>
              <a:ext uri="{FF2B5EF4-FFF2-40B4-BE49-F238E27FC236}">
                <a16:creationId xmlns:a16="http://schemas.microsoft.com/office/drawing/2014/main" id="{EA822E18-813A-232D-A7F5-B574089B8B28}"/>
              </a:ext>
            </a:extLst>
          </p:cNvPr>
          <p:cNvSpPr/>
          <p:nvPr/>
        </p:nvSpPr>
        <p:spPr>
          <a:xfrm>
            <a:off x="951503" y="1015538"/>
            <a:ext cx="2094221" cy="53148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8" name="Text 24">
            <a:extLst>
              <a:ext uri="{FF2B5EF4-FFF2-40B4-BE49-F238E27FC236}">
                <a16:creationId xmlns:a16="http://schemas.microsoft.com/office/drawing/2014/main" id="{7B606EDE-ADDD-61BF-7BDE-F45652FA9A18}"/>
              </a:ext>
            </a:extLst>
          </p:cNvPr>
          <p:cNvSpPr/>
          <p:nvPr/>
        </p:nvSpPr>
        <p:spPr>
          <a:xfrm>
            <a:off x="951503" y="1074592"/>
            <a:ext cx="2094221" cy="41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n-ea"/>
                <a:cs typeface="Pretendard" pitchFamily="34" charset="-120"/>
              </a:rPr>
              <a:t>보통</a:t>
            </a:r>
            <a:endParaRPr lang="en-US" sz="1600" dirty="0">
              <a:latin typeface="+mn-ea"/>
            </a:endParaRPr>
          </a:p>
        </p:txBody>
      </p:sp>
      <p:sp>
        <p:nvSpPr>
          <p:cNvPr id="19" name="Text 25">
            <a:extLst>
              <a:ext uri="{FF2B5EF4-FFF2-40B4-BE49-F238E27FC236}">
                <a16:creationId xmlns:a16="http://schemas.microsoft.com/office/drawing/2014/main" id="{DFE3C845-EB58-F9EE-F4F4-E81D7EAB8142}"/>
              </a:ext>
            </a:extLst>
          </p:cNvPr>
          <p:cNvSpPr/>
          <p:nvPr/>
        </p:nvSpPr>
        <p:spPr>
          <a:xfrm>
            <a:off x="1059825" y="1700562"/>
            <a:ext cx="1877577" cy="434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B308"/>
                </a:solidFill>
                <a:latin typeface="+mn-ea"/>
              </a:rPr>
              <a:t>7. </a:t>
            </a:r>
            <a:r>
              <a:rPr lang="ko-KR" altLang="en-US" sz="1000" b="1" dirty="0">
                <a:solidFill>
                  <a:srgbClr val="EAB308"/>
                </a:solidFill>
                <a:latin typeface="+mn-ea"/>
              </a:rPr>
              <a:t>속도제한</a:t>
            </a:r>
            <a:r>
              <a:rPr lang="en-US" altLang="ko-KR" sz="1000" b="1" dirty="0">
                <a:solidFill>
                  <a:srgbClr val="EAB308"/>
                </a:solidFill>
                <a:latin typeface="+mn-ea"/>
              </a:rPr>
              <a:t>70_80</a:t>
            </a:r>
          </a:p>
          <a:p>
            <a:r>
              <a:rPr lang="ko-KR" altLang="ko-KR" sz="1000" dirty="0" err="1"/>
              <a:t>restriction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circle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red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txt</a:t>
            </a:r>
            <a:r>
              <a:rPr lang="ko-KR" altLang="ko-KR" sz="1000" dirty="0"/>
              <a:t> </a:t>
            </a:r>
            <a:r>
              <a:rPr lang="ko-KR" altLang="ko-KR" sz="1000" dirty="0" err="1"/>
              <a:t>in</a:t>
            </a:r>
            <a:r>
              <a:rPr lang="ko-KR" altLang="ko-KR" sz="1000" dirty="0"/>
              <a:t> [70, 80]</a:t>
            </a:r>
            <a:endParaRPr lang="en-US" sz="1000" dirty="0">
              <a:latin typeface="+mn-ea"/>
            </a:endParaRPr>
          </a:p>
        </p:txBody>
      </p:sp>
      <p:sp>
        <p:nvSpPr>
          <p:cNvPr id="21" name="Shape 27">
            <a:extLst>
              <a:ext uri="{FF2B5EF4-FFF2-40B4-BE49-F238E27FC236}">
                <a16:creationId xmlns:a16="http://schemas.microsoft.com/office/drawing/2014/main" id="{93E03A1B-10AF-8A05-37C1-B18256684D25}"/>
              </a:ext>
            </a:extLst>
          </p:cNvPr>
          <p:cNvSpPr/>
          <p:nvPr/>
        </p:nvSpPr>
        <p:spPr>
          <a:xfrm>
            <a:off x="1059825" y="2821460"/>
            <a:ext cx="1877577" cy="11811"/>
          </a:xfrm>
          <a:prstGeom prst="rect">
            <a:avLst/>
          </a:prstGeom>
          <a:solidFill>
            <a:srgbClr val="EAB308">
              <a:alpha val="40000"/>
            </a:srgbClr>
          </a:solidFill>
          <a:ln w="12700">
            <a:solidFill>
              <a:srgbClr val="EAB30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2" name="Text 28">
            <a:extLst>
              <a:ext uri="{FF2B5EF4-FFF2-40B4-BE49-F238E27FC236}">
                <a16:creationId xmlns:a16="http://schemas.microsoft.com/office/drawing/2014/main" id="{93450F9F-80F1-F9A2-79BE-B3F9C8E211E6}"/>
              </a:ext>
            </a:extLst>
          </p:cNvPr>
          <p:cNvSpPr/>
          <p:nvPr/>
        </p:nvSpPr>
        <p:spPr>
          <a:xfrm>
            <a:off x="1059825" y="2927757"/>
            <a:ext cx="1877577" cy="25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AB308"/>
                </a:solidFill>
                <a:latin typeface="+mn-ea"/>
                <a:cs typeface="Pretendard" pitchFamily="34" charset="-120"/>
              </a:rPr>
              <a:t>근거</a:t>
            </a:r>
            <a:endParaRPr lang="en-US" sz="950" dirty="0">
              <a:latin typeface="+mn-ea"/>
            </a:endParaRPr>
          </a:p>
        </p:txBody>
      </p:sp>
      <p:sp>
        <p:nvSpPr>
          <p:cNvPr id="23" name="Text 29">
            <a:extLst>
              <a:ext uri="{FF2B5EF4-FFF2-40B4-BE49-F238E27FC236}">
                <a16:creationId xmlns:a16="http://schemas.microsoft.com/office/drawing/2014/main" id="{C8140389-AFCE-A7F6-490B-F74BD2DE6A79}"/>
              </a:ext>
            </a:extLst>
          </p:cNvPr>
          <p:cNvSpPr/>
          <p:nvPr/>
        </p:nvSpPr>
        <p:spPr>
          <a:xfrm>
            <a:off x="1059825" y="3199404"/>
            <a:ext cx="1877577" cy="649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000" dirty="0" err="1"/>
              <a:t>국도·지방도</a:t>
            </a:r>
            <a:r>
              <a:rPr lang="ko-KR" altLang="ko-KR" sz="1000" dirty="0"/>
              <a:t> 해당 구간. 일반국도 사고 22,307건(치사율 2.2), 지방도 11,912건(치사율 2.1). 도시부보다 치사율이 높으나 </a:t>
            </a:r>
            <a:r>
              <a:rPr lang="ko-KR" altLang="ko-KR" sz="1000" dirty="0" err="1"/>
              <a:t>보호구역·고속</a:t>
            </a:r>
            <a:r>
              <a:rPr lang="ko-KR" altLang="ko-KR" sz="1000" dirty="0"/>
              <a:t> 구간 대비 절대 사망자 수가 낮고, 혼합 교통 환경에서 표준적 위험 수준으로 보통 분류.</a:t>
            </a:r>
            <a:endParaRPr lang="en-US" sz="1000" dirty="0">
              <a:latin typeface="+mn-ea"/>
            </a:endParaRP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85DB4D87-EB1B-D064-7672-3CF2880B35AE}"/>
              </a:ext>
            </a:extLst>
          </p:cNvPr>
          <p:cNvSpPr/>
          <p:nvPr/>
        </p:nvSpPr>
        <p:spPr>
          <a:xfrm>
            <a:off x="3524886" y="1015538"/>
            <a:ext cx="2094221" cy="3897548"/>
          </a:xfrm>
          <a:prstGeom prst="roundRect">
            <a:avLst>
              <a:gd name="adj" fmla="val 4828"/>
            </a:avLst>
          </a:prstGeom>
          <a:solidFill>
            <a:srgbClr val="FEFCE8"/>
          </a:solidFill>
          <a:ln w="19050">
            <a:solidFill>
              <a:srgbClr val="EAB30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9B402EE0-926E-1F8F-47C7-664411D43BAF}"/>
              </a:ext>
            </a:extLst>
          </p:cNvPr>
          <p:cNvSpPr/>
          <p:nvPr/>
        </p:nvSpPr>
        <p:spPr>
          <a:xfrm>
            <a:off x="3524886" y="1008210"/>
            <a:ext cx="2094221" cy="53148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D867BE2A-1B91-7284-D1B8-B52E5F9F10BE}"/>
              </a:ext>
            </a:extLst>
          </p:cNvPr>
          <p:cNvSpPr/>
          <p:nvPr/>
        </p:nvSpPr>
        <p:spPr>
          <a:xfrm>
            <a:off x="3524886" y="1074592"/>
            <a:ext cx="2094221" cy="41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+mn-ea"/>
                <a:cs typeface="Pretendard" pitchFamily="34" charset="-120"/>
              </a:rPr>
              <a:t>보통</a:t>
            </a:r>
            <a:endParaRPr lang="en-US" sz="1600" dirty="0">
              <a:latin typeface="+mn-ea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431186E6-07A8-D3BE-6751-FBE6EC1E6B23}"/>
              </a:ext>
            </a:extLst>
          </p:cNvPr>
          <p:cNvSpPr/>
          <p:nvPr/>
        </p:nvSpPr>
        <p:spPr>
          <a:xfrm>
            <a:off x="3633208" y="1700562"/>
            <a:ext cx="1877577" cy="434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AB308"/>
                </a:solidFill>
                <a:latin typeface="+mn-ea"/>
              </a:rPr>
              <a:t>8. </a:t>
            </a:r>
            <a:r>
              <a:rPr lang="ko-KR" altLang="en-US" sz="1000" b="1" dirty="0">
                <a:solidFill>
                  <a:srgbClr val="EAB308"/>
                </a:solidFill>
                <a:latin typeface="+mn-ea"/>
              </a:rPr>
              <a:t>높이</a:t>
            </a:r>
            <a:r>
              <a:rPr lang="en-US" altLang="ko-KR" sz="1000" b="1" dirty="0">
                <a:solidFill>
                  <a:srgbClr val="EAB308"/>
                </a:solidFill>
                <a:latin typeface="+mn-ea"/>
              </a:rPr>
              <a:t>_</a:t>
            </a:r>
            <a:r>
              <a:rPr lang="ko-KR" altLang="en-US" sz="1000" b="1" dirty="0">
                <a:solidFill>
                  <a:srgbClr val="EAB308"/>
                </a:solidFill>
                <a:latin typeface="+mn-ea"/>
              </a:rPr>
              <a:t>중량제한</a:t>
            </a:r>
            <a:endParaRPr lang="en-US" altLang="ko-KR" sz="1000" b="1" dirty="0">
              <a:solidFill>
                <a:srgbClr val="EAB308"/>
              </a:solidFill>
              <a:latin typeface="+mn-ea"/>
            </a:endParaRPr>
          </a:p>
          <a:p>
            <a:r>
              <a:rPr lang="ko-KR" altLang="ko-KR" sz="1000" dirty="0" err="1"/>
              <a:t>restriction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circle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red</a:t>
            </a:r>
            <a:r>
              <a:rPr lang="ko-KR" altLang="ko-KR" sz="1000" dirty="0"/>
              <a:t> + </a:t>
            </a:r>
            <a:r>
              <a:rPr lang="ko-KR" altLang="ko-KR" sz="1000" dirty="0" err="1"/>
              <a:t>txt</a:t>
            </a:r>
            <a:r>
              <a:rPr lang="ko-KR" altLang="ko-KR" sz="1000" dirty="0"/>
              <a:t> </a:t>
            </a:r>
            <a:r>
              <a:rPr lang="ko-KR" altLang="ko-KR" sz="1000" dirty="0" err="1"/>
              <a:t>is</a:t>
            </a:r>
            <a:r>
              <a:rPr lang="ko-KR" altLang="ko-KR" sz="1000" dirty="0"/>
              <a:t> </a:t>
            </a:r>
            <a:r>
              <a:rPr lang="ko-KR" altLang="ko-KR" sz="1000" dirty="0" err="1"/>
              <a:t>decimal</a:t>
            </a:r>
            <a:r>
              <a:rPr lang="en-US" sz="1000" b="1" dirty="0">
                <a:solidFill>
                  <a:srgbClr val="EAB308"/>
                </a:solidFill>
                <a:latin typeface="+mn-ea"/>
              </a:rPr>
              <a:t> </a:t>
            </a:r>
            <a:endParaRPr lang="en-US" sz="1000" dirty="0">
              <a:latin typeface="+mn-ea"/>
            </a:endParaRPr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5D223316-31F7-75D4-4C48-BB410A161774}"/>
              </a:ext>
            </a:extLst>
          </p:cNvPr>
          <p:cNvSpPr/>
          <p:nvPr/>
        </p:nvSpPr>
        <p:spPr>
          <a:xfrm>
            <a:off x="3633208" y="2821460"/>
            <a:ext cx="1877577" cy="11811"/>
          </a:xfrm>
          <a:prstGeom prst="rect">
            <a:avLst/>
          </a:prstGeom>
          <a:solidFill>
            <a:srgbClr val="EAB308">
              <a:alpha val="40000"/>
            </a:srgbClr>
          </a:solidFill>
          <a:ln w="12700">
            <a:solidFill>
              <a:srgbClr val="EAB30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D3C7F382-EFF7-D7A1-9E4A-BF70ACF3EB69}"/>
              </a:ext>
            </a:extLst>
          </p:cNvPr>
          <p:cNvSpPr/>
          <p:nvPr/>
        </p:nvSpPr>
        <p:spPr>
          <a:xfrm>
            <a:off x="3633208" y="2927757"/>
            <a:ext cx="1877577" cy="259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EAB308"/>
                </a:solidFill>
                <a:latin typeface="+mn-ea"/>
                <a:cs typeface="Pretendard" pitchFamily="34" charset="-120"/>
              </a:rPr>
              <a:t>근거</a:t>
            </a:r>
            <a:endParaRPr lang="en-US" sz="950" dirty="0">
              <a:latin typeface="+mn-ea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8DBDBEBD-6901-1537-9F1F-787D4DCAB7B3}"/>
              </a:ext>
            </a:extLst>
          </p:cNvPr>
          <p:cNvSpPr/>
          <p:nvPr/>
        </p:nvSpPr>
        <p:spPr>
          <a:xfrm>
            <a:off x="3633208" y="3199404"/>
            <a:ext cx="1877577" cy="649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000" dirty="0"/>
              <a:t>직접 사고 통계 없음. 화물차 사고 치사율 2.4, 사업용 화물차 사고 치사율 2.9를 간접 근거로 사용. 해당 표지 위반은 구조물 </a:t>
            </a:r>
            <a:r>
              <a:rPr lang="ko-KR" altLang="ko-KR" sz="1000" dirty="0" err="1"/>
              <a:t>충돌·차량</a:t>
            </a:r>
            <a:r>
              <a:rPr lang="ko-KR" altLang="ko-KR" sz="1000" dirty="0"/>
              <a:t> 전복으로 이어지나 발생 빈도가 낮아 보통 분류. 가장 근거가 약한 항</a:t>
            </a:r>
            <a:r>
              <a:rPr lang="ko-KR" altLang="en-US" sz="1000" dirty="0"/>
              <a:t>목으로</a:t>
            </a:r>
            <a:r>
              <a:rPr lang="en-US" altLang="ko-KR" sz="1000" dirty="0"/>
              <a:t>, text </a:t>
            </a:r>
            <a:r>
              <a:rPr lang="ko-KR" altLang="en-US" sz="1000" dirty="0"/>
              <a:t>필드의 분류를 위한 항목</a:t>
            </a:r>
            <a:r>
              <a:rPr lang="en-US" altLang="ko-KR" sz="1000" dirty="0"/>
              <a:t>.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48349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데이터 전처리 – BBox 크롭 &amp; 라벨링 &amp; 데이터셋 분할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01168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1A2B4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011680" cy="5486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28600" y="11155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110,900건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" y="15727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JSON/JPG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41448" y="1051560"/>
            <a:ext cx="201168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441448" y="1051560"/>
            <a:ext cx="2011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441448" y="11155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174,106장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41448" y="15727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BBox 크롭 완료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54296" y="1051560"/>
            <a:ext cx="201168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654296" y="1051560"/>
            <a:ext cx="20116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654296" y="11155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153,083장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54296" y="15727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노이즈 제거 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67144" y="1051560"/>
            <a:ext cx="2011680" cy="804672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867144" y="1051560"/>
            <a:ext cx="20116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867144" y="11155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 / 15 / 15%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67144" y="15727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Train/Val/Test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28600" y="1993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 파이프라인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2377440"/>
            <a:ext cx="28346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228600" y="2377440"/>
            <a:ext cx="28346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28600" y="2450592"/>
            <a:ext cx="411480" cy="104241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28600" y="2441448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2487168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파싱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2798064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class=traffic_sign 필터링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traffic_light 등 제외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0" y="2377440"/>
            <a:ext cx="28346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200400" y="2377440"/>
            <a:ext cx="28346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200400" y="2450592"/>
            <a:ext cx="411480" cy="104241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200400" y="2441448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2487168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BBox 크롭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0" y="2798064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img[y1:y2, x1:x2]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크롭 예외 처리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2377440"/>
            <a:ext cx="28346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172200" y="2377440"/>
            <a:ext cx="28346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172200" y="2450592"/>
            <a:ext cx="411480" cy="104241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172200" y="2441448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29400" y="2487168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224×224 리사이즈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9400" y="2798064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cv2.resize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입력 규격 통일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28600" y="3584448"/>
            <a:ext cx="28346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228600" y="3584448"/>
            <a:ext cx="28346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228600" y="3661228"/>
            <a:ext cx="411480" cy="1038787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228600" y="3648456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5800" y="3694176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labels.csv 생성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" y="4005072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파일명/type/shape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color/text 기록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0" y="3584448"/>
            <a:ext cx="28346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3200400" y="3584448"/>
            <a:ext cx="28346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3200400" y="3661228"/>
            <a:ext cx="411480" cy="103878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3200400" y="3648456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657600" y="3694176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9대 클래스 매핑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0" y="4005072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기반 자동 분류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미분류 21,023장 제거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72200" y="3584448"/>
            <a:ext cx="28346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6172200" y="3584448"/>
            <a:ext cx="283464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6172200" y="3661228"/>
            <a:ext cx="411480" cy="103878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6172200" y="3648456"/>
            <a:ext cx="411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629400" y="3694176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Stratified Split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629400" y="4005072"/>
            <a:ext cx="2304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비율 유지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 107,158장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28600" y="4850421"/>
            <a:ext cx="8686800" cy="256032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292608" y="4850421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class_weight=balanced: 높이_중량제한 11.7× / 속도제한90이상 9.75× 소수 클래스 패널티 강화로 불균형 해소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GPU 환경 구축 – CPU 한계 확인 &amp; RTX 4070 Super 세팅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160520" cy="2370572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1605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92608" y="105156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실험: CPU 전용 학습 (실패)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508760"/>
            <a:ext cx="402336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ResNet50(weights=None) + /CPU:0 강제 → 1 Epoch 테스트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" y="1984248"/>
            <a:ext cx="402336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65760" y="1984248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문제: 1 Epoch에 수십 분 소요 → 20 Epoch는 수백 시간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" y="2459736"/>
            <a:ext cx="402336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" y="2459736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153,083장 × 64 배치 → 학습 사실상 불가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" y="2935224"/>
            <a:ext cx="402336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5760" y="2935224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결론: GPU 가속 없이는 실험 자체가 불가능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251960" cy="2370572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2519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36592" y="1051560"/>
            <a:ext cx="4096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2차: RTX 4070 Super 세팅 (성공)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36592" y="1508760"/>
            <a:ext cx="804672" cy="420624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36592" y="1508760"/>
            <a:ext cx="804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CUDA 경로 강제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577840" y="1527048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os.environ[PATH]로 anaconda tf_gpu Library/bin 등록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36592" y="1984248"/>
            <a:ext cx="804672" cy="420624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736592" y="1984248"/>
            <a:ext cx="804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Mixed Precision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577840" y="2002536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mixed_float16 → 텐서 코어 활성화, 연산 약 2배 가속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36592" y="2459736"/>
            <a:ext cx="804672" cy="420624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736592" y="2459736"/>
            <a:ext cx="804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tf.data 파이프라인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77840" y="2478024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map(AUTOTUNE) + prefetch → CPU-GPU 병렬 처리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36592" y="2935224"/>
            <a:ext cx="804672" cy="420624"/>
          </a:xfrm>
          <a:prstGeom prst="rect">
            <a:avLst/>
          </a:prstGeom>
          <a:solidFill>
            <a:srgbClr val="D1FAE5"/>
          </a:solidFill>
          <a:ln w="762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736592" y="2935224"/>
            <a:ext cx="8046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CUDA 인식 확인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577840" y="2953512"/>
            <a:ext cx="3273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처음엔 GPU:[] → 경로 수정 후 RTX 4070 SUPER 인식</a:t>
            </a:r>
            <a:endParaRPr lang="en-US" sz="850" dirty="0"/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960F0E72-E0AC-A884-2032-D64A14CC4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672825"/>
              </p:ext>
            </p:extLst>
          </p:nvPr>
        </p:nvGraphicFramePr>
        <p:xfrm>
          <a:off x="228600" y="3618355"/>
          <a:ext cx="8686800" cy="1471672"/>
        </p:xfrm>
        <a:graphic>
          <a:graphicData uri="http://schemas.openxmlformats.org/drawingml/2006/table">
            <a:tbl>
              <a:tblPr/>
              <a:tblGrid>
                <a:gridCol w="1303020">
                  <a:extLst>
                    <a:ext uri="{9D8B030D-6E8A-4147-A177-3AD203B41FA5}">
                      <a16:colId xmlns:a16="http://schemas.microsoft.com/office/drawing/2014/main" val="878003369"/>
                    </a:ext>
                  </a:extLst>
                </a:gridCol>
                <a:gridCol w="3040380">
                  <a:extLst>
                    <a:ext uri="{9D8B030D-6E8A-4147-A177-3AD203B41FA5}">
                      <a16:colId xmlns:a16="http://schemas.microsoft.com/office/drawing/2014/main" val="3917274696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4267637975"/>
                    </a:ext>
                  </a:extLst>
                </a:gridCol>
              </a:tblGrid>
              <a:tr h="197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최적화 도메인</a:t>
                      </a:r>
                    </a:p>
                  </a:txBody>
                  <a:tcPr marL="41526" marR="41526" marT="41526" marB="41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0886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7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강의록 방식 (CIFAR-10 실습 기준)</a:t>
                      </a:r>
                    </a:p>
                  </a:txBody>
                  <a:tcPr marL="41526" marR="41526" marT="41526" marB="41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0886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sz="7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본 프로젝트 적용 기술 및 성과</a:t>
                      </a:r>
                    </a:p>
                  </a:txBody>
                  <a:tcPr marL="41526" marR="41526" marT="41526" marB="41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0886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9308784"/>
                  </a:ext>
                </a:extLst>
              </a:tr>
              <a:tr h="424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데이터 공급</a:t>
                      </a:r>
                      <a:br>
                        <a:rPr lang="ko-KR" sz="7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7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(Data </a:t>
                      </a:r>
                      <a:r>
                        <a:rPr lang="ko-KR" sz="7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Loading</a:t>
                      </a:r>
                      <a:r>
                        <a:rPr lang="ko-KR" sz="7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1526" marR="41526" marT="41526" marB="41526" anchor="ctr">
                    <a:lnL>
                      <a:noFill/>
                    </a:lnL>
                    <a:lnR>
                      <a:noFill/>
                    </a:lnR>
                    <a:lnT w="10886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ImageDataGenerator</a:t>
                      </a: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 사용</a:t>
                      </a:r>
                      <a:b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(단일 스레드 동기적 읽기, </a:t>
                      </a:r>
                      <a:r>
                        <a:rPr lang="ko-KR" sz="7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</a:t>
                      </a: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sz="7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</a:t>
                      </a: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지연 발생)</a:t>
                      </a:r>
                    </a:p>
                  </a:txBody>
                  <a:tcPr marL="41526" marR="41526" marT="41526" marB="41526" anchor="ctr">
                    <a:lnL>
                      <a:noFill/>
                    </a:lnL>
                    <a:lnR>
                      <a:noFill/>
                    </a:lnR>
                    <a:lnT w="10886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tf.data.Dataset</a:t>
                      </a:r>
                      <a:r>
                        <a:rPr lang="ko-KR" sz="7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+ AUTOTUNE (</a:t>
                      </a:r>
                      <a:r>
                        <a:rPr lang="ko-KR" sz="7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Prefetching</a:t>
                      </a:r>
                      <a:r>
                        <a:rPr lang="ko-KR" sz="7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b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다중 CPU 코어가 백그라운드에서 다음 배치를 미리 </a:t>
                      </a:r>
                      <a:r>
                        <a:rPr lang="ko-KR" sz="7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캐싱하여</a:t>
                      </a: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GPU 유휴 시간 제로화 달성</a:t>
                      </a:r>
                    </a:p>
                  </a:txBody>
                  <a:tcPr marL="41526" marR="41526" marT="41526" marB="41526" anchor="ctr">
                    <a:lnL>
                      <a:noFill/>
                    </a:lnL>
                    <a:lnR>
                      <a:noFill/>
                    </a:lnR>
                    <a:lnT w="10886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3355"/>
                  </a:ext>
                </a:extLst>
              </a:tr>
              <a:tr h="424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연산 정밀도</a:t>
                      </a:r>
                      <a:br>
                        <a:rPr lang="ko-KR" sz="7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700" b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(Precision)</a:t>
                      </a:r>
                    </a:p>
                  </a:txBody>
                  <a:tcPr marL="41526" marR="41526" marT="41526" marB="41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기본 float32 부동소수점 연산</a:t>
                      </a:r>
                      <a:br>
                        <a:rPr lang="ko-KR" sz="7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7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(메모리 대역폭 최대 사용)</a:t>
                      </a:r>
                    </a:p>
                  </a:txBody>
                  <a:tcPr marL="41526" marR="41526" marT="41526" marB="41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Mixed</a:t>
                      </a:r>
                      <a:r>
                        <a:rPr lang="ko-KR" sz="7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Precision (float16 정책 활성화)</a:t>
                      </a:r>
                      <a:b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보유한 </a:t>
                      </a:r>
                      <a:r>
                        <a:rPr lang="ko-KR" sz="7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RTX 4070 Super</a:t>
                      </a: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 </a:t>
                      </a:r>
                      <a:r>
                        <a:rPr lang="ko-KR" sz="7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텐서</a:t>
                      </a: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코어를 강제 활성화. 화질 손실 없이 메모리 점유율을 반감시켜 </a:t>
                      </a:r>
                      <a:r>
                        <a:rPr lang="ko-KR" sz="7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Batch</a:t>
                      </a: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7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Size</a:t>
                      </a: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확대 및 학습 속도 2배 가속</a:t>
                      </a:r>
                    </a:p>
                  </a:txBody>
                  <a:tcPr marL="41526" marR="41526" marT="41526" marB="41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071009"/>
                  </a:ext>
                </a:extLst>
              </a:tr>
              <a:tr h="424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클래스 편향</a:t>
                      </a:r>
                      <a:br>
                        <a:rPr lang="ko-KR" sz="7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7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sz="7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Imbalance</a:t>
                      </a:r>
                      <a:r>
                        <a:rPr lang="ko-KR" sz="7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41526" marR="41526" marT="41526" marB="41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클래스 편향에 대한 예외 처리 부재</a:t>
                      </a:r>
                      <a:b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(동일한 </a:t>
                      </a:r>
                      <a:r>
                        <a:rPr lang="ko-KR" sz="7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Loss</a:t>
                      </a: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페널티 적용)</a:t>
                      </a:r>
                    </a:p>
                  </a:txBody>
                  <a:tcPr marL="41526" marR="41526" marT="41526" marB="41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7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compute_class_weight</a:t>
                      </a:r>
                      <a:r>
                        <a:rPr lang="ko-KR" sz="7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(</a:t>
                      </a:r>
                      <a:r>
                        <a:rPr lang="ko-KR" sz="700" b="1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Balanced</a:t>
                      </a:r>
                      <a:r>
                        <a:rPr lang="ko-KR" sz="7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b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비율이 극히 적은 '</a:t>
                      </a:r>
                      <a:r>
                        <a:rPr lang="ko-KR" sz="7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높이_중량제한</a:t>
                      </a: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' 등에 강력한 오답 페널티를 부여하여 소수 클래스 </a:t>
                      </a:r>
                      <a:r>
                        <a:rPr lang="ko-KR" sz="7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재현율</a:t>
                      </a:r>
                      <a:r>
                        <a:rPr lang="ko-KR" sz="7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방어</a:t>
                      </a:r>
                    </a:p>
                  </a:txBody>
                  <a:tcPr marL="41526" marR="41526" marT="41526" marB="415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965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ResNet50 – 워밍업 &amp; 파인튜닝 학습 과정</a:t>
            </a:r>
            <a:endParaRPr lang="en-US" sz="2000" dirty="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88E809A-B30D-3114-2905-7A8ADA1E42E9}"/>
              </a:ext>
            </a:extLst>
          </p:cNvPr>
          <p:cNvGrpSpPr/>
          <p:nvPr/>
        </p:nvGrpSpPr>
        <p:grpSpPr>
          <a:xfrm>
            <a:off x="228600" y="1051560"/>
            <a:ext cx="8686800" cy="1520182"/>
            <a:chOff x="228600" y="1051560"/>
            <a:chExt cx="4160520" cy="2267712"/>
          </a:xfrm>
        </p:grpSpPr>
        <p:sp>
          <p:nvSpPr>
            <p:cNvPr id="4" name="Shape 2"/>
            <p:cNvSpPr/>
            <p:nvPr/>
          </p:nvSpPr>
          <p:spPr>
            <a:xfrm>
              <a:off x="228600" y="1051560"/>
              <a:ext cx="4160520" cy="22677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228600" y="1051560"/>
              <a:ext cx="4160520" cy="347472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292608" y="1051560"/>
              <a:ext cx="40233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1단계: 워밍업 (Backbone 동결)</a:t>
              </a:r>
              <a:endParaRPr lang="en-US" sz="10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20040" y="1463040"/>
              <a:ext cx="400507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base_model.trainable = False (ResNet50 가중치 동결)</a:t>
              </a:r>
              <a:endParaRPr lang="en-US" sz="8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20040" y="1810512"/>
              <a:ext cx="400507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학습률 0.001 · Adam 옵티마이저 · 20 Epoch 설정</a:t>
              </a:r>
              <a:endParaRPr lang="en-US" sz="8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20040" y="2157984"/>
              <a:ext cx="400507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EarlyStopping(patience=5) · ModelCheckpoint 적용</a:t>
              </a:r>
              <a:endParaRPr lang="en-US" sz="8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20040" y="2505456"/>
              <a:ext cx="400507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결과: Train Acc 25% 횡보 → Underfitting (학습 정체)</a:t>
              </a:r>
              <a:endParaRPr lang="en-US" sz="8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320040" y="2852928"/>
              <a:ext cx="400507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원인: 동결 상태로는 표지판 숫자 패턴 학습 불가</a:t>
              </a:r>
              <a:endParaRPr lang="en-US" sz="850" dirty="0"/>
            </a:p>
          </p:txBody>
        </p:sp>
      </p:grpSp>
      <p:sp>
        <p:nvSpPr>
          <p:cNvPr id="27" name="Shape 25"/>
          <p:cNvSpPr/>
          <p:nvPr/>
        </p:nvSpPr>
        <p:spPr>
          <a:xfrm>
            <a:off x="228600" y="5047488"/>
            <a:ext cx="8686800" cy="0"/>
          </a:xfrm>
          <a:prstGeom prst="rect">
            <a:avLst/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92608" y="5047488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31" name="그림 30" descr="The diagram shows a plot of training and validation accuracy and loss over several epochs, indicating how the model's performance changes over time.&#10;&#10;AI 생성 콘텐츠는 정확하지 않을 수 있습니다.">
            <a:extLst>
              <a:ext uri="{FF2B5EF4-FFF2-40B4-BE49-F238E27FC236}">
                <a16:creationId xmlns:a16="http://schemas.microsoft.com/office/drawing/2014/main" id="{1E5BD48E-1291-4810-D89C-0E7181DA9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34" y="2645130"/>
            <a:ext cx="7170932" cy="23622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1A0E9-F017-13BF-C47C-7615DE01C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767D80-0914-C97F-AFC8-07388212252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D54888-6C35-58A6-17D1-6A4E8D3B4DA1}"/>
              </a:ext>
            </a:extLst>
          </p:cNvPr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ResNet50 – 워밍업 &amp; 파인튜닝 학습 과정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4BED139-15B5-D3CA-3AD6-7BD52279A19A}"/>
              </a:ext>
            </a:extLst>
          </p:cNvPr>
          <p:cNvSpPr/>
          <p:nvPr/>
        </p:nvSpPr>
        <p:spPr>
          <a:xfrm>
            <a:off x="228600" y="1051559"/>
            <a:ext cx="8686800" cy="3869715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0733A16-D37F-0108-6455-D1A9CFCCD82F}"/>
              </a:ext>
            </a:extLst>
          </p:cNvPr>
          <p:cNvSpPr/>
          <p:nvPr/>
        </p:nvSpPr>
        <p:spPr>
          <a:xfrm>
            <a:off x="228600" y="1051561"/>
            <a:ext cx="8686800" cy="232931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2D1D4E7-333C-4EBB-C8FC-3FB073207B54}"/>
              </a:ext>
            </a:extLst>
          </p:cNvPr>
          <p:cNvSpPr/>
          <p:nvPr/>
        </p:nvSpPr>
        <p:spPr>
          <a:xfrm>
            <a:off x="362243" y="1051561"/>
            <a:ext cx="8400422" cy="232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1단계: 워밍업 (Backbone 동결)</a:t>
            </a:r>
            <a:endParaRPr lang="en-US" sz="10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0E78183-0F78-A297-7FF3-19718C8DBD87}"/>
              </a:ext>
            </a:extLst>
          </p:cNvPr>
          <p:cNvSpPr/>
          <p:nvPr/>
        </p:nvSpPr>
        <p:spPr>
          <a:xfrm>
            <a:off x="228600" y="5047488"/>
            <a:ext cx="8686800" cy="0"/>
          </a:xfrm>
          <a:prstGeom prst="rect">
            <a:avLst/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761A7DE-4EAD-942C-8F7D-5EDD5BDC78E9}"/>
              </a:ext>
            </a:extLst>
          </p:cNvPr>
          <p:cNvSpPr/>
          <p:nvPr/>
        </p:nvSpPr>
        <p:spPr>
          <a:xfrm>
            <a:off x="292608" y="5047488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12" name="그림 11" descr="The image is a confusion matrix for a machine learning model (ResNet50) used to classify different traffic scenarios, including speed limits and road conditions, with various counts of true positives, false positives, true negatives, and false negatives.&#10;&#10;AI 생성 콘텐츠는 정확하지 않을 수 있습니다.">
            <a:extLst>
              <a:ext uri="{FF2B5EF4-FFF2-40B4-BE49-F238E27FC236}">
                <a16:creationId xmlns:a16="http://schemas.microsoft.com/office/drawing/2014/main" id="{B71CE19E-CE29-C5EF-20CE-9EE0A4B6C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40800"/>
            <a:ext cx="4051094" cy="3524165"/>
          </a:xfrm>
          <a:prstGeom prst="rect">
            <a:avLst/>
          </a:prstGeom>
        </p:spPr>
      </p:pic>
      <p:pic>
        <p:nvPicPr>
          <p:cNvPr id="14" name="그림 13" descr="The image displays a confusion matrix or classification report for a model's performance, detailing precision, recall, and F1-score for various categories like '￫ﾳﾴ￭ﾘﾸ￪ﾵﾬ￬ﾗﾭ', '￬ﾆﾍ￫ﾏﾄ￬ﾠﾜ￭ﾕﾜ40_60', and '￬ﾧﾀ￬ﾋﾜ￭ﾑﾜ￬ﾧﾀ', along with support counts and overall accuracy metrics.&#10;&#10;AI 생성 콘텐츠는 정확하지 않을 수 있습니다.">
            <a:extLst>
              <a:ext uri="{FF2B5EF4-FFF2-40B4-BE49-F238E27FC236}">
                <a16:creationId xmlns:a16="http://schemas.microsoft.com/office/drawing/2014/main" id="{051C4080-3C51-ACAC-46F6-6C47E9F0E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702" y="1566496"/>
            <a:ext cx="4367260" cy="283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281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AC12C-41FA-7DBB-FBA9-EBA4784D3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2F3780-3981-3B94-B6BF-44D7812A06B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25E3675-C1AB-6904-797B-0BEC452861BE}"/>
              </a:ext>
            </a:extLst>
          </p:cNvPr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ResNet50 – 워밍업 &amp; 파인튜닝 학습 과정</a:t>
            </a:r>
            <a:endParaRPr lang="en-US" sz="20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EB8DBF6-9AA1-B9E4-62B0-D2B9F2FD979A}"/>
              </a:ext>
            </a:extLst>
          </p:cNvPr>
          <p:cNvGrpSpPr/>
          <p:nvPr/>
        </p:nvGrpSpPr>
        <p:grpSpPr>
          <a:xfrm>
            <a:off x="4667459" y="1050587"/>
            <a:ext cx="4247941" cy="1520182"/>
            <a:chOff x="4663440" y="3977640"/>
            <a:chExt cx="4251960" cy="978408"/>
          </a:xfrm>
        </p:grpSpPr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3F74A5A0-DBA9-FDE8-DD2B-55658074CABF}"/>
                </a:ext>
              </a:extLst>
            </p:cNvPr>
            <p:cNvSpPr/>
            <p:nvPr/>
          </p:nvSpPr>
          <p:spPr>
            <a:xfrm>
              <a:off x="4663440" y="3977640"/>
              <a:ext cx="4251960" cy="978408"/>
            </a:xfrm>
            <a:prstGeom prst="rect">
              <a:avLst/>
            </a:prstGeom>
            <a:solidFill>
              <a:srgbClr val="DBEAFE"/>
            </a:solidFill>
            <a:ln w="1016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C180150A-B352-E8E9-487E-E94C0697F8E8}"/>
                </a:ext>
              </a:extLst>
            </p:cNvPr>
            <p:cNvSpPr/>
            <p:nvPr/>
          </p:nvSpPr>
          <p:spPr>
            <a:xfrm>
              <a:off x="4736592" y="4005072"/>
              <a:ext cx="409651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2563E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워밍업 성능 분석 (Test Acc 37%)</a:t>
              </a:r>
              <a:endParaRPr lang="en-US" sz="950" dirty="0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12BD9208-3A1F-AF23-10E1-49786B499C25}"/>
                </a:ext>
              </a:extLst>
            </p:cNvPr>
            <p:cNvSpPr/>
            <p:nvPr/>
          </p:nvSpPr>
          <p:spPr>
            <a:xfrm>
              <a:off x="4736592" y="4297680"/>
              <a:ext cx="4096512" cy="1920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주의표지 F1=0.75 (노란 삼각형 → ImageNet 매칭)</a:t>
              </a:r>
              <a:endParaRPr lang="en-US" sz="8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ACA6E132-D181-1E8F-8C44-F04DBB760C1D}"/>
                </a:ext>
              </a:extLst>
            </p:cNvPr>
            <p:cNvSpPr/>
            <p:nvPr/>
          </p:nvSpPr>
          <p:spPr>
            <a:xfrm>
              <a:off x="4736592" y="4507992"/>
              <a:ext cx="4096512" cy="1920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보호구역 Recall=0.88 / Precision=0.20 → 과잉 예측</a:t>
              </a:r>
              <a:endParaRPr lang="en-US" sz="800" dirty="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EC45531F-DA18-33C7-8795-5C6BA0786C7F}"/>
                </a:ext>
              </a:extLst>
            </p:cNvPr>
            <p:cNvSpPr/>
            <p:nvPr/>
          </p:nvSpPr>
          <p:spPr>
            <a:xfrm>
              <a:off x="4736592" y="4718304"/>
              <a:ext cx="4096512" cy="19202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속도 숫자 구분 불가: 40_60 F1=0.35 / 90이상 F1=0.12</a:t>
              </a:r>
              <a:endParaRPr lang="en-US" sz="800" dirty="0"/>
            </a:p>
          </p:txBody>
        </p:sp>
      </p:grpSp>
      <p:sp>
        <p:nvSpPr>
          <p:cNvPr id="27" name="Shape 25">
            <a:extLst>
              <a:ext uri="{FF2B5EF4-FFF2-40B4-BE49-F238E27FC236}">
                <a16:creationId xmlns:a16="http://schemas.microsoft.com/office/drawing/2014/main" id="{2BB299FE-8A79-BE91-E1D3-897782D4C855}"/>
              </a:ext>
            </a:extLst>
          </p:cNvPr>
          <p:cNvSpPr/>
          <p:nvPr/>
        </p:nvSpPr>
        <p:spPr>
          <a:xfrm>
            <a:off x="228600" y="5047488"/>
            <a:ext cx="8686800" cy="0"/>
          </a:xfrm>
          <a:prstGeom prst="rect">
            <a:avLst/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8809FAB-4B76-9374-E4C2-3F41119849F9}"/>
              </a:ext>
            </a:extLst>
          </p:cNvPr>
          <p:cNvSpPr/>
          <p:nvPr/>
        </p:nvSpPr>
        <p:spPr>
          <a:xfrm>
            <a:off x="292608" y="5047488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FACCB82-37EE-466D-0F26-755AA4525B7A}"/>
              </a:ext>
            </a:extLst>
          </p:cNvPr>
          <p:cNvGrpSpPr/>
          <p:nvPr/>
        </p:nvGrpSpPr>
        <p:grpSpPr>
          <a:xfrm>
            <a:off x="228600" y="1050587"/>
            <a:ext cx="4343400" cy="1520182"/>
            <a:chOff x="228600" y="3401568"/>
            <a:chExt cx="4160520" cy="1554480"/>
          </a:xfrm>
        </p:grpSpPr>
        <p:sp>
          <p:nvSpPr>
            <p:cNvPr id="31" name="Shape 10">
              <a:extLst>
                <a:ext uri="{FF2B5EF4-FFF2-40B4-BE49-F238E27FC236}">
                  <a16:creationId xmlns:a16="http://schemas.microsoft.com/office/drawing/2014/main" id="{C35E7667-C27B-A9EB-3B7D-126F914E9279}"/>
                </a:ext>
              </a:extLst>
            </p:cNvPr>
            <p:cNvSpPr/>
            <p:nvPr/>
          </p:nvSpPr>
          <p:spPr>
            <a:xfrm>
              <a:off x="228600" y="3401568"/>
              <a:ext cx="4160520" cy="15544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32" name="Shape 11">
              <a:extLst>
                <a:ext uri="{FF2B5EF4-FFF2-40B4-BE49-F238E27FC236}">
                  <a16:creationId xmlns:a16="http://schemas.microsoft.com/office/drawing/2014/main" id="{CF45594F-2DDE-E530-1973-5BACF0B284BD}"/>
                </a:ext>
              </a:extLst>
            </p:cNvPr>
            <p:cNvSpPr/>
            <p:nvPr/>
          </p:nvSpPr>
          <p:spPr>
            <a:xfrm>
              <a:off x="228600" y="3401568"/>
              <a:ext cx="4160520" cy="347472"/>
            </a:xfrm>
            <a:prstGeom prst="rect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12">
              <a:extLst>
                <a:ext uri="{FF2B5EF4-FFF2-40B4-BE49-F238E27FC236}">
                  <a16:creationId xmlns:a16="http://schemas.microsoft.com/office/drawing/2014/main" id="{CA1A2470-5A96-C9F9-8C74-79FC08B2A53A}"/>
                </a:ext>
              </a:extLst>
            </p:cNvPr>
            <p:cNvSpPr/>
            <p:nvPr/>
          </p:nvSpPr>
          <p:spPr>
            <a:xfrm>
              <a:off x="292608" y="3401568"/>
              <a:ext cx="40233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2단계: 파인튜닝 (전체 해제)</a:t>
              </a:r>
              <a:endParaRPr lang="en-US" sz="1050" dirty="0"/>
            </a:p>
          </p:txBody>
        </p:sp>
        <p:sp>
          <p:nvSpPr>
            <p:cNvPr id="34" name="Text 13">
              <a:extLst>
                <a:ext uri="{FF2B5EF4-FFF2-40B4-BE49-F238E27FC236}">
                  <a16:creationId xmlns:a16="http://schemas.microsoft.com/office/drawing/2014/main" id="{D355A894-EAB8-5B09-5FB5-BA0B68DDA493}"/>
                </a:ext>
              </a:extLst>
            </p:cNvPr>
            <p:cNvSpPr/>
            <p:nvPr/>
          </p:nvSpPr>
          <p:spPr>
            <a:xfrm>
              <a:off x="320040" y="3813048"/>
              <a:ext cx="400507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base_model.trainable = True · BatchNorm 레이어는 동결 유지</a:t>
              </a:r>
              <a:endParaRPr lang="en-US" sz="850" dirty="0"/>
            </a:p>
          </p:txBody>
        </p:sp>
        <p:sp>
          <p:nvSpPr>
            <p:cNvPr id="35" name="Text 14">
              <a:extLst>
                <a:ext uri="{FF2B5EF4-FFF2-40B4-BE49-F238E27FC236}">
                  <a16:creationId xmlns:a16="http://schemas.microsoft.com/office/drawing/2014/main" id="{D89DBAFD-24BC-38AF-B01E-DAD74FB29D29}"/>
                </a:ext>
              </a:extLst>
            </p:cNvPr>
            <p:cNvSpPr/>
            <p:nvPr/>
          </p:nvSpPr>
          <p:spPr>
            <a:xfrm>
              <a:off x="320040" y="4160520"/>
              <a:ext cx="400507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학습률 극소화: 1e-5 · EarlyStopping(patience=3)</a:t>
              </a:r>
              <a:endParaRPr lang="en-US" sz="850" dirty="0"/>
            </a:p>
          </p:txBody>
        </p:sp>
        <p:sp>
          <p:nvSpPr>
            <p:cNvPr id="36" name="Text 15">
              <a:extLst>
                <a:ext uri="{FF2B5EF4-FFF2-40B4-BE49-F238E27FC236}">
                  <a16:creationId xmlns:a16="http://schemas.microsoft.com/office/drawing/2014/main" id="{F4301F32-E5DF-E32E-D5F1-855DC2CD7588}"/>
                </a:ext>
              </a:extLst>
            </p:cNvPr>
            <p:cNvSpPr/>
            <p:nvPr/>
          </p:nvSpPr>
          <p:spPr>
            <a:xfrm>
              <a:off x="320040" y="4507992"/>
              <a:ext cx="400507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Epoch 1→2→3: val_acc 60%→73%→85% 급상승</a:t>
              </a:r>
              <a:endParaRPr lang="en-US" sz="850" dirty="0"/>
            </a:p>
          </p:txBody>
        </p:sp>
      </p:grpSp>
      <p:pic>
        <p:nvPicPr>
          <p:cNvPr id="39" name="그림 38" descr="The diagram shows a comparison between fine-tuning accuracy and loss, with the fine-tuning accuracy improving and the loss decreasing over several epochs.&#10;&#10;AI 생성 콘텐츠는 정확하지 않을 수 있습니다.">
            <a:extLst>
              <a:ext uri="{FF2B5EF4-FFF2-40B4-BE49-F238E27FC236}">
                <a16:creationId xmlns:a16="http://schemas.microsoft.com/office/drawing/2014/main" id="{D5C0666F-8395-FCE0-9B82-BB8E7BA8D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757" y="2638249"/>
            <a:ext cx="7028486" cy="226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117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8C5E5-6AEB-2426-87EC-B41B1233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B0FAB2-7870-26B6-8FC5-ACEB713E4E36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05AAA8-694F-DF14-62F0-CD4528CFE66C}"/>
              </a:ext>
            </a:extLst>
          </p:cNvPr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ResNet50 – 워밍업 &amp; 파인튜닝 학습 과정</a:t>
            </a:r>
            <a:endParaRPr lang="en-US" sz="2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2057915-3211-6747-22AA-FA6040BEA38F}"/>
              </a:ext>
            </a:extLst>
          </p:cNvPr>
          <p:cNvSpPr/>
          <p:nvPr/>
        </p:nvSpPr>
        <p:spPr>
          <a:xfrm>
            <a:off x="228600" y="5047488"/>
            <a:ext cx="8686800" cy="0"/>
          </a:xfrm>
          <a:prstGeom prst="rect">
            <a:avLst/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22473A5-4148-90EB-ECF0-4D6C1D41B03A}"/>
              </a:ext>
            </a:extLst>
          </p:cNvPr>
          <p:cNvSpPr/>
          <p:nvPr/>
        </p:nvSpPr>
        <p:spPr>
          <a:xfrm>
            <a:off x="292608" y="5047488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1D6B2275-3B82-53F8-B19D-8D896A5266B0}"/>
              </a:ext>
            </a:extLst>
          </p:cNvPr>
          <p:cNvSpPr/>
          <p:nvPr/>
        </p:nvSpPr>
        <p:spPr>
          <a:xfrm>
            <a:off x="228600" y="1050586"/>
            <a:ext cx="8686800" cy="3874609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5C400B82-3E4C-44A6-19A5-46038ADE5451}"/>
              </a:ext>
            </a:extLst>
          </p:cNvPr>
          <p:cNvSpPr/>
          <p:nvPr/>
        </p:nvSpPr>
        <p:spPr>
          <a:xfrm>
            <a:off x="228600" y="1050587"/>
            <a:ext cx="8686800" cy="23448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7461D61F-A560-9BE0-83A7-B868581D05B4}"/>
              </a:ext>
            </a:extLst>
          </p:cNvPr>
          <p:cNvSpPr/>
          <p:nvPr/>
        </p:nvSpPr>
        <p:spPr>
          <a:xfrm>
            <a:off x="362243" y="1050587"/>
            <a:ext cx="8400422" cy="234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2단계: 파인튜닝 (전체 해제)</a:t>
            </a:r>
            <a:endParaRPr lang="en-US" sz="1050" dirty="0"/>
          </a:p>
        </p:txBody>
      </p:sp>
      <p:pic>
        <p:nvPicPr>
          <p:cNvPr id="5" name="그림 4" descr="The image is a confusion matrix displaying various performance metrics for different classification models, including precision, recall, and error counts, across different thresholds and conditions.&#10;&#10;AI 생성 콘텐츠는 정확하지 않을 수 있습니다.">
            <a:extLst>
              <a:ext uri="{FF2B5EF4-FFF2-40B4-BE49-F238E27FC236}">
                <a16:creationId xmlns:a16="http://schemas.microsoft.com/office/drawing/2014/main" id="{93D1F5AD-BBB4-B8CF-2594-EB30C09DC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02" y="1329338"/>
            <a:ext cx="4102676" cy="3512494"/>
          </a:xfrm>
          <a:prstGeom prst="rect">
            <a:avLst/>
          </a:prstGeom>
        </p:spPr>
      </p:pic>
      <p:pic>
        <p:nvPicPr>
          <p:cNvPr id="7" name="그림 6" descr="The image displays a confusion matrix showing various metrics such as precision, recall, and F1-score for different categories in a machine learning model, along with the overall accuracy and weighted average scores.&#10;&#10;AI 생성 콘텐츠는 정확하지 않을 수 있습니다.">
            <a:extLst>
              <a:ext uri="{FF2B5EF4-FFF2-40B4-BE49-F238E27FC236}">
                <a16:creationId xmlns:a16="http://schemas.microsoft.com/office/drawing/2014/main" id="{5219ED5E-24D8-D1CF-81A3-C77D70DCB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254" y="1628653"/>
            <a:ext cx="4545638" cy="286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110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ResNet50 – 파인튜닝 분류 리포트 &amp; 장단점 분석</a:t>
            </a:r>
            <a:endParaRPr lang="en-US" sz="2000" dirty="0"/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5E5A099B-67BA-A425-3447-DCCA095D57E3}"/>
              </a:ext>
            </a:extLst>
          </p:cNvPr>
          <p:cNvGrpSpPr/>
          <p:nvPr/>
        </p:nvGrpSpPr>
        <p:grpSpPr>
          <a:xfrm>
            <a:off x="228599" y="1051560"/>
            <a:ext cx="8707403" cy="2089404"/>
            <a:chOff x="228600" y="1051560"/>
            <a:chExt cx="6190488" cy="2089404"/>
          </a:xfrm>
        </p:grpSpPr>
        <p:sp>
          <p:nvSpPr>
            <p:cNvPr id="4" name="Shape 2"/>
            <p:cNvSpPr/>
            <p:nvPr/>
          </p:nvSpPr>
          <p:spPr>
            <a:xfrm>
              <a:off x="228600" y="1051560"/>
              <a:ext cx="2331720" cy="329184"/>
            </a:xfrm>
            <a:prstGeom prst="rect">
              <a:avLst/>
            </a:prstGeom>
            <a:solidFill>
              <a:srgbClr val="1A2B4A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228600" y="1051560"/>
              <a:ext cx="233172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클래스</a:t>
              </a:r>
              <a:endParaRPr lang="en-US" sz="85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2587752" y="1051560"/>
              <a:ext cx="1005840" cy="329184"/>
            </a:xfrm>
            <a:prstGeom prst="rect">
              <a:avLst/>
            </a:prstGeom>
            <a:solidFill>
              <a:srgbClr val="1A2B4A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2587752" y="1051560"/>
              <a:ext cx="100584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Precision</a:t>
              </a:r>
              <a:endParaRPr lang="en-US" sz="85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621024" y="1051560"/>
              <a:ext cx="1005840" cy="329184"/>
            </a:xfrm>
            <a:prstGeom prst="rect">
              <a:avLst/>
            </a:prstGeom>
            <a:solidFill>
              <a:srgbClr val="1A2B4A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3621024" y="1051560"/>
              <a:ext cx="100584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Recall</a:t>
              </a:r>
              <a:endParaRPr lang="en-US" sz="85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654296" y="1051560"/>
              <a:ext cx="822960" cy="329184"/>
            </a:xfrm>
            <a:prstGeom prst="rect">
              <a:avLst/>
            </a:prstGeom>
            <a:solidFill>
              <a:srgbClr val="1A2B4A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4654296" y="1051560"/>
              <a:ext cx="82296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F1</a:t>
              </a:r>
              <a:endParaRPr lang="en-US" sz="85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504688" y="1051560"/>
              <a:ext cx="914400" cy="329184"/>
            </a:xfrm>
            <a:prstGeom prst="rect">
              <a:avLst/>
            </a:prstGeom>
            <a:solidFill>
              <a:srgbClr val="1A2B4A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5504688" y="1051560"/>
              <a:ext cx="914400" cy="32918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Support</a:t>
              </a:r>
              <a:endParaRPr lang="en-US" sz="85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228600" y="1431036"/>
              <a:ext cx="2331720" cy="32004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274320" y="1431036"/>
              <a:ext cx="2240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보호구역</a:t>
              </a:r>
              <a:endParaRPr lang="en-US" sz="85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2587752" y="1431036"/>
              <a:ext cx="1005840" cy="32004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/>
            <p:cNvSpPr/>
            <p:nvPr/>
          </p:nvSpPr>
          <p:spPr>
            <a:xfrm>
              <a:off x="2633472" y="1431036"/>
              <a:ext cx="9144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0.83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621024" y="1431036"/>
              <a:ext cx="1005840" cy="32004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" name="Text 31"/>
            <p:cNvSpPr/>
            <p:nvPr/>
          </p:nvSpPr>
          <p:spPr>
            <a:xfrm>
              <a:off x="3666744" y="1431036"/>
              <a:ext cx="9144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0.96</a:t>
              </a:r>
              <a:endParaRPr lang="en-US" sz="9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4654296" y="1431036"/>
              <a:ext cx="822960" cy="32004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4700016" y="1431036"/>
              <a:ext cx="7315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0.89</a:t>
              </a:r>
              <a:endParaRPr lang="en-US" sz="9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5504688" y="1431036"/>
              <a:ext cx="914400" cy="32004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/>
            <p:cNvSpPr/>
            <p:nvPr/>
          </p:nvSpPr>
          <p:spPr>
            <a:xfrm>
              <a:off x="5550408" y="1431036"/>
              <a:ext cx="822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1,993</a:t>
              </a:r>
              <a:endParaRPr lang="en-US" sz="9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228600" y="1778508"/>
              <a:ext cx="2331720" cy="3200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Text 39"/>
            <p:cNvSpPr/>
            <p:nvPr/>
          </p:nvSpPr>
          <p:spPr>
            <a:xfrm>
              <a:off x="274320" y="1778508"/>
              <a:ext cx="2240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속도제한40_60</a:t>
              </a:r>
              <a:endParaRPr lang="en-US" sz="85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2587752" y="1778508"/>
              <a:ext cx="1005840" cy="3200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 41"/>
            <p:cNvSpPr/>
            <p:nvPr/>
          </p:nvSpPr>
          <p:spPr>
            <a:xfrm>
              <a:off x="2633472" y="1778508"/>
              <a:ext cx="9144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0.90</a:t>
              </a:r>
              <a:endParaRPr lang="en-US" sz="9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3621024" y="1778508"/>
              <a:ext cx="1005840" cy="3200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43"/>
            <p:cNvSpPr/>
            <p:nvPr/>
          </p:nvSpPr>
          <p:spPr>
            <a:xfrm>
              <a:off x="3666744" y="1778508"/>
              <a:ext cx="9144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0.93</a:t>
              </a:r>
              <a:endParaRPr lang="en-US" sz="9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4654296" y="1778508"/>
              <a:ext cx="822960" cy="3200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Text 45"/>
            <p:cNvSpPr/>
            <p:nvPr/>
          </p:nvSpPr>
          <p:spPr>
            <a:xfrm>
              <a:off x="4700016" y="1778508"/>
              <a:ext cx="7315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0.91</a:t>
              </a:r>
              <a:endParaRPr lang="en-US" sz="9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5504688" y="1778508"/>
              <a:ext cx="914400" cy="3200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Text 47"/>
            <p:cNvSpPr/>
            <p:nvPr/>
          </p:nvSpPr>
          <p:spPr>
            <a:xfrm>
              <a:off x="5550408" y="1778508"/>
              <a:ext cx="822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3,048</a:t>
              </a:r>
              <a:endParaRPr lang="en-US" sz="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228600" y="2125980"/>
              <a:ext cx="2331720" cy="32004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3" name="Text 51"/>
            <p:cNvSpPr/>
            <p:nvPr/>
          </p:nvSpPr>
          <p:spPr>
            <a:xfrm>
              <a:off x="274320" y="2125980"/>
              <a:ext cx="2240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속도제한70_80</a:t>
              </a:r>
              <a:endParaRPr lang="en-US" sz="85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2587752" y="2125980"/>
              <a:ext cx="1005840" cy="32004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Text 53"/>
            <p:cNvSpPr/>
            <p:nvPr/>
          </p:nvSpPr>
          <p:spPr>
            <a:xfrm>
              <a:off x="2633472" y="2125980"/>
              <a:ext cx="9144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0.78</a:t>
              </a:r>
              <a:endParaRPr lang="en-US" sz="90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3621024" y="2125980"/>
              <a:ext cx="1005840" cy="32004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Text 55"/>
            <p:cNvSpPr/>
            <p:nvPr/>
          </p:nvSpPr>
          <p:spPr>
            <a:xfrm>
              <a:off x="3666744" y="2125980"/>
              <a:ext cx="9144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0.94</a:t>
              </a:r>
              <a:endParaRPr lang="en-US" sz="900" dirty="0"/>
            </a:p>
          </p:txBody>
        </p:sp>
        <p:sp>
          <p:nvSpPr>
            <p:cNvPr id="58" name="Shape 56"/>
            <p:cNvSpPr/>
            <p:nvPr/>
          </p:nvSpPr>
          <p:spPr>
            <a:xfrm>
              <a:off x="4654296" y="2125980"/>
              <a:ext cx="822960" cy="32004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Text 57"/>
            <p:cNvSpPr/>
            <p:nvPr/>
          </p:nvSpPr>
          <p:spPr>
            <a:xfrm>
              <a:off x="4700016" y="2125980"/>
              <a:ext cx="7315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0.85</a:t>
              </a:r>
              <a:endParaRPr lang="en-US" sz="900" dirty="0"/>
            </a:p>
          </p:txBody>
        </p:sp>
        <p:sp>
          <p:nvSpPr>
            <p:cNvPr id="60" name="Shape 58"/>
            <p:cNvSpPr/>
            <p:nvPr/>
          </p:nvSpPr>
          <p:spPr>
            <a:xfrm>
              <a:off x="5504688" y="2125980"/>
              <a:ext cx="914400" cy="32004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Text 59"/>
            <p:cNvSpPr/>
            <p:nvPr/>
          </p:nvSpPr>
          <p:spPr>
            <a:xfrm>
              <a:off x="5550408" y="2125980"/>
              <a:ext cx="822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658</a:t>
              </a:r>
              <a:endParaRPr lang="en-US" sz="900" dirty="0"/>
            </a:p>
          </p:txBody>
        </p:sp>
        <p:sp>
          <p:nvSpPr>
            <p:cNvPr id="64" name="Shape 62"/>
            <p:cNvSpPr/>
            <p:nvPr/>
          </p:nvSpPr>
          <p:spPr>
            <a:xfrm>
              <a:off x="228600" y="2473452"/>
              <a:ext cx="2331720" cy="3200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Text 63"/>
            <p:cNvSpPr/>
            <p:nvPr/>
          </p:nvSpPr>
          <p:spPr>
            <a:xfrm>
              <a:off x="274320" y="2473452"/>
              <a:ext cx="2240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ko-KR" altLang="en-US" sz="850" dirty="0"/>
                <a:t>높이</a:t>
              </a:r>
              <a:r>
                <a:rPr lang="en-US" altLang="ko-KR" sz="850" dirty="0"/>
                <a:t>_</a:t>
              </a:r>
              <a:r>
                <a:rPr lang="ko-KR" altLang="en-US" sz="850" dirty="0"/>
                <a:t>중량제한</a:t>
              </a:r>
              <a:endParaRPr lang="en-US" sz="850" dirty="0"/>
            </a:p>
          </p:txBody>
        </p:sp>
        <p:sp>
          <p:nvSpPr>
            <p:cNvPr id="66" name="Shape 64"/>
            <p:cNvSpPr/>
            <p:nvPr/>
          </p:nvSpPr>
          <p:spPr>
            <a:xfrm>
              <a:off x="2587752" y="2473452"/>
              <a:ext cx="1005840" cy="3200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Text 65"/>
            <p:cNvSpPr/>
            <p:nvPr/>
          </p:nvSpPr>
          <p:spPr>
            <a:xfrm>
              <a:off x="2633472" y="2473452"/>
              <a:ext cx="9144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0.53</a:t>
              </a:r>
              <a:endParaRPr lang="en-US" sz="900" dirty="0"/>
            </a:p>
          </p:txBody>
        </p:sp>
        <p:sp>
          <p:nvSpPr>
            <p:cNvPr id="68" name="Shape 66"/>
            <p:cNvSpPr/>
            <p:nvPr/>
          </p:nvSpPr>
          <p:spPr>
            <a:xfrm>
              <a:off x="3621024" y="2473452"/>
              <a:ext cx="1005840" cy="3200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9" name="Text 67"/>
            <p:cNvSpPr/>
            <p:nvPr/>
          </p:nvSpPr>
          <p:spPr>
            <a:xfrm>
              <a:off x="3666744" y="2473452"/>
              <a:ext cx="9144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0.97</a:t>
              </a:r>
              <a:endParaRPr lang="en-US" sz="900" dirty="0"/>
            </a:p>
          </p:txBody>
        </p:sp>
        <p:sp>
          <p:nvSpPr>
            <p:cNvPr id="70" name="Shape 68"/>
            <p:cNvSpPr/>
            <p:nvPr/>
          </p:nvSpPr>
          <p:spPr>
            <a:xfrm>
              <a:off x="4654296" y="2473452"/>
              <a:ext cx="822960" cy="3200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" name="Text 69"/>
            <p:cNvSpPr/>
            <p:nvPr/>
          </p:nvSpPr>
          <p:spPr>
            <a:xfrm>
              <a:off x="4700016" y="2473452"/>
              <a:ext cx="7315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0.68</a:t>
              </a:r>
              <a:endParaRPr lang="en-US" sz="900" dirty="0"/>
            </a:p>
          </p:txBody>
        </p:sp>
        <p:sp>
          <p:nvSpPr>
            <p:cNvPr id="72" name="Shape 70"/>
            <p:cNvSpPr/>
            <p:nvPr/>
          </p:nvSpPr>
          <p:spPr>
            <a:xfrm>
              <a:off x="5504688" y="2473452"/>
              <a:ext cx="914400" cy="3200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Text 71"/>
            <p:cNvSpPr/>
            <p:nvPr/>
          </p:nvSpPr>
          <p:spPr>
            <a:xfrm>
              <a:off x="5550408" y="2473452"/>
              <a:ext cx="822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217</a:t>
              </a:r>
              <a:endParaRPr lang="en-US" sz="900" dirty="0"/>
            </a:p>
          </p:txBody>
        </p:sp>
        <p:sp>
          <p:nvSpPr>
            <p:cNvPr id="76" name="Shape 74"/>
            <p:cNvSpPr/>
            <p:nvPr/>
          </p:nvSpPr>
          <p:spPr>
            <a:xfrm>
              <a:off x="228600" y="2820924"/>
              <a:ext cx="2331720" cy="32004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Text 75"/>
            <p:cNvSpPr/>
            <p:nvPr/>
          </p:nvSpPr>
          <p:spPr>
            <a:xfrm>
              <a:off x="274320" y="2820924"/>
              <a:ext cx="22402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스쿨존_속도제한30이하</a:t>
              </a:r>
              <a:endParaRPr lang="en-US" sz="850" dirty="0"/>
            </a:p>
          </p:txBody>
        </p:sp>
        <p:sp>
          <p:nvSpPr>
            <p:cNvPr id="78" name="Shape 76"/>
            <p:cNvSpPr/>
            <p:nvPr/>
          </p:nvSpPr>
          <p:spPr>
            <a:xfrm>
              <a:off x="2587752" y="2820924"/>
              <a:ext cx="1005840" cy="32004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9" name="Text 77"/>
            <p:cNvSpPr/>
            <p:nvPr/>
          </p:nvSpPr>
          <p:spPr>
            <a:xfrm>
              <a:off x="2633472" y="2820924"/>
              <a:ext cx="9144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0.68</a:t>
              </a:r>
              <a:endParaRPr lang="en-US" sz="900" dirty="0"/>
            </a:p>
          </p:txBody>
        </p:sp>
        <p:sp>
          <p:nvSpPr>
            <p:cNvPr id="80" name="Shape 78"/>
            <p:cNvSpPr/>
            <p:nvPr/>
          </p:nvSpPr>
          <p:spPr>
            <a:xfrm>
              <a:off x="3621024" y="2820924"/>
              <a:ext cx="1005840" cy="32004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1" name="Text 79"/>
            <p:cNvSpPr/>
            <p:nvPr/>
          </p:nvSpPr>
          <p:spPr>
            <a:xfrm>
              <a:off x="3666744" y="2820924"/>
              <a:ext cx="9144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0.92</a:t>
              </a:r>
              <a:endParaRPr lang="en-US" sz="900" dirty="0"/>
            </a:p>
          </p:txBody>
        </p:sp>
        <p:sp>
          <p:nvSpPr>
            <p:cNvPr id="82" name="Shape 80"/>
            <p:cNvSpPr/>
            <p:nvPr/>
          </p:nvSpPr>
          <p:spPr>
            <a:xfrm>
              <a:off x="4654296" y="2820924"/>
              <a:ext cx="822960" cy="32004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3" name="Text 81"/>
            <p:cNvSpPr/>
            <p:nvPr/>
          </p:nvSpPr>
          <p:spPr>
            <a:xfrm>
              <a:off x="4700016" y="2820924"/>
              <a:ext cx="7315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0.78</a:t>
              </a:r>
              <a:endParaRPr lang="en-US" sz="900" dirty="0"/>
            </a:p>
          </p:txBody>
        </p:sp>
        <p:sp>
          <p:nvSpPr>
            <p:cNvPr id="84" name="Shape 82"/>
            <p:cNvSpPr/>
            <p:nvPr/>
          </p:nvSpPr>
          <p:spPr>
            <a:xfrm>
              <a:off x="5504688" y="2820924"/>
              <a:ext cx="914400" cy="320040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5" name="Text 83"/>
            <p:cNvSpPr/>
            <p:nvPr/>
          </p:nvSpPr>
          <p:spPr>
            <a:xfrm>
              <a:off x="5550408" y="2820924"/>
              <a:ext cx="822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646</a:t>
              </a:r>
              <a:endParaRPr lang="en-US" sz="900" dirty="0"/>
            </a:p>
          </p:txBody>
        </p:sp>
      </p:grpSp>
      <p:sp>
        <p:nvSpPr>
          <p:cNvPr id="126" name="Shape 124"/>
          <p:cNvSpPr/>
          <p:nvPr/>
        </p:nvSpPr>
        <p:spPr>
          <a:xfrm>
            <a:off x="241380" y="3283440"/>
            <a:ext cx="4140038" cy="1476933"/>
          </a:xfrm>
          <a:prstGeom prst="rect">
            <a:avLst/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Text 125"/>
          <p:cNvSpPr/>
          <p:nvPr/>
        </p:nvSpPr>
        <p:spPr>
          <a:xfrm>
            <a:off x="322530" y="3310873"/>
            <a:ext cx="57964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4795964" y="3283441"/>
            <a:ext cx="4140038" cy="1476932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Text 130"/>
          <p:cNvSpPr/>
          <p:nvPr/>
        </p:nvSpPr>
        <p:spPr>
          <a:xfrm>
            <a:off x="4843733" y="3310873"/>
            <a:ext cx="139113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단점 / 개선점</a:t>
            </a:r>
            <a:endParaRPr lang="en-US" sz="1000" dirty="0"/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46717336-A193-BCAB-C31C-D9822A40BA2E}"/>
              </a:ext>
            </a:extLst>
          </p:cNvPr>
          <p:cNvGrpSpPr/>
          <p:nvPr/>
        </p:nvGrpSpPr>
        <p:grpSpPr>
          <a:xfrm>
            <a:off x="322530" y="3727669"/>
            <a:ext cx="8555507" cy="598187"/>
            <a:chOff x="322530" y="3493753"/>
            <a:chExt cx="8555507" cy="347472"/>
          </a:xfrm>
        </p:grpSpPr>
        <p:sp>
          <p:nvSpPr>
            <p:cNvPr id="128" name="Text 126"/>
            <p:cNvSpPr/>
            <p:nvPr/>
          </p:nvSpPr>
          <p:spPr>
            <a:xfrm>
              <a:off x="322530" y="3493753"/>
              <a:ext cx="4231382" cy="1097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스쿨존 Recall 0.92 – 안전 편향 확보</a:t>
              </a:r>
              <a:endParaRPr lang="en-US" sz="900" dirty="0"/>
            </a:p>
          </p:txBody>
        </p:sp>
        <p:sp>
          <p:nvSpPr>
            <p:cNvPr id="129" name="Text 127"/>
            <p:cNvSpPr/>
            <p:nvPr/>
          </p:nvSpPr>
          <p:spPr>
            <a:xfrm>
              <a:off x="322530" y="3612625"/>
              <a:ext cx="4231382" cy="1097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주의/지시표지 F1=0.95로 다수 클래스 안정</a:t>
              </a:r>
              <a:endParaRPr lang="en-US" sz="900" dirty="0"/>
            </a:p>
          </p:txBody>
        </p:sp>
        <p:sp>
          <p:nvSpPr>
            <p:cNvPr id="130" name="Text 128"/>
            <p:cNvSpPr/>
            <p:nvPr/>
          </p:nvSpPr>
          <p:spPr>
            <a:xfrm>
              <a:off x="322530" y="3731497"/>
              <a:ext cx="4231382" cy="1097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class_weight로 소수 클래스 인식률 향상</a:t>
              </a:r>
              <a:endParaRPr lang="en-US" sz="900" dirty="0"/>
            </a:p>
          </p:txBody>
        </p:sp>
        <p:sp>
          <p:nvSpPr>
            <p:cNvPr id="133" name="Text 131"/>
            <p:cNvSpPr/>
            <p:nvPr/>
          </p:nvSpPr>
          <p:spPr>
            <a:xfrm>
              <a:off x="4843733" y="3493753"/>
              <a:ext cx="4034304" cy="1097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스쿨존 Precision 0.68 → False Positive 과잉</a:t>
              </a:r>
              <a:endParaRPr lang="en-US" sz="900" dirty="0"/>
            </a:p>
          </p:txBody>
        </p:sp>
        <p:sp>
          <p:nvSpPr>
            <p:cNvPr id="134" name="Text 132"/>
            <p:cNvSpPr/>
            <p:nvPr/>
          </p:nvSpPr>
          <p:spPr>
            <a:xfrm>
              <a:off x="4843733" y="3612625"/>
              <a:ext cx="4034304" cy="1097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높이_중량제한 Precision 0.53 (명확도 낮음)</a:t>
              </a:r>
              <a:endParaRPr lang="en-US" sz="900" dirty="0"/>
            </a:p>
          </p:txBody>
        </p:sp>
        <p:sp>
          <p:nvSpPr>
            <p:cNvPr id="135" name="Text 133"/>
            <p:cNvSpPr/>
            <p:nvPr/>
          </p:nvSpPr>
          <p:spPr>
            <a:xfrm>
              <a:off x="4843733" y="3731497"/>
              <a:ext cx="4034304" cy="1097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</a:t>
              </a:r>
              <a:r>
                <a:rPr lang="en-US" sz="900" dirty="0" err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세밀한</a:t>
              </a: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숫자 </a:t>
              </a:r>
              <a:r>
                <a:rPr lang="en-US" sz="900" dirty="0" err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판별</a:t>
              </a: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900" dirty="0" err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약함</a:t>
              </a:r>
              <a:r>
                <a:rPr 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(30, 80) -&gt; ResNet101 </a:t>
              </a:r>
              <a:r>
                <a:rPr lang="ko-KR" altLang="en-US" sz="9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도입</a:t>
              </a:r>
              <a:endParaRPr lang="en-US" sz="900" dirty="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ResNet101 – 심층 네트워크 학습 &amp; 분류 리포트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1605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92608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ResNet101 도입 이유 (vs ResNet50)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50층 → 101층 확장: 표현력(Capacity) 증대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737360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저해상도 크롭 이미지의 미세 특징 추출 강화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2011680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clear_session()으로 VRAM 초기화 후 로드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4005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동일 파이프라인: 워밍업 → 파인튜닝 연속 실행</a:t>
            </a:r>
            <a:endParaRPr lang="en-US" sz="850" dirty="0"/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395876BF-20B1-67EE-AC40-E07F707B424A}"/>
              </a:ext>
            </a:extLst>
          </p:cNvPr>
          <p:cNvGrpSpPr/>
          <p:nvPr/>
        </p:nvGrpSpPr>
        <p:grpSpPr>
          <a:xfrm>
            <a:off x="4754882" y="1051560"/>
            <a:ext cx="4160520" cy="1600199"/>
            <a:chOff x="4754882" y="1051560"/>
            <a:chExt cx="4160520" cy="2286000"/>
          </a:xfrm>
        </p:grpSpPr>
        <p:sp>
          <p:nvSpPr>
            <p:cNvPr id="11" name="Shape 9"/>
            <p:cNvSpPr/>
            <p:nvPr/>
          </p:nvSpPr>
          <p:spPr>
            <a:xfrm>
              <a:off x="4754882" y="1051560"/>
              <a:ext cx="4160520" cy="2286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4754882" y="1051560"/>
              <a:ext cx="4160520" cy="347472"/>
            </a:xfrm>
            <a:prstGeom prst="rect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 11"/>
            <p:cNvSpPr/>
            <p:nvPr/>
          </p:nvSpPr>
          <p:spPr>
            <a:xfrm>
              <a:off x="4818890" y="1051560"/>
              <a:ext cx="40233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ResNet101 핵심 성과</a:t>
              </a:r>
              <a:endParaRPr lang="en-US" sz="10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846322" y="1463040"/>
              <a:ext cx="400507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스쿨존 Precision: 0.68 → 0.80 (+0.12) 과잉 예측 대폭 감소</a:t>
              </a:r>
              <a:endParaRPr lang="en-US" sz="8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846322" y="1810512"/>
              <a:ext cx="400507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속도제한90이상 Recall: 0.92 → 0.97 고속 누락 최소화</a:t>
              </a:r>
              <a:endParaRPr lang="en-US" sz="8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846322" y="2157984"/>
              <a:ext cx="400507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보호구역 Precision: 0.83 → 0.88로 향상</a:t>
              </a:r>
              <a:endParaRPr lang="en-US" sz="8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846322" y="2505456"/>
              <a:ext cx="400507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Epoch 8 Val Loss 최저 → EarlyStopping 완벽 작동</a:t>
              </a:r>
              <a:endParaRPr lang="en-US" sz="8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846322" y="2852928"/>
              <a:ext cx="4005072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전체 Accuracy: 91.76% (ResNet50 대비 +1.19%p)</a:t>
              </a:r>
              <a:endParaRPr lang="en-US" sz="850" dirty="0"/>
            </a:p>
          </p:txBody>
        </p:sp>
      </p:grpSp>
      <p:sp>
        <p:nvSpPr>
          <p:cNvPr id="101" name="Shape 99"/>
          <p:cNvSpPr/>
          <p:nvPr/>
        </p:nvSpPr>
        <p:spPr>
          <a:xfrm>
            <a:off x="228600" y="5093208"/>
            <a:ext cx="8686800" cy="0"/>
          </a:xfrm>
          <a:prstGeom prst="rect">
            <a:avLst/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100"/>
          <p:cNvSpPr/>
          <p:nvPr/>
        </p:nvSpPr>
        <p:spPr>
          <a:xfrm>
            <a:off x="292608" y="5093208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105" name="그림 104" descr="The diagram depicts the training and validation loss and accuracy for ResNet101 during fine-tuning, showing a decrease in loss and increase in accuracy over successive epochs.&#10;&#10;AI 생성 콘텐츠는 정확하지 않을 수 있습니다.">
            <a:extLst>
              <a:ext uri="{FF2B5EF4-FFF2-40B4-BE49-F238E27FC236}">
                <a16:creationId xmlns:a16="http://schemas.microsoft.com/office/drawing/2014/main" id="{3644BD5A-EFEB-0E20-5CEB-8B692F6A0A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75"/>
          <a:stretch>
            <a:fillRect/>
          </a:stretch>
        </p:blipFill>
        <p:spPr>
          <a:xfrm>
            <a:off x="1007966" y="2696563"/>
            <a:ext cx="7128067" cy="23385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C0886-9EDF-ED04-1AD2-0241270FF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537916-0DEE-428F-9EDA-72767207BD36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9B9CD4-079D-FFA9-C81D-C4367034478D}"/>
              </a:ext>
            </a:extLst>
          </p:cNvPr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ResNet101 – 심층 네트워크 학습 &amp; 분류 리포트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3F9F5E3-AA97-DC04-DF27-FACEA5C66FEC}"/>
              </a:ext>
            </a:extLst>
          </p:cNvPr>
          <p:cNvSpPr/>
          <p:nvPr/>
        </p:nvSpPr>
        <p:spPr>
          <a:xfrm>
            <a:off x="228600" y="1051560"/>
            <a:ext cx="4160520" cy="391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C10C283-C5FD-E189-7657-BC43F17DBB5D}"/>
              </a:ext>
            </a:extLst>
          </p:cNvPr>
          <p:cNvSpPr/>
          <p:nvPr/>
        </p:nvSpPr>
        <p:spPr>
          <a:xfrm>
            <a:off x="228600" y="1051560"/>
            <a:ext cx="41605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E8E657C-C758-40CE-97C1-21390C6CCD2C}"/>
              </a:ext>
            </a:extLst>
          </p:cNvPr>
          <p:cNvSpPr/>
          <p:nvPr/>
        </p:nvSpPr>
        <p:spPr>
          <a:xfrm>
            <a:off x="292608" y="10515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ResNet101</a:t>
            </a:r>
            <a:endParaRPr lang="en-US" sz="10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1E8D653-120E-ABD8-B760-0A3E3EF854F0}"/>
              </a:ext>
            </a:extLst>
          </p:cNvPr>
          <p:cNvSpPr/>
          <p:nvPr/>
        </p:nvSpPr>
        <p:spPr>
          <a:xfrm>
            <a:off x="4663440" y="1051560"/>
            <a:ext cx="2103120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53C372A-4155-D984-A1B1-8EEAE09CDD28}"/>
              </a:ext>
            </a:extLst>
          </p:cNvPr>
          <p:cNvSpPr/>
          <p:nvPr/>
        </p:nvSpPr>
        <p:spPr>
          <a:xfrm>
            <a:off x="4663440" y="105156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</a:t>
            </a:r>
            <a:endParaRPr lang="en-US" sz="8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1192C9D-F769-8D05-27B7-D855E4D320D3}"/>
              </a:ext>
            </a:extLst>
          </p:cNvPr>
          <p:cNvSpPr/>
          <p:nvPr/>
        </p:nvSpPr>
        <p:spPr>
          <a:xfrm>
            <a:off x="6793992" y="1051560"/>
            <a:ext cx="749808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A778A66-5339-C172-DE2C-C463DF6FD90D}"/>
              </a:ext>
            </a:extLst>
          </p:cNvPr>
          <p:cNvSpPr/>
          <p:nvPr/>
        </p:nvSpPr>
        <p:spPr>
          <a:xfrm>
            <a:off x="6793992" y="1051560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Prec</a:t>
            </a:r>
            <a:endParaRPr lang="en-US" sz="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C93CAC9-5970-2458-3CD3-DE7AA1F83A0A}"/>
              </a:ext>
            </a:extLst>
          </p:cNvPr>
          <p:cNvSpPr/>
          <p:nvPr/>
        </p:nvSpPr>
        <p:spPr>
          <a:xfrm>
            <a:off x="7562088" y="1051560"/>
            <a:ext cx="777240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2C867B5-4EC1-9DF8-21C1-11C36568B653}"/>
              </a:ext>
            </a:extLst>
          </p:cNvPr>
          <p:cNvSpPr/>
          <p:nvPr/>
        </p:nvSpPr>
        <p:spPr>
          <a:xfrm>
            <a:off x="7562088" y="1051560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Recall</a:t>
            </a:r>
            <a:endParaRPr lang="en-US" sz="8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98DFBAB-AFDA-2E32-D37E-07BC17948B58}"/>
              </a:ext>
            </a:extLst>
          </p:cNvPr>
          <p:cNvSpPr/>
          <p:nvPr/>
        </p:nvSpPr>
        <p:spPr>
          <a:xfrm>
            <a:off x="8339328" y="1051560"/>
            <a:ext cx="749808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48CCEBA-4191-0477-04C4-F41187518954}"/>
              </a:ext>
            </a:extLst>
          </p:cNvPr>
          <p:cNvSpPr/>
          <p:nvPr/>
        </p:nvSpPr>
        <p:spPr>
          <a:xfrm>
            <a:off x="8339328" y="1051560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F1</a:t>
            </a:r>
            <a:endParaRPr lang="en-US" sz="8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FA1C200-58F7-C58D-F8EA-980E55CB5E87}"/>
              </a:ext>
            </a:extLst>
          </p:cNvPr>
          <p:cNvSpPr/>
          <p:nvPr/>
        </p:nvSpPr>
        <p:spPr>
          <a:xfrm>
            <a:off x="4663440" y="1389888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5030448-0A22-C16C-7128-6FE3B30C5357}"/>
              </a:ext>
            </a:extLst>
          </p:cNvPr>
          <p:cNvSpPr/>
          <p:nvPr/>
        </p:nvSpPr>
        <p:spPr>
          <a:xfrm>
            <a:off x="4700016" y="1389888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높이_중량제한</a:t>
            </a:r>
            <a:endParaRPr lang="en-US" sz="8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21291C5-B9BF-EFF3-54D2-187A40A25F65}"/>
              </a:ext>
            </a:extLst>
          </p:cNvPr>
          <p:cNvSpPr/>
          <p:nvPr/>
        </p:nvSpPr>
        <p:spPr>
          <a:xfrm>
            <a:off x="6793992" y="1389888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5C523CA-B70F-0558-EDEE-B5221FF822DD}"/>
              </a:ext>
            </a:extLst>
          </p:cNvPr>
          <p:cNvSpPr/>
          <p:nvPr/>
        </p:nvSpPr>
        <p:spPr>
          <a:xfrm>
            <a:off x="6830568" y="1389888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0.55</a:t>
            </a:r>
            <a:endParaRPr lang="en-US" sz="85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C18F804-7696-3AA3-6087-D1B00C7D65F5}"/>
              </a:ext>
            </a:extLst>
          </p:cNvPr>
          <p:cNvSpPr/>
          <p:nvPr/>
        </p:nvSpPr>
        <p:spPr>
          <a:xfrm>
            <a:off x="7562088" y="1389888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14060E8-7C64-E600-1076-0ACC9A99DE11}"/>
              </a:ext>
            </a:extLst>
          </p:cNvPr>
          <p:cNvSpPr/>
          <p:nvPr/>
        </p:nvSpPr>
        <p:spPr>
          <a:xfrm>
            <a:off x="7598664" y="1389888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0.95</a:t>
            </a:r>
            <a:endParaRPr lang="en-US" sz="8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3C38E1B5-2F2E-4AC8-CE23-BAA5071C18F0}"/>
              </a:ext>
            </a:extLst>
          </p:cNvPr>
          <p:cNvSpPr/>
          <p:nvPr/>
        </p:nvSpPr>
        <p:spPr>
          <a:xfrm>
            <a:off x="8339328" y="1389888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78C3359-856C-040A-0EF2-C3FFA2BEDE02}"/>
              </a:ext>
            </a:extLst>
          </p:cNvPr>
          <p:cNvSpPr/>
          <p:nvPr/>
        </p:nvSpPr>
        <p:spPr>
          <a:xfrm>
            <a:off x="8375904" y="1389888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0.69</a:t>
            </a:r>
            <a:endParaRPr lang="en-US" sz="8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CAB0E9C2-9E53-CEBF-E823-0AE6EA48EE63}"/>
              </a:ext>
            </a:extLst>
          </p:cNvPr>
          <p:cNvSpPr/>
          <p:nvPr/>
        </p:nvSpPr>
        <p:spPr>
          <a:xfrm>
            <a:off x="4663440" y="1737360"/>
            <a:ext cx="21031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DCA692B-74A3-28B3-C1CB-706BF77924EC}"/>
              </a:ext>
            </a:extLst>
          </p:cNvPr>
          <p:cNvSpPr/>
          <p:nvPr/>
        </p:nvSpPr>
        <p:spPr>
          <a:xfrm>
            <a:off x="4700016" y="173736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보호구역</a:t>
            </a:r>
            <a:endParaRPr lang="en-US" sz="8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B58AB3E2-93C8-4313-2CAF-D65C5FD980E1}"/>
              </a:ext>
            </a:extLst>
          </p:cNvPr>
          <p:cNvSpPr/>
          <p:nvPr/>
        </p:nvSpPr>
        <p:spPr>
          <a:xfrm>
            <a:off x="6793992" y="1737360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21B38E15-1EC7-66A1-CEC8-B9A760436764}"/>
              </a:ext>
            </a:extLst>
          </p:cNvPr>
          <p:cNvSpPr/>
          <p:nvPr/>
        </p:nvSpPr>
        <p:spPr>
          <a:xfrm>
            <a:off x="6830568" y="173736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0.88</a:t>
            </a:r>
            <a:endParaRPr lang="en-US" sz="85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5F94CB4A-EF0A-3EFA-DF97-FAE940C2549E}"/>
              </a:ext>
            </a:extLst>
          </p:cNvPr>
          <p:cNvSpPr/>
          <p:nvPr/>
        </p:nvSpPr>
        <p:spPr>
          <a:xfrm>
            <a:off x="7562088" y="1737360"/>
            <a:ext cx="7772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FA33D6C4-A9C7-8010-1CAA-D31B051E809C}"/>
              </a:ext>
            </a:extLst>
          </p:cNvPr>
          <p:cNvSpPr/>
          <p:nvPr/>
        </p:nvSpPr>
        <p:spPr>
          <a:xfrm>
            <a:off x="7598664" y="1737360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0.95</a:t>
            </a:r>
            <a:endParaRPr lang="en-US" sz="85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10038B9-EDAA-D2D7-2F32-88BA5448C1CC}"/>
              </a:ext>
            </a:extLst>
          </p:cNvPr>
          <p:cNvSpPr/>
          <p:nvPr/>
        </p:nvSpPr>
        <p:spPr>
          <a:xfrm>
            <a:off x="8339328" y="1737360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FA225137-5D24-0A08-7C5F-202344379563}"/>
              </a:ext>
            </a:extLst>
          </p:cNvPr>
          <p:cNvSpPr/>
          <p:nvPr/>
        </p:nvSpPr>
        <p:spPr>
          <a:xfrm>
            <a:off x="8375904" y="173736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0.91</a:t>
            </a:r>
            <a:endParaRPr lang="en-US" sz="85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48059B8A-A4AF-4E5F-2FC3-94E6B7A4F574}"/>
              </a:ext>
            </a:extLst>
          </p:cNvPr>
          <p:cNvSpPr/>
          <p:nvPr/>
        </p:nvSpPr>
        <p:spPr>
          <a:xfrm>
            <a:off x="4663440" y="2084832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E66DCB4-D926-E40E-88D4-FFF27B73D904}"/>
              </a:ext>
            </a:extLst>
          </p:cNvPr>
          <p:cNvSpPr/>
          <p:nvPr/>
        </p:nvSpPr>
        <p:spPr>
          <a:xfrm>
            <a:off x="4700016" y="208483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속도제한40_60</a:t>
            </a:r>
            <a:endParaRPr lang="en-US" sz="8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E2A17106-1DCA-CE1C-CB7F-49D2F3F948D2}"/>
              </a:ext>
            </a:extLst>
          </p:cNvPr>
          <p:cNvSpPr/>
          <p:nvPr/>
        </p:nvSpPr>
        <p:spPr>
          <a:xfrm>
            <a:off x="6793992" y="2084832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334AC696-E0A3-ED60-271A-0A513513BB4B}"/>
              </a:ext>
            </a:extLst>
          </p:cNvPr>
          <p:cNvSpPr/>
          <p:nvPr/>
        </p:nvSpPr>
        <p:spPr>
          <a:xfrm>
            <a:off x="6830568" y="2084832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0.88</a:t>
            </a:r>
            <a:endParaRPr lang="en-US" sz="85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ABED4BF7-4787-1A18-178E-A81BC894B330}"/>
              </a:ext>
            </a:extLst>
          </p:cNvPr>
          <p:cNvSpPr/>
          <p:nvPr/>
        </p:nvSpPr>
        <p:spPr>
          <a:xfrm>
            <a:off x="7562088" y="2084832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F8639B28-4CB0-79E7-01AB-6D8907BB7EB0}"/>
              </a:ext>
            </a:extLst>
          </p:cNvPr>
          <p:cNvSpPr/>
          <p:nvPr/>
        </p:nvSpPr>
        <p:spPr>
          <a:xfrm>
            <a:off x="7598664" y="2084832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0.95</a:t>
            </a:r>
            <a:endParaRPr lang="en-US" sz="85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2908EE70-A85B-37C8-2672-ECDABEAADB3C}"/>
              </a:ext>
            </a:extLst>
          </p:cNvPr>
          <p:cNvSpPr/>
          <p:nvPr/>
        </p:nvSpPr>
        <p:spPr>
          <a:xfrm>
            <a:off x="8339328" y="2084832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2152E8B1-9CF2-C456-9F23-5615BA60100F}"/>
              </a:ext>
            </a:extLst>
          </p:cNvPr>
          <p:cNvSpPr/>
          <p:nvPr/>
        </p:nvSpPr>
        <p:spPr>
          <a:xfrm>
            <a:off x="8375904" y="2084832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0.91</a:t>
            </a:r>
            <a:endParaRPr lang="en-US" sz="85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B4FA67A8-2B98-299D-1B25-0A81162A65E7}"/>
              </a:ext>
            </a:extLst>
          </p:cNvPr>
          <p:cNvSpPr/>
          <p:nvPr/>
        </p:nvSpPr>
        <p:spPr>
          <a:xfrm>
            <a:off x="4663440" y="2432304"/>
            <a:ext cx="21031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04F0C2A4-61D2-C7A9-DF17-A255B4CC55AE}"/>
              </a:ext>
            </a:extLst>
          </p:cNvPr>
          <p:cNvSpPr/>
          <p:nvPr/>
        </p:nvSpPr>
        <p:spPr>
          <a:xfrm>
            <a:off x="4700016" y="243230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속도제한70_80</a:t>
            </a:r>
            <a:endParaRPr lang="en-US" sz="800" dirty="0"/>
          </a:p>
        </p:txBody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3F7F34F0-D6DE-5E32-144E-0B70C18B4A59}"/>
              </a:ext>
            </a:extLst>
          </p:cNvPr>
          <p:cNvSpPr/>
          <p:nvPr/>
        </p:nvSpPr>
        <p:spPr>
          <a:xfrm>
            <a:off x="6793992" y="2432304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CA14D4BC-7F93-B910-BD30-788473726563}"/>
              </a:ext>
            </a:extLst>
          </p:cNvPr>
          <p:cNvSpPr/>
          <p:nvPr/>
        </p:nvSpPr>
        <p:spPr>
          <a:xfrm>
            <a:off x="6830568" y="243230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0.79</a:t>
            </a:r>
            <a:endParaRPr lang="en-US" sz="85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9C6DE9AC-ECE3-19B1-5A3D-AED7267BE00C}"/>
              </a:ext>
            </a:extLst>
          </p:cNvPr>
          <p:cNvSpPr/>
          <p:nvPr/>
        </p:nvSpPr>
        <p:spPr>
          <a:xfrm>
            <a:off x="7562088" y="2432304"/>
            <a:ext cx="7772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09B4AAA-4A97-9A99-175D-AFAB0A9D8DAF}"/>
              </a:ext>
            </a:extLst>
          </p:cNvPr>
          <p:cNvSpPr/>
          <p:nvPr/>
        </p:nvSpPr>
        <p:spPr>
          <a:xfrm>
            <a:off x="7598664" y="2432304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0.93</a:t>
            </a:r>
            <a:endParaRPr lang="en-US" sz="85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D71D3F2E-A1FE-0DC3-EA80-4200556A994F}"/>
              </a:ext>
            </a:extLst>
          </p:cNvPr>
          <p:cNvSpPr/>
          <p:nvPr/>
        </p:nvSpPr>
        <p:spPr>
          <a:xfrm>
            <a:off x="8339328" y="2432304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F24917BE-9F19-873F-43E3-16D89CCC4661}"/>
              </a:ext>
            </a:extLst>
          </p:cNvPr>
          <p:cNvSpPr/>
          <p:nvPr/>
        </p:nvSpPr>
        <p:spPr>
          <a:xfrm>
            <a:off x="8375904" y="243230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0.86</a:t>
            </a:r>
            <a:endParaRPr lang="en-US" sz="85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698AABAC-041B-CBEF-C0D9-C0A5AC593345}"/>
              </a:ext>
            </a:extLst>
          </p:cNvPr>
          <p:cNvSpPr/>
          <p:nvPr/>
        </p:nvSpPr>
        <p:spPr>
          <a:xfrm>
            <a:off x="4663440" y="2779776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CA173BF2-A6BA-2030-3BCE-B72A81AC3F88}"/>
              </a:ext>
            </a:extLst>
          </p:cNvPr>
          <p:cNvSpPr/>
          <p:nvPr/>
        </p:nvSpPr>
        <p:spPr>
          <a:xfrm>
            <a:off x="4700016" y="2779776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속도제한90이상</a:t>
            </a:r>
            <a:endParaRPr lang="en-US" sz="800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AD190D34-9979-8BC0-109D-E700CB034CE1}"/>
              </a:ext>
            </a:extLst>
          </p:cNvPr>
          <p:cNvSpPr/>
          <p:nvPr/>
        </p:nvSpPr>
        <p:spPr>
          <a:xfrm>
            <a:off x="6793992" y="2779776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7F74D790-AAF4-BA63-552C-E64FE9A9DA66}"/>
              </a:ext>
            </a:extLst>
          </p:cNvPr>
          <p:cNvSpPr/>
          <p:nvPr/>
        </p:nvSpPr>
        <p:spPr>
          <a:xfrm>
            <a:off x="6830568" y="2779776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0.72</a:t>
            </a:r>
            <a:endParaRPr lang="en-US" sz="850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454B05D1-B92F-8F9C-650D-54F133840D4F}"/>
              </a:ext>
            </a:extLst>
          </p:cNvPr>
          <p:cNvSpPr/>
          <p:nvPr/>
        </p:nvSpPr>
        <p:spPr>
          <a:xfrm>
            <a:off x="7562088" y="2779776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79101929-078C-AA1D-66F1-8A5D08F9B82E}"/>
              </a:ext>
            </a:extLst>
          </p:cNvPr>
          <p:cNvSpPr/>
          <p:nvPr/>
        </p:nvSpPr>
        <p:spPr>
          <a:xfrm>
            <a:off x="7598664" y="2779776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0.97</a:t>
            </a:r>
            <a:endParaRPr lang="en-US" sz="85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BE572A88-2F0D-1FF1-BF1A-CBE94015CC44}"/>
              </a:ext>
            </a:extLst>
          </p:cNvPr>
          <p:cNvSpPr/>
          <p:nvPr/>
        </p:nvSpPr>
        <p:spPr>
          <a:xfrm>
            <a:off x="8339328" y="2779776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DB6683FA-F2FC-A70D-65A8-91806E3E1FC6}"/>
              </a:ext>
            </a:extLst>
          </p:cNvPr>
          <p:cNvSpPr/>
          <p:nvPr/>
        </p:nvSpPr>
        <p:spPr>
          <a:xfrm>
            <a:off x="8375904" y="2779776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0.83</a:t>
            </a:r>
            <a:endParaRPr lang="en-US" sz="850" dirty="0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766DEB7A-8B4D-0931-141C-5BFCB473E59E}"/>
              </a:ext>
            </a:extLst>
          </p:cNvPr>
          <p:cNvSpPr/>
          <p:nvPr/>
        </p:nvSpPr>
        <p:spPr>
          <a:xfrm>
            <a:off x="4663440" y="3127248"/>
            <a:ext cx="21031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507D9701-0CB6-D126-DB11-02C8DE4EB993}"/>
              </a:ext>
            </a:extLst>
          </p:cNvPr>
          <p:cNvSpPr/>
          <p:nvPr/>
        </p:nvSpPr>
        <p:spPr>
          <a:xfrm>
            <a:off x="4700016" y="3127248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스쿨존_속도제한30이하</a:t>
            </a:r>
            <a:endParaRPr lang="en-US" sz="80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36492367-E1EE-7E53-1A92-1908DD19DAA4}"/>
              </a:ext>
            </a:extLst>
          </p:cNvPr>
          <p:cNvSpPr/>
          <p:nvPr/>
        </p:nvSpPr>
        <p:spPr>
          <a:xfrm>
            <a:off x="6793992" y="3127248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D6B0E765-B4A7-F481-5EC1-63E83FC7EB5A}"/>
              </a:ext>
            </a:extLst>
          </p:cNvPr>
          <p:cNvSpPr/>
          <p:nvPr/>
        </p:nvSpPr>
        <p:spPr>
          <a:xfrm>
            <a:off x="6830568" y="3127248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0.80</a:t>
            </a:r>
            <a:endParaRPr lang="en-US" sz="850" dirty="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6946083E-6169-D43A-6ACB-8BD9238F09D0}"/>
              </a:ext>
            </a:extLst>
          </p:cNvPr>
          <p:cNvSpPr/>
          <p:nvPr/>
        </p:nvSpPr>
        <p:spPr>
          <a:xfrm>
            <a:off x="7562088" y="3127248"/>
            <a:ext cx="7772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E53B6C8C-8721-A0F3-CF58-13130E724580}"/>
              </a:ext>
            </a:extLst>
          </p:cNvPr>
          <p:cNvSpPr/>
          <p:nvPr/>
        </p:nvSpPr>
        <p:spPr>
          <a:xfrm>
            <a:off x="7598664" y="3127248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0.92</a:t>
            </a:r>
            <a:endParaRPr lang="en-US" sz="85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78389E4C-DB7D-2007-EC52-A3391ADBAB5A}"/>
              </a:ext>
            </a:extLst>
          </p:cNvPr>
          <p:cNvSpPr/>
          <p:nvPr/>
        </p:nvSpPr>
        <p:spPr>
          <a:xfrm>
            <a:off x="8339328" y="3127248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1E59F4A7-00E7-819E-14E9-C859BDC83F96}"/>
              </a:ext>
            </a:extLst>
          </p:cNvPr>
          <p:cNvSpPr/>
          <p:nvPr/>
        </p:nvSpPr>
        <p:spPr>
          <a:xfrm>
            <a:off x="8375904" y="3127248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0.86</a:t>
            </a:r>
            <a:endParaRPr lang="en-US" sz="850" dirty="0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E794C37D-FC14-8544-76E5-92FD1B53EEA7}"/>
              </a:ext>
            </a:extLst>
          </p:cNvPr>
          <p:cNvSpPr/>
          <p:nvPr/>
        </p:nvSpPr>
        <p:spPr>
          <a:xfrm>
            <a:off x="4663440" y="3474720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7620F13D-2A52-944E-5159-C78E6398011C}"/>
              </a:ext>
            </a:extLst>
          </p:cNvPr>
          <p:cNvSpPr/>
          <p:nvPr/>
        </p:nvSpPr>
        <p:spPr>
          <a:xfrm>
            <a:off x="4700016" y="347472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주의표지</a:t>
            </a:r>
            <a:endParaRPr lang="en-US" sz="800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F537A712-3759-9575-E06D-7DD4B007622A}"/>
              </a:ext>
            </a:extLst>
          </p:cNvPr>
          <p:cNvSpPr/>
          <p:nvPr/>
        </p:nvSpPr>
        <p:spPr>
          <a:xfrm>
            <a:off x="6793992" y="3474720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F453368D-A9C3-7DC7-99C0-DF5B98A9DFC0}"/>
              </a:ext>
            </a:extLst>
          </p:cNvPr>
          <p:cNvSpPr/>
          <p:nvPr/>
        </p:nvSpPr>
        <p:spPr>
          <a:xfrm>
            <a:off x="6830568" y="347472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0.96</a:t>
            </a:r>
            <a:endParaRPr lang="en-US" sz="850" dirty="0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04B58777-296C-74BB-8A00-8B57C74B23E8}"/>
              </a:ext>
            </a:extLst>
          </p:cNvPr>
          <p:cNvSpPr/>
          <p:nvPr/>
        </p:nvSpPr>
        <p:spPr>
          <a:xfrm>
            <a:off x="7562088" y="3474720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500146B2-C218-8342-E673-778E4E79D298}"/>
              </a:ext>
            </a:extLst>
          </p:cNvPr>
          <p:cNvSpPr/>
          <p:nvPr/>
        </p:nvSpPr>
        <p:spPr>
          <a:xfrm>
            <a:off x="7598664" y="3474720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0.95</a:t>
            </a:r>
            <a:endParaRPr lang="en-US" sz="850" dirty="0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1EE8782A-E7A7-530B-FED0-1B03A4910D11}"/>
              </a:ext>
            </a:extLst>
          </p:cNvPr>
          <p:cNvSpPr/>
          <p:nvPr/>
        </p:nvSpPr>
        <p:spPr>
          <a:xfrm>
            <a:off x="8339328" y="3474720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A9DE23D2-BDD6-2F76-C65D-032A12F2FF1C}"/>
              </a:ext>
            </a:extLst>
          </p:cNvPr>
          <p:cNvSpPr/>
          <p:nvPr/>
        </p:nvSpPr>
        <p:spPr>
          <a:xfrm>
            <a:off x="8375904" y="347472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0.95</a:t>
            </a:r>
            <a:endParaRPr lang="en-US" sz="850" dirty="0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4B3BB283-6C55-8EE7-33D0-8C674B9BF119}"/>
              </a:ext>
            </a:extLst>
          </p:cNvPr>
          <p:cNvSpPr/>
          <p:nvPr/>
        </p:nvSpPr>
        <p:spPr>
          <a:xfrm>
            <a:off x="4663440" y="3822192"/>
            <a:ext cx="21031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E9607999-4DC8-3086-91F4-A850CB215584}"/>
              </a:ext>
            </a:extLst>
          </p:cNvPr>
          <p:cNvSpPr/>
          <p:nvPr/>
        </p:nvSpPr>
        <p:spPr>
          <a:xfrm>
            <a:off x="4700016" y="382219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지시표지</a:t>
            </a:r>
            <a:endParaRPr lang="en-US" sz="800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54F1343F-E7E8-FFC3-FE7A-A254D05A52D8}"/>
              </a:ext>
            </a:extLst>
          </p:cNvPr>
          <p:cNvSpPr/>
          <p:nvPr/>
        </p:nvSpPr>
        <p:spPr>
          <a:xfrm>
            <a:off x="6793992" y="3822192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5B764784-6EC6-2543-2CF7-FA645D11D1F9}"/>
              </a:ext>
            </a:extLst>
          </p:cNvPr>
          <p:cNvSpPr/>
          <p:nvPr/>
        </p:nvSpPr>
        <p:spPr>
          <a:xfrm>
            <a:off x="6830568" y="3822192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0.97</a:t>
            </a:r>
            <a:endParaRPr lang="en-US" sz="850" dirty="0"/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D53BA287-2542-6198-2233-54F3ED7D8338}"/>
              </a:ext>
            </a:extLst>
          </p:cNvPr>
          <p:cNvSpPr/>
          <p:nvPr/>
        </p:nvSpPr>
        <p:spPr>
          <a:xfrm>
            <a:off x="7562088" y="3822192"/>
            <a:ext cx="7772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364AE275-4B41-3C3D-0A16-82759925CBFB}"/>
              </a:ext>
            </a:extLst>
          </p:cNvPr>
          <p:cNvSpPr/>
          <p:nvPr/>
        </p:nvSpPr>
        <p:spPr>
          <a:xfrm>
            <a:off x="7598664" y="3822192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0.94</a:t>
            </a:r>
            <a:endParaRPr lang="en-US" sz="850" dirty="0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7B762950-EFA5-BC49-08EB-1E8C03EBD645}"/>
              </a:ext>
            </a:extLst>
          </p:cNvPr>
          <p:cNvSpPr/>
          <p:nvPr/>
        </p:nvSpPr>
        <p:spPr>
          <a:xfrm>
            <a:off x="8339328" y="3822192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BC881DCE-29E7-320E-977B-84C7D0F34018}"/>
              </a:ext>
            </a:extLst>
          </p:cNvPr>
          <p:cNvSpPr/>
          <p:nvPr/>
        </p:nvSpPr>
        <p:spPr>
          <a:xfrm>
            <a:off x="8375904" y="3822192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0.96</a:t>
            </a:r>
            <a:endParaRPr lang="en-US" sz="850" dirty="0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90B77FA4-5414-C66F-A2AE-BC7B47BC27E7}"/>
              </a:ext>
            </a:extLst>
          </p:cNvPr>
          <p:cNvSpPr/>
          <p:nvPr/>
        </p:nvSpPr>
        <p:spPr>
          <a:xfrm>
            <a:off x="4663440" y="4169664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F2387D91-156F-58A5-1A65-DB5E8BB2ADE7}"/>
              </a:ext>
            </a:extLst>
          </p:cNvPr>
          <p:cNvSpPr/>
          <p:nvPr/>
        </p:nvSpPr>
        <p:spPr>
          <a:xfrm>
            <a:off x="4700016" y="416966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진입_주정차금지</a:t>
            </a:r>
            <a:endParaRPr lang="en-US" sz="800" dirty="0"/>
          </a:p>
        </p:txBody>
      </p:sp>
      <p:sp>
        <p:nvSpPr>
          <p:cNvPr id="93" name="Shape 91">
            <a:extLst>
              <a:ext uri="{FF2B5EF4-FFF2-40B4-BE49-F238E27FC236}">
                <a16:creationId xmlns:a16="http://schemas.microsoft.com/office/drawing/2014/main" id="{34D22A09-B403-8E10-EE29-390A8DC66A21}"/>
              </a:ext>
            </a:extLst>
          </p:cNvPr>
          <p:cNvSpPr/>
          <p:nvPr/>
        </p:nvSpPr>
        <p:spPr>
          <a:xfrm>
            <a:off x="6793992" y="4169664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2A6274FA-E6D1-52A9-8C27-47A25D4619D4}"/>
              </a:ext>
            </a:extLst>
          </p:cNvPr>
          <p:cNvSpPr/>
          <p:nvPr/>
        </p:nvSpPr>
        <p:spPr>
          <a:xfrm>
            <a:off x="6830568" y="416966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0.94</a:t>
            </a:r>
            <a:endParaRPr lang="en-US" sz="850" dirty="0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966C08FE-B07B-FB21-0424-E364547D9BEA}"/>
              </a:ext>
            </a:extLst>
          </p:cNvPr>
          <p:cNvSpPr/>
          <p:nvPr/>
        </p:nvSpPr>
        <p:spPr>
          <a:xfrm>
            <a:off x="7562088" y="4169664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B5CF6B6A-1709-E9A9-D111-057165B55265}"/>
              </a:ext>
            </a:extLst>
          </p:cNvPr>
          <p:cNvSpPr/>
          <p:nvPr/>
        </p:nvSpPr>
        <p:spPr>
          <a:xfrm>
            <a:off x="7598664" y="4169664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0.85</a:t>
            </a:r>
            <a:endParaRPr lang="en-US" sz="850" dirty="0"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5E5C42AA-961C-D452-011D-8AB977977AF3}"/>
              </a:ext>
            </a:extLst>
          </p:cNvPr>
          <p:cNvSpPr/>
          <p:nvPr/>
        </p:nvSpPr>
        <p:spPr>
          <a:xfrm>
            <a:off x="8339328" y="4169664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1E66EF81-7535-B126-0D32-FBFF4DFF7705}"/>
              </a:ext>
            </a:extLst>
          </p:cNvPr>
          <p:cNvSpPr/>
          <p:nvPr/>
        </p:nvSpPr>
        <p:spPr>
          <a:xfrm>
            <a:off x="8375904" y="416966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0.89</a:t>
            </a:r>
            <a:endParaRPr lang="en-US" sz="850" dirty="0"/>
          </a:p>
        </p:txBody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E3B4B0E3-2E4D-B964-D677-DDEA810E37C3}"/>
              </a:ext>
            </a:extLst>
          </p:cNvPr>
          <p:cNvSpPr/>
          <p:nvPr/>
        </p:nvSpPr>
        <p:spPr>
          <a:xfrm>
            <a:off x="228600" y="5093208"/>
            <a:ext cx="8686800" cy="0"/>
          </a:xfrm>
          <a:prstGeom prst="rect">
            <a:avLst/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C3D80B15-2877-683D-EE3B-62326DBB65B0}"/>
              </a:ext>
            </a:extLst>
          </p:cNvPr>
          <p:cNvSpPr/>
          <p:nvPr/>
        </p:nvSpPr>
        <p:spPr>
          <a:xfrm>
            <a:off x="292608" y="5093208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pic>
        <p:nvPicPr>
          <p:cNvPr id="104" name="그림 103" descr="The image is a confusion matrix displaying various performance metrics for a classification model, including true positive, false positive, and other values, along with different categories such as speed limits and road signs.&#10;&#10;AI 생성 콘텐츠는 정확하지 않을 수 있습니다.">
            <a:extLst>
              <a:ext uri="{FF2B5EF4-FFF2-40B4-BE49-F238E27FC236}">
                <a16:creationId xmlns:a16="http://schemas.microsoft.com/office/drawing/2014/main" id="{F84C3184-AE06-869B-3E6B-A71810E34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455544"/>
            <a:ext cx="3936989" cy="345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353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288AB-F863-60FE-6776-A4247F96B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0FFF36-9A03-16D0-DA1C-F8051AC81A2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0AB7CC-917E-7923-E798-0CF7FF46A5EB}"/>
              </a:ext>
            </a:extLst>
          </p:cNvPr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VGG16 &amp; MobileNetV2 – 학습 붕괴 &amp; 실패 원인 분석</a:t>
            </a:r>
            <a:endParaRPr lang="en-US" sz="2000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A3C40E4-F19C-B282-FE4A-151FAFFC86C2}"/>
              </a:ext>
            </a:extLst>
          </p:cNvPr>
          <p:cNvGrpSpPr/>
          <p:nvPr/>
        </p:nvGrpSpPr>
        <p:grpSpPr>
          <a:xfrm>
            <a:off x="228599" y="976996"/>
            <a:ext cx="8683857" cy="2114363"/>
            <a:chOff x="228600" y="976995"/>
            <a:chExt cx="4251960" cy="3669569"/>
          </a:xfrm>
        </p:grpSpPr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D32DD788-4560-93A8-2059-1F92C4E20796}"/>
                </a:ext>
              </a:extLst>
            </p:cNvPr>
            <p:cNvSpPr/>
            <p:nvPr/>
          </p:nvSpPr>
          <p:spPr>
            <a:xfrm>
              <a:off x="228600" y="976995"/>
              <a:ext cx="4251960" cy="3669569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BFBF1AD2-3296-F1AB-1F3D-244497CBBF38}"/>
                </a:ext>
              </a:extLst>
            </p:cNvPr>
            <p:cNvSpPr/>
            <p:nvPr/>
          </p:nvSpPr>
          <p:spPr>
            <a:xfrm>
              <a:off x="228600" y="976996"/>
              <a:ext cx="4251960" cy="365760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7FE205A2-4C6A-64F4-56F7-67284A772767}"/>
                </a:ext>
              </a:extLst>
            </p:cNvPr>
            <p:cNvSpPr/>
            <p:nvPr/>
          </p:nvSpPr>
          <p:spPr>
            <a:xfrm>
              <a:off x="301752" y="976996"/>
              <a:ext cx="409651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MobileNetV2 — Test Acc: 0.94% (완전 붕괴)</a:t>
              </a:r>
              <a:endParaRPr lang="en-US" sz="1050" dirty="0"/>
            </a:p>
          </p:txBody>
        </p:sp>
        <p:sp>
          <p:nvSpPr>
            <p:cNvPr id="27" name="Shape 25">
              <a:extLst>
                <a:ext uri="{FF2B5EF4-FFF2-40B4-BE49-F238E27FC236}">
                  <a16:creationId xmlns:a16="http://schemas.microsoft.com/office/drawing/2014/main" id="{8D87DAE4-314C-7FD4-CA1D-D0D9E61ADB08}"/>
                </a:ext>
              </a:extLst>
            </p:cNvPr>
            <p:cNvSpPr/>
            <p:nvPr/>
          </p:nvSpPr>
          <p:spPr>
            <a:xfrm>
              <a:off x="301752" y="1415908"/>
              <a:ext cx="777240" cy="484632"/>
            </a:xfrm>
            <a:prstGeom prst="rect">
              <a:avLst/>
            </a:prstGeom>
            <a:solidFill>
              <a:srgbClr val="FEE2E2"/>
            </a:solidFill>
            <a:ln w="889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>
              <a:extLst>
                <a:ext uri="{FF2B5EF4-FFF2-40B4-BE49-F238E27FC236}">
                  <a16:creationId xmlns:a16="http://schemas.microsoft.com/office/drawing/2014/main" id="{0940D949-21D4-EA5B-741B-5568EA411662}"/>
                </a:ext>
              </a:extLst>
            </p:cNvPr>
            <p:cNvSpPr/>
            <p:nvPr/>
          </p:nvSpPr>
          <p:spPr>
            <a:xfrm>
              <a:off x="301752" y="1415908"/>
              <a:ext cx="777240" cy="4846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현상</a:t>
              </a:r>
              <a:endParaRPr lang="en-US" sz="800" dirty="0"/>
            </a:p>
          </p:txBody>
        </p:sp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094DAFBF-39F7-9C36-7854-2A438B88BCAA}"/>
                </a:ext>
              </a:extLst>
            </p:cNvPr>
            <p:cNvSpPr/>
            <p:nvPr/>
          </p:nvSpPr>
          <p:spPr>
            <a:xfrm>
              <a:off x="1124712" y="144334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22,963장 전부 "높이_중량제한"으로만 예측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217/22,963 = 0.94% (Mode Collapse)</a:t>
              </a:r>
              <a:endParaRPr lang="en-US" sz="850" dirty="0"/>
            </a:p>
          </p:txBody>
        </p:sp>
        <p:sp>
          <p:nvSpPr>
            <p:cNvPr id="30" name="Shape 28">
              <a:extLst>
                <a:ext uri="{FF2B5EF4-FFF2-40B4-BE49-F238E27FC236}">
                  <a16:creationId xmlns:a16="http://schemas.microsoft.com/office/drawing/2014/main" id="{5858201E-13D7-84E2-E6A1-24E39181FE8C}"/>
                </a:ext>
              </a:extLst>
            </p:cNvPr>
            <p:cNvSpPr/>
            <p:nvPr/>
          </p:nvSpPr>
          <p:spPr>
            <a:xfrm>
              <a:off x="301752" y="1964548"/>
              <a:ext cx="777240" cy="484632"/>
            </a:xfrm>
            <a:prstGeom prst="rect">
              <a:avLst/>
            </a:prstGeom>
            <a:solidFill>
              <a:srgbClr val="FEE2E2"/>
            </a:solidFill>
            <a:ln w="889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CF284F8A-2ED6-D750-458C-ABCA32703EA2}"/>
                </a:ext>
              </a:extLst>
            </p:cNvPr>
            <p:cNvSpPr/>
            <p:nvPr/>
          </p:nvSpPr>
          <p:spPr>
            <a:xfrm>
              <a:off x="301752" y="1964548"/>
              <a:ext cx="777240" cy="4846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원인①</a:t>
              </a:r>
              <a:endParaRPr lang="en-US" sz="800" dirty="0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A3F5D67B-CD20-F7BA-BFC1-F47A22EB92B6}"/>
                </a:ext>
              </a:extLst>
            </p:cNvPr>
            <p:cNvSpPr/>
            <p:nvPr/>
          </p:nvSpPr>
          <p:spPr>
            <a:xfrm>
              <a:off x="1124712" y="199198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경량화 모델 표현력 부족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Depthwise Separable Conv으로 파라미터 압축</a:t>
              </a:r>
              <a:endParaRPr lang="en-US" sz="850" dirty="0"/>
            </a:p>
          </p:txBody>
        </p:sp>
        <p:sp>
          <p:nvSpPr>
            <p:cNvPr id="33" name="Shape 31">
              <a:extLst>
                <a:ext uri="{FF2B5EF4-FFF2-40B4-BE49-F238E27FC236}">
                  <a16:creationId xmlns:a16="http://schemas.microsoft.com/office/drawing/2014/main" id="{A2AAF72A-82C9-A91E-EF7D-28520BA88D32}"/>
                </a:ext>
              </a:extLst>
            </p:cNvPr>
            <p:cNvSpPr/>
            <p:nvPr/>
          </p:nvSpPr>
          <p:spPr>
            <a:xfrm>
              <a:off x="301752" y="2513188"/>
              <a:ext cx="777240" cy="484632"/>
            </a:xfrm>
            <a:prstGeom prst="rect">
              <a:avLst/>
            </a:prstGeom>
            <a:solidFill>
              <a:srgbClr val="FEE2E2"/>
            </a:solidFill>
            <a:ln w="889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EBC4E711-9684-85F5-23FC-D988E543E509}"/>
                </a:ext>
              </a:extLst>
            </p:cNvPr>
            <p:cNvSpPr/>
            <p:nvPr/>
          </p:nvSpPr>
          <p:spPr>
            <a:xfrm>
              <a:off x="301752" y="2513188"/>
              <a:ext cx="777240" cy="4846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원인②</a:t>
              </a:r>
              <a:endParaRPr lang="en-US" sz="800" dirty="0"/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8CFBC256-572B-D3CE-C3CB-200A31D33FDA}"/>
                </a:ext>
              </a:extLst>
            </p:cNvPr>
            <p:cNvSpPr/>
            <p:nvPr/>
          </p:nvSpPr>
          <p:spPr>
            <a:xfrm>
              <a:off x="1124712" y="254062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class_weight 역효과: 소수 클래스 최고 페널티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→ 손실 최소화 위해 해당 클래스로 "몰빵"</a:t>
              </a:r>
              <a:endParaRPr lang="en-US" sz="850" dirty="0"/>
            </a:p>
          </p:txBody>
        </p:sp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B3E0B00D-6CDB-D64D-BEA1-3BC5751F5F29}"/>
                </a:ext>
              </a:extLst>
            </p:cNvPr>
            <p:cNvSpPr/>
            <p:nvPr/>
          </p:nvSpPr>
          <p:spPr>
            <a:xfrm>
              <a:off x="301752" y="3061828"/>
              <a:ext cx="777240" cy="484632"/>
            </a:xfrm>
            <a:prstGeom prst="rect">
              <a:avLst/>
            </a:prstGeom>
            <a:solidFill>
              <a:srgbClr val="FEE2E2"/>
            </a:solidFill>
            <a:ln w="889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Text 35">
              <a:extLst>
                <a:ext uri="{FF2B5EF4-FFF2-40B4-BE49-F238E27FC236}">
                  <a16:creationId xmlns:a16="http://schemas.microsoft.com/office/drawing/2014/main" id="{6114D7FF-8B00-ACD8-72AC-4C96C3A31FEE}"/>
                </a:ext>
              </a:extLst>
            </p:cNvPr>
            <p:cNvSpPr/>
            <p:nvPr/>
          </p:nvSpPr>
          <p:spPr>
            <a:xfrm>
              <a:off x="301752" y="3061828"/>
              <a:ext cx="777240" cy="4846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원인③</a:t>
              </a:r>
              <a:endParaRPr lang="en-US" sz="800" dirty="0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1F1BEBE7-83A4-A3DB-421F-2ED72966C4BC}"/>
                </a:ext>
              </a:extLst>
            </p:cNvPr>
            <p:cNvSpPr/>
            <p:nvPr/>
          </p:nvSpPr>
          <p:spPr>
            <a:xfrm>
              <a:off x="1124712" y="308926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극소 학습률(1e-5) + 복잡한 표지판 데이터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→ 기울기 소실 · Local Minima 탈출 실패</a:t>
              </a:r>
              <a:endParaRPr lang="en-US" sz="850" dirty="0"/>
            </a:p>
          </p:txBody>
        </p:sp>
        <p:sp>
          <p:nvSpPr>
            <p:cNvPr id="39" name="Shape 37">
              <a:extLst>
                <a:ext uri="{FF2B5EF4-FFF2-40B4-BE49-F238E27FC236}">
                  <a16:creationId xmlns:a16="http://schemas.microsoft.com/office/drawing/2014/main" id="{A35B08BF-D80A-C7B8-92B5-F347B240FD27}"/>
                </a:ext>
              </a:extLst>
            </p:cNvPr>
            <p:cNvSpPr/>
            <p:nvPr/>
          </p:nvSpPr>
          <p:spPr>
            <a:xfrm>
              <a:off x="301752" y="3610468"/>
              <a:ext cx="777240" cy="484632"/>
            </a:xfrm>
            <a:prstGeom prst="rect">
              <a:avLst/>
            </a:prstGeom>
            <a:solidFill>
              <a:srgbClr val="FEE2E2"/>
            </a:solidFill>
            <a:ln w="889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FD0F7DFD-7E71-B8C7-2FEC-E133ADC45C66}"/>
                </a:ext>
              </a:extLst>
            </p:cNvPr>
            <p:cNvSpPr/>
            <p:nvPr/>
          </p:nvSpPr>
          <p:spPr>
            <a:xfrm>
              <a:off x="301752" y="3610468"/>
              <a:ext cx="777240" cy="4846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손실값</a:t>
              </a:r>
              <a:endParaRPr lang="en-US" sz="800" dirty="0"/>
            </a:p>
          </p:txBody>
        </p:sp>
        <p:sp>
          <p:nvSpPr>
            <p:cNvPr id="41" name="Text 39">
              <a:extLst>
                <a:ext uri="{FF2B5EF4-FFF2-40B4-BE49-F238E27FC236}">
                  <a16:creationId xmlns:a16="http://schemas.microsoft.com/office/drawing/2014/main" id="{5ABD45C3-534F-BAA2-C231-045BEC8ACA88}"/>
                </a:ext>
              </a:extLst>
            </p:cNvPr>
            <p:cNvSpPr/>
            <p:nvPr/>
          </p:nvSpPr>
          <p:spPr>
            <a:xfrm>
              <a:off x="1124712" y="363790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2.197 고착 = 랜덤 찍기 상태</a:t>
              </a:r>
              <a:endParaRPr lang="en-US" sz="850" dirty="0"/>
            </a:p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워밍업 1 Epoch부터 이미 붕괴 시작</a:t>
              </a:r>
              <a:endParaRPr lang="en-US" sz="850" dirty="0"/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83F77EF4-951F-519A-8816-315EE2D7FB9C}"/>
                </a:ext>
              </a:extLst>
            </p:cNvPr>
            <p:cNvGrpSpPr/>
            <p:nvPr/>
          </p:nvGrpSpPr>
          <p:grpSpPr>
            <a:xfrm>
              <a:off x="301752" y="4166504"/>
              <a:ext cx="4114800" cy="415170"/>
              <a:chOff x="228600" y="4645152"/>
              <a:chExt cx="8686799" cy="502922"/>
            </a:xfrm>
          </p:grpSpPr>
          <p:sp>
            <p:nvSpPr>
              <p:cNvPr id="44" name="Shape 42">
                <a:extLst>
                  <a:ext uri="{FF2B5EF4-FFF2-40B4-BE49-F238E27FC236}">
                    <a16:creationId xmlns:a16="http://schemas.microsoft.com/office/drawing/2014/main" id="{22C348D5-62E2-5ECF-A5A8-232D703DC65A}"/>
                  </a:ext>
                </a:extLst>
              </p:cNvPr>
              <p:cNvSpPr/>
              <p:nvPr/>
            </p:nvSpPr>
            <p:spPr>
              <a:xfrm>
                <a:off x="228600" y="4645154"/>
                <a:ext cx="8686799" cy="502920"/>
              </a:xfrm>
              <a:prstGeom prst="rect">
                <a:avLst/>
              </a:prstGeom>
              <a:solidFill>
                <a:srgbClr val="FEE2E2"/>
              </a:solidFill>
              <a:ln w="10160">
                <a:solidFill>
                  <a:srgbClr val="DC2626"/>
                </a:solidFill>
                <a:prstDash val="soli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5" name="Text 43">
                <a:extLst>
                  <a:ext uri="{FF2B5EF4-FFF2-40B4-BE49-F238E27FC236}">
                    <a16:creationId xmlns:a16="http://schemas.microsoft.com/office/drawing/2014/main" id="{4FC47648-51DE-4326-B4FA-3D24E8E4C6A1}"/>
                  </a:ext>
                </a:extLst>
              </p:cNvPr>
              <p:cNvSpPr/>
              <p:nvPr/>
            </p:nvSpPr>
            <p:spPr>
              <a:xfrm>
                <a:off x="292608" y="4645152"/>
                <a:ext cx="8485632" cy="5029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850" dirty="0">
                    <a:solidFill>
                      <a:srgbClr val="DC2626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교훈: ① 경량화 모델은 강한 불균형+class_weight 결합 시 Mode Collapse </a:t>
                </a:r>
                <a:r>
                  <a:rPr lang="en-US" sz="850" dirty="0" err="1">
                    <a:solidFill>
                      <a:srgbClr val="DC2626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위험</a:t>
                </a:r>
                <a:endParaRPr lang="en-US" sz="850" dirty="0"/>
              </a:p>
            </p:txBody>
          </p:sp>
        </p:grpSp>
      </p:grpSp>
      <p:pic>
        <p:nvPicPr>
          <p:cNvPr id="50" name="그림 49" descr="The diagram shows a comparison of the training and validation accuracy and loss for MobileNetV2 as it undergoes fine-tuning, indicating an improvement in accuracy and a decrease in loss over several epochs.&#10;&#10;AI 생성 콘텐츠는 정확하지 않을 수 있습니다.">
            <a:extLst>
              <a:ext uri="{FF2B5EF4-FFF2-40B4-BE49-F238E27FC236}">
                <a16:creationId xmlns:a16="http://schemas.microsoft.com/office/drawing/2014/main" id="{CA83628E-E009-015E-AF94-4C80DFDEF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580" y="3128240"/>
            <a:ext cx="6043316" cy="1990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653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945FD-482A-351F-E4E2-0B6846E05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FF7DD9-B405-FEDF-FDDA-B8E38BA5062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78AF1F-30DB-AB50-BA9B-2D7B8ACFFF10}"/>
              </a:ext>
            </a:extLst>
          </p:cNvPr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VGG16 &amp; MobileNetV2 – 학습 붕괴 &amp; 실패 원인 분석</a:t>
            </a:r>
            <a:endParaRPr lang="en-US" sz="2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C7040F9-5981-00F6-C508-C3E883E337C4}"/>
              </a:ext>
            </a:extLst>
          </p:cNvPr>
          <p:cNvSpPr/>
          <p:nvPr/>
        </p:nvSpPr>
        <p:spPr>
          <a:xfrm>
            <a:off x="228599" y="976997"/>
            <a:ext cx="8683857" cy="4069864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BD3F639-E265-FF35-0C44-F5E0766C065E}"/>
              </a:ext>
            </a:extLst>
          </p:cNvPr>
          <p:cNvSpPr/>
          <p:nvPr/>
        </p:nvSpPr>
        <p:spPr>
          <a:xfrm>
            <a:off x="228599" y="976997"/>
            <a:ext cx="8683857" cy="210747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F5F9672-39D2-4B5D-AFF5-CC30F94EB87F}"/>
              </a:ext>
            </a:extLst>
          </p:cNvPr>
          <p:cNvSpPr/>
          <p:nvPr/>
        </p:nvSpPr>
        <p:spPr>
          <a:xfrm>
            <a:off x="377999" y="976997"/>
            <a:ext cx="8366383" cy="2107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MobileNetV2 — Test Acc: 0.94% (완전 붕괴)</a:t>
            </a:r>
            <a:endParaRPr lang="en-US" sz="1050" dirty="0"/>
          </a:p>
        </p:txBody>
      </p:sp>
      <p:sp>
        <p:nvSpPr>
          <p:cNvPr id="4" name="Shape 17">
            <a:extLst>
              <a:ext uri="{FF2B5EF4-FFF2-40B4-BE49-F238E27FC236}">
                <a16:creationId xmlns:a16="http://schemas.microsoft.com/office/drawing/2014/main" id="{74F19C31-37EA-1E4A-B6BF-DD899ABDB598}"/>
              </a:ext>
            </a:extLst>
          </p:cNvPr>
          <p:cNvSpPr/>
          <p:nvPr/>
        </p:nvSpPr>
        <p:spPr>
          <a:xfrm>
            <a:off x="4369105" y="1372822"/>
            <a:ext cx="2103120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8">
            <a:extLst>
              <a:ext uri="{FF2B5EF4-FFF2-40B4-BE49-F238E27FC236}">
                <a16:creationId xmlns:a16="http://schemas.microsoft.com/office/drawing/2014/main" id="{1A58F5B2-92A7-1D73-3BFD-FE11B0859E0B}"/>
              </a:ext>
            </a:extLst>
          </p:cNvPr>
          <p:cNvSpPr/>
          <p:nvPr/>
        </p:nvSpPr>
        <p:spPr>
          <a:xfrm>
            <a:off x="4369105" y="137282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</a:t>
            </a:r>
            <a:endParaRPr lang="en-US" sz="800" dirty="0"/>
          </a:p>
        </p:txBody>
      </p:sp>
      <p:sp>
        <p:nvSpPr>
          <p:cNvPr id="6" name="Shape 19">
            <a:extLst>
              <a:ext uri="{FF2B5EF4-FFF2-40B4-BE49-F238E27FC236}">
                <a16:creationId xmlns:a16="http://schemas.microsoft.com/office/drawing/2014/main" id="{7A252E5D-1F95-9268-6BD1-A8E04F807B6A}"/>
              </a:ext>
            </a:extLst>
          </p:cNvPr>
          <p:cNvSpPr/>
          <p:nvPr/>
        </p:nvSpPr>
        <p:spPr>
          <a:xfrm>
            <a:off x="6499657" y="1372822"/>
            <a:ext cx="749808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20">
            <a:extLst>
              <a:ext uri="{FF2B5EF4-FFF2-40B4-BE49-F238E27FC236}">
                <a16:creationId xmlns:a16="http://schemas.microsoft.com/office/drawing/2014/main" id="{DB448B6C-4833-D982-6E79-3E49F1F73B99}"/>
              </a:ext>
            </a:extLst>
          </p:cNvPr>
          <p:cNvSpPr/>
          <p:nvPr/>
        </p:nvSpPr>
        <p:spPr>
          <a:xfrm>
            <a:off x="6499657" y="1372822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Prec</a:t>
            </a:r>
            <a:endParaRPr lang="en-US" sz="800" dirty="0"/>
          </a:p>
        </p:txBody>
      </p:sp>
      <p:sp>
        <p:nvSpPr>
          <p:cNvPr id="8" name="Shape 21">
            <a:extLst>
              <a:ext uri="{FF2B5EF4-FFF2-40B4-BE49-F238E27FC236}">
                <a16:creationId xmlns:a16="http://schemas.microsoft.com/office/drawing/2014/main" id="{10859263-FDBF-740F-60E0-F1CE8D464A0D}"/>
              </a:ext>
            </a:extLst>
          </p:cNvPr>
          <p:cNvSpPr/>
          <p:nvPr/>
        </p:nvSpPr>
        <p:spPr>
          <a:xfrm>
            <a:off x="7267753" y="1372822"/>
            <a:ext cx="777240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22">
            <a:extLst>
              <a:ext uri="{FF2B5EF4-FFF2-40B4-BE49-F238E27FC236}">
                <a16:creationId xmlns:a16="http://schemas.microsoft.com/office/drawing/2014/main" id="{780EAE2C-D0B0-B5E4-DF18-A4877402F197}"/>
              </a:ext>
            </a:extLst>
          </p:cNvPr>
          <p:cNvSpPr/>
          <p:nvPr/>
        </p:nvSpPr>
        <p:spPr>
          <a:xfrm>
            <a:off x="7267753" y="137282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Recall</a:t>
            </a:r>
            <a:endParaRPr lang="en-US" sz="800" dirty="0"/>
          </a:p>
        </p:txBody>
      </p:sp>
      <p:sp>
        <p:nvSpPr>
          <p:cNvPr id="10" name="Shape 23">
            <a:extLst>
              <a:ext uri="{FF2B5EF4-FFF2-40B4-BE49-F238E27FC236}">
                <a16:creationId xmlns:a16="http://schemas.microsoft.com/office/drawing/2014/main" id="{D46A12F5-E7B1-859F-0902-4DAA5E8C5816}"/>
              </a:ext>
            </a:extLst>
          </p:cNvPr>
          <p:cNvSpPr/>
          <p:nvPr/>
        </p:nvSpPr>
        <p:spPr>
          <a:xfrm>
            <a:off x="8044993" y="1372822"/>
            <a:ext cx="749808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24">
            <a:extLst>
              <a:ext uri="{FF2B5EF4-FFF2-40B4-BE49-F238E27FC236}">
                <a16:creationId xmlns:a16="http://schemas.microsoft.com/office/drawing/2014/main" id="{9F5E608E-79D5-6E84-FEA8-39050463B9B6}"/>
              </a:ext>
            </a:extLst>
          </p:cNvPr>
          <p:cNvSpPr/>
          <p:nvPr/>
        </p:nvSpPr>
        <p:spPr>
          <a:xfrm>
            <a:off x="8044993" y="1372822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F1</a:t>
            </a:r>
            <a:endParaRPr lang="en-US" sz="800" dirty="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CB61055C-573F-8B91-3D3D-36400838E272}"/>
              </a:ext>
            </a:extLst>
          </p:cNvPr>
          <p:cNvSpPr/>
          <p:nvPr/>
        </p:nvSpPr>
        <p:spPr>
          <a:xfrm>
            <a:off x="4369105" y="1711150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26">
            <a:extLst>
              <a:ext uri="{FF2B5EF4-FFF2-40B4-BE49-F238E27FC236}">
                <a16:creationId xmlns:a16="http://schemas.microsoft.com/office/drawing/2014/main" id="{B275A76B-EB54-8A3C-6195-75E3A81B1329}"/>
              </a:ext>
            </a:extLst>
          </p:cNvPr>
          <p:cNvSpPr/>
          <p:nvPr/>
        </p:nvSpPr>
        <p:spPr>
          <a:xfrm>
            <a:off x="4405681" y="171115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높이_중량제한</a:t>
            </a:r>
            <a:endParaRPr lang="en-US" sz="800" dirty="0"/>
          </a:p>
        </p:txBody>
      </p:sp>
      <p:sp>
        <p:nvSpPr>
          <p:cNvPr id="14" name="Shape 27">
            <a:extLst>
              <a:ext uri="{FF2B5EF4-FFF2-40B4-BE49-F238E27FC236}">
                <a16:creationId xmlns:a16="http://schemas.microsoft.com/office/drawing/2014/main" id="{3093B454-17B4-8372-4187-FAC5650E5E40}"/>
              </a:ext>
            </a:extLst>
          </p:cNvPr>
          <p:cNvSpPr/>
          <p:nvPr/>
        </p:nvSpPr>
        <p:spPr>
          <a:xfrm>
            <a:off x="6499657" y="1711150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28">
            <a:extLst>
              <a:ext uri="{FF2B5EF4-FFF2-40B4-BE49-F238E27FC236}">
                <a16:creationId xmlns:a16="http://schemas.microsoft.com/office/drawing/2014/main" id="{87B87DBF-AC17-9B0D-9369-92535B64482D}"/>
              </a:ext>
            </a:extLst>
          </p:cNvPr>
          <p:cNvSpPr/>
          <p:nvPr/>
        </p:nvSpPr>
        <p:spPr>
          <a:xfrm>
            <a:off x="6536233" y="171115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</a:t>
            </a:r>
            <a:endParaRPr lang="en-US" sz="850" dirty="0"/>
          </a:p>
        </p:txBody>
      </p:sp>
      <p:sp>
        <p:nvSpPr>
          <p:cNvPr id="16" name="Shape 29">
            <a:extLst>
              <a:ext uri="{FF2B5EF4-FFF2-40B4-BE49-F238E27FC236}">
                <a16:creationId xmlns:a16="http://schemas.microsoft.com/office/drawing/2014/main" id="{01747E4C-4695-20AB-94BD-923EFB0309BD}"/>
              </a:ext>
            </a:extLst>
          </p:cNvPr>
          <p:cNvSpPr/>
          <p:nvPr/>
        </p:nvSpPr>
        <p:spPr>
          <a:xfrm>
            <a:off x="7267753" y="1711150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30">
            <a:extLst>
              <a:ext uri="{FF2B5EF4-FFF2-40B4-BE49-F238E27FC236}">
                <a16:creationId xmlns:a16="http://schemas.microsoft.com/office/drawing/2014/main" id="{82F9F797-0020-A2D1-ADCE-3F8AE61C48A4}"/>
              </a:ext>
            </a:extLst>
          </p:cNvPr>
          <p:cNvSpPr/>
          <p:nvPr/>
        </p:nvSpPr>
        <p:spPr>
          <a:xfrm>
            <a:off x="7304329" y="1711150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1.00</a:t>
            </a:r>
            <a:endParaRPr lang="en-US" sz="850" dirty="0"/>
          </a:p>
        </p:txBody>
      </p:sp>
      <p:sp>
        <p:nvSpPr>
          <p:cNvPr id="18" name="Shape 31">
            <a:extLst>
              <a:ext uri="{FF2B5EF4-FFF2-40B4-BE49-F238E27FC236}">
                <a16:creationId xmlns:a16="http://schemas.microsoft.com/office/drawing/2014/main" id="{A923B5F5-A4DB-96A1-9DEA-68448F797E94}"/>
              </a:ext>
            </a:extLst>
          </p:cNvPr>
          <p:cNvSpPr/>
          <p:nvPr/>
        </p:nvSpPr>
        <p:spPr>
          <a:xfrm>
            <a:off x="8044993" y="1711150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32">
            <a:extLst>
              <a:ext uri="{FF2B5EF4-FFF2-40B4-BE49-F238E27FC236}">
                <a16:creationId xmlns:a16="http://schemas.microsoft.com/office/drawing/2014/main" id="{1BC2A784-894B-285B-3743-02EFDDA91AB8}"/>
              </a:ext>
            </a:extLst>
          </p:cNvPr>
          <p:cNvSpPr/>
          <p:nvPr/>
        </p:nvSpPr>
        <p:spPr>
          <a:xfrm>
            <a:off x="8081569" y="171115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0.02</a:t>
            </a:r>
            <a:endParaRPr lang="en-US" sz="850" dirty="0"/>
          </a:p>
        </p:txBody>
      </p:sp>
      <p:sp>
        <p:nvSpPr>
          <p:cNvPr id="20" name="Shape 33">
            <a:extLst>
              <a:ext uri="{FF2B5EF4-FFF2-40B4-BE49-F238E27FC236}">
                <a16:creationId xmlns:a16="http://schemas.microsoft.com/office/drawing/2014/main" id="{6D975379-EEEB-2F24-8242-E7E98B3D02FD}"/>
              </a:ext>
            </a:extLst>
          </p:cNvPr>
          <p:cNvSpPr/>
          <p:nvPr/>
        </p:nvSpPr>
        <p:spPr>
          <a:xfrm>
            <a:off x="4369105" y="2058622"/>
            <a:ext cx="21031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34">
            <a:extLst>
              <a:ext uri="{FF2B5EF4-FFF2-40B4-BE49-F238E27FC236}">
                <a16:creationId xmlns:a16="http://schemas.microsoft.com/office/drawing/2014/main" id="{838D90B2-5B36-5886-A7C6-991AF4CE919B}"/>
              </a:ext>
            </a:extLst>
          </p:cNvPr>
          <p:cNvSpPr/>
          <p:nvPr/>
        </p:nvSpPr>
        <p:spPr>
          <a:xfrm>
            <a:off x="4405681" y="205862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보호구역</a:t>
            </a:r>
            <a:endParaRPr lang="en-US" sz="800" dirty="0"/>
          </a:p>
        </p:txBody>
      </p:sp>
      <p:sp>
        <p:nvSpPr>
          <p:cNvPr id="22" name="Shape 35">
            <a:extLst>
              <a:ext uri="{FF2B5EF4-FFF2-40B4-BE49-F238E27FC236}">
                <a16:creationId xmlns:a16="http://schemas.microsoft.com/office/drawing/2014/main" id="{5F8B9701-F2C7-9DB9-DE20-B35E2916F1A6}"/>
              </a:ext>
            </a:extLst>
          </p:cNvPr>
          <p:cNvSpPr/>
          <p:nvPr/>
        </p:nvSpPr>
        <p:spPr>
          <a:xfrm>
            <a:off x="6499657" y="2058622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36">
            <a:extLst>
              <a:ext uri="{FF2B5EF4-FFF2-40B4-BE49-F238E27FC236}">
                <a16:creationId xmlns:a16="http://schemas.microsoft.com/office/drawing/2014/main" id="{C59CF600-2C0C-A1DB-AB29-D2F12B28E43B}"/>
              </a:ext>
            </a:extLst>
          </p:cNvPr>
          <p:cNvSpPr/>
          <p:nvPr/>
        </p:nvSpPr>
        <p:spPr>
          <a:xfrm>
            <a:off x="6536233" y="2058622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C7B71C3B-E55C-D2B0-3B85-319C386F7994}"/>
              </a:ext>
            </a:extLst>
          </p:cNvPr>
          <p:cNvSpPr/>
          <p:nvPr/>
        </p:nvSpPr>
        <p:spPr>
          <a:xfrm>
            <a:off x="7267753" y="2058622"/>
            <a:ext cx="7772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68693F1E-5F78-D3B1-5EC2-64D676B1515B}"/>
              </a:ext>
            </a:extLst>
          </p:cNvPr>
          <p:cNvSpPr/>
          <p:nvPr/>
        </p:nvSpPr>
        <p:spPr>
          <a:xfrm>
            <a:off x="7304329" y="2058622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46" name="Shape 39">
            <a:extLst>
              <a:ext uri="{FF2B5EF4-FFF2-40B4-BE49-F238E27FC236}">
                <a16:creationId xmlns:a16="http://schemas.microsoft.com/office/drawing/2014/main" id="{2360E609-56B4-F804-3296-B534A57478CF}"/>
              </a:ext>
            </a:extLst>
          </p:cNvPr>
          <p:cNvSpPr/>
          <p:nvPr/>
        </p:nvSpPr>
        <p:spPr>
          <a:xfrm>
            <a:off x="8044993" y="2058622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9BE1362B-7E54-3C90-3427-88B8987C8E93}"/>
              </a:ext>
            </a:extLst>
          </p:cNvPr>
          <p:cNvSpPr/>
          <p:nvPr/>
        </p:nvSpPr>
        <p:spPr>
          <a:xfrm>
            <a:off x="8081569" y="2058622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51" name="Shape 41">
            <a:extLst>
              <a:ext uri="{FF2B5EF4-FFF2-40B4-BE49-F238E27FC236}">
                <a16:creationId xmlns:a16="http://schemas.microsoft.com/office/drawing/2014/main" id="{7DE7E985-78D1-6AAE-6C4B-D869674EE322}"/>
              </a:ext>
            </a:extLst>
          </p:cNvPr>
          <p:cNvSpPr/>
          <p:nvPr/>
        </p:nvSpPr>
        <p:spPr>
          <a:xfrm>
            <a:off x="4369105" y="2406094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2">
            <a:extLst>
              <a:ext uri="{FF2B5EF4-FFF2-40B4-BE49-F238E27FC236}">
                <a16:creationId xmlns:a16="http://schemas.microsoft.com/office/drawing/2014/main" id="{0738F245-CE37-5513-B361-3A3431FC36AF}"/>
              </a:ext>
            </a:extLst>
          </p:cNvPr>
          <p:cNvSpPr/>
          <p:nvPr/>
        </p:nvSpPr>
        <p:spPr>
          <a:xfrm>
            <a:off x="4405681" y="240609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속도제한40_60</a:t>
            </a:r>
            <a:endParaRPr lang="en-US" sz="800" dirty="0"/>
          </a:p>
        </p:txBody>
      </p:sp>
      <p:sp>
        <p:nvSpPr>
          <p:cNvPr id="53" name="Shape 43">
            <a:extLst>
              <a:ext uri="{FF2B5EF4-FFF2-40B4-BE49-F238E27FC236}">
                <a16:creationId xmlns:a16="http://schemas.microsoft.com/office/drawing/2014/main" id="{861A85F3-4E48-24E0-E722-86BB165438B5}"/>
              </a:ext>
            </a:extLst>
          </p:cNvPr>
          <p:cNvSpPr/>
          <p:nvPr/>
        </p:nvSpPr>
        <p:spPr>
          <a:xfrm>
            <a:off x="6499657" y="2406094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4">
            <a:extLst>
              <a:ext uri="{FF2B5EF4-FFF2-40B4-BE49-F238E27FC236}">
                <a16:creationId xmlns:a16="http://schemas.microsoft.com/office/drawing/2014/main" id="{5D2716E3-6FC6-1D46-11E7-EAC1B86A5770}"/>
              </a:ext>
            </a:extLst>
          </p:cNvPr>
          <p:cNvSpPr/>
          <p:nvPr/>
        </p:nvSpPr>
        <p:spPr>
          <a:xfrm>
            <a:off x="6536233" y="240609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55" name="Shape 45">
            <a:extLst>
              <a:ext uri="{FF2B5EF4-FFF2-40B4-BE49-F238E27FC236}">
                <a16:creationId xmlns:a16="http://schemas.microsoft.com/office/drawing/2014/main" id="{8F31630A-0002-EB7C-CE82-E97467691174}"/>
              </a:ext>
            </a:extLst>
          </p:cNvPr>
          <p:cNvSpPr/>
          <p:nvPr/>
        </p:nvSpPr>
        <p:spPr>
          <a:xfrm>
            <a:off x="7267753" y="2406094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6">
            <a:extLst>
              <a:ext uri="{FF2B5EF4-FFF2-40B4-BE49-F238E27FC236}">
                <a16:creationId xmlns:a16="http://schemas.microsoft.com/office/drawing/2014/main" id="{09CB31B3-C6DD-00AC-C1C5-6D2CA3AF3668}"/>
              </a:ext>
            </a:extLst>
          </p:cNvPr>
          <p:cNvSpPr/>
          <p:nvPr/>
        </p:nvSpPr>
        <p:spPr>
          <a:xfrm>
            <a:off x="7304329" y="2406094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57" name="Shape 47">
            <a:extLst>
              <a:ext uri="{FF2B5EF4-FFF2-40B4-BE49-F238E27FC236}">
                <a16:creationId xmlns:a16="http://schemas.microsoft.com/office/drawing/2014/main" id="{7B061174-06B0-7C68-5C56-F5598D4D52DF}"/>
              </a:ext>
            </a:extLst>
          </p:cNvPr>
          <p:cNvSpPr/>
          <p:nvPr/>
        </p:nvSpPr>
        <p:spPr>
          <a:xfrm>
            <a:off x="8044993" y="2406094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8">
            <a:extLst>
              <a:ext uri="{FF2B5EF4-FFF2-40B4-BE49-F238E27FC236}">
                <a16:creationId xmlns:a16="http://schemas.microsoft.com/office/drawing/2014/main" id="{2A2E50E1-7B8C-E642-8394-76F816158475}"/>
              </a:ext>
            </a:extLst>
          </p:cNvPr>
          <p:cNvSpPr/>
          <p:nvPr/>
        </p:nvSpPr>
        <p:spPr>
          <a:xfrm>
            <a:off x="8081569" y="240609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59" name="Shape 49">
            <a:extLst>
              <a:ext uri="{FF2B5EF4-FFF2-40B4-BE49-F238E27FC236}">
                <a16:creationId xmlns:a16="http://schemas.microsoft.com/office/drawing/2014/main" id="{2F702507-9F6C-D881-4B9F-D95E9FC78197}"/>
              </a:ext>
            </a:extLst>
          </p:cNvPr>
          <p:cNvSpPr/>
          <p:nvPr/>
        </p:nvSpPr>
        <p:spPr>
          <a:xfrm>
            <a:off x="4369105" y="2753566"/>
            <a:ext cx="21031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0">
            <a:extLst>
              <a:ext uri="{FF2B5EF4-FFF2-40B4-BE49-F238E27FC236}">
                <a16:creationId xmlns:a16="http://schemas.microsoft.com/office/drawing/2014/main" id="{C896C7FC-C376-F583-08FB-BFFD236B25A0}"/>
              </a:ext>
            </a:extLst>
          </p:cNvPr>
          <p:cNvSpPr/>
          <p:nvPr/>
        </p:nvSpPr>
        <p:spPr>
          <a:xfrm>
            <a:off x="4405681" y="2753566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속도제한70_80</a:t>
            </a:r>
            <a:endParaRPr lang="en-US" sz="800" dirty="0"/>
          </a:p>
        </p:txBody>
      </p:sp>
      <p:sp>
        <p:nvSpPr>
          <p:cNvPr id="61" name="Shape 51">
            <a:extLst>
              <a:ext uri="{FF2B5EF4-FFF2-40B4-BE49-F238E27FC236}">
                <a16:creationId xmlns:a16="http://schemas.microsoft.com/office/drawing/2014/main" id="{9E67C90D-64C4-EE7B-5CEB-D3DA9786DC96}"/>
              </a:ext>
            </a:extLst>
          </p:cNvPr>
          <p:cNvSpPr/>
          <p:nvPr/>
        </p:nvSpPr>
        <p:spPr>
          <a:xfrm>
            <a:off x="6499657" y="2753566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2">
            <a:extLst>
              <a:ext uri="{FF2B5EF4-FFF2-40B4-BE49-F238E27FC236}">
                <a16:creationId xmlns:a16="http://schemas.microsoft.com/office/drawing/2014/main" id="{2E2BE6B4-B4D7-E188-E17B-C043B869F05D}"/>
              </a:ext>
            </a:extLst>
          </p:cNvPr>
          <p:cNvSpPr/>
          <p:nvPr/>
        </p:nvSpPr>
        <p:spPr>
          <a:xfrm>
            <a:off x="6536233" y="2753566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63" name="Shape 53">
            <a:extLst>
              <a:ext uri="{FF2B5EF4-FFF2-40B4-BE49-F238E27FC236}">
                <a16:creationId xmlns:a16="http://schemas.microsoft.com/office/drawing/2014/main" id="{56027FB1-226F-B18B-53A4-F9FD5C129A19}"/>
              </a:ext>
            </a:extLst>
          </p:cNvPr>
          <p:cNvSpPr/>
          <p:nvPr/>
        </p:nvSpPr>
        <p:spPr>
          <a:xfrm>
            <a:off x="7267753" y="2753566"/>
            <a:ext cx="7772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4">
            <a:extLst>
              <a:ext uri="{FF2B5EF4-FFF2-40B4-BE49-F238E27FC236}">
                <a16:creationId xmlns:a16="http://schemas.microsoft.com/office/drawing/2014/main" id="{7DFC047D-C85B-AEF4-FD68-4640AC9D4889}"/>
              </a:ext>
            </a:extLst>
          </p:cNvPr>
          <p:cNvSpPr/>
          <p:nvPr/>
        </p:nvSpPr>
        <p:spPr>
          <a:xfrm>
            <a:off x="7304329" y="2753566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65" name="Shape 55">
            <a:extLst>
              <a:ext uri="{FF2B5EF4-FFF2-40B4-BE49-F238E27FC236}">
                <a16:creationId xmlns:a16="http://schemas.microsoft.com/office/drawing/2014/main" id="{CC1E723E-34F8-A96C-26DC-D05B60688D94}"/>
              </a:ext>
            </a:extLst>
          </p:cNvPr>
          <p:cNvSpPr/>
          <p:nvPr/>
        </p:nvSpPr>
        <p:spPr>
          <a:xfrm>
            <a:off x="8044993" y="2753566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56">
            <a:extLst>
              <a:ext uri="{FF2B5EF4-FFF2-40B4-BE49-F238E27FC236}">
                <a16:creationId xmlns:a16="http://schemas.microsoft.com/office/drawing/2014/main" id="{6B2F1C9F-9EAE-87A6-D144-B827857EE9DC}"/>
              </a:ext>
            </a:extLst>
          </p:cNvPr>
          <p:cNvSpPr/>
          <p:nvPr/>
        </p:nvSpPr>
        <p:spPr>
          <a:xfrm>
            <a:off x="8081569" y="2753566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67" name="Shape 57">
            <a:extLst>
              <a:ext uri="{FF2B5EF4-FFF2-40B4-BE49-F238E27FC236}">
                <a16:creationId xmlns:a16="http://schemas.microsoft.com/office/drawing/2014/main" id="{A202FBD9-8B90-1EEA-C889-1BB245A5CB39}"/>
              </a:ext>
            </a:extLst>
          </p:cNvPr>
          <p:cNvSpPr/>
          <p:nvPr/>
        </p:nvSpPr>
        <p:spPr>
          <a:xfrm>
            <a:off x="4369105" y="3101038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58">
            <a:extLst>
              <a:ext uri="{FF2B5EF4-FFF2-40B4-BE49-F238E27FC236}">
                <a16:creationId xmlns:a16="http://schemas.microsoft.com/office/drawing/2014/main" id="{35147B5F-9B93-A3B9-07FF-B8ADB93C8F3F}"/>
              </a:ext>
            </a:extLst>
          </p:cNvPr>
          <p:cNvSpPr/>
          <p:nvPr/>
        </p:nvSpPr>
        <p:spPr>
          <a:xfrm>
            <a:off x="4405681" y="3101038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속도제한90이상</a:t>
            </a:r>
            <a:endParaRPr lang="en-US" sz="800" dirty="0"/>
          </a:p>
        </p:txBody>
      </p:sp>
      <p:sp>
        <p:nvSpPr>
          <p:cNvPr id="69" name="Shape 59">
            <a:extLst>
              <a:ext uri="{FF2B5EF4-FFF2-40B4-BE49-F238E27FC236}">
                <a16:creationId xmlns:a16="http://schemas.microsoft.com/office/drawing/2014/main" id="{FEF0C097-5A6F-71BD-FE82-86A6858E37E0}"/>
              </a:ext>
            </a:extLst>
          </p:cNvPr>
          <p:cNvSpPr/>
          <p:nvPr/>
        </p:nvSpPr>
        <p:spPr>
          <a:xfrm>
            <a:off x="6499657" y="3101038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0">
            <a:extLst>
              <a:ext uri="{FF2B5EF4-FFF2-40B4-BE49-F238E27FC236}">
                <a16:creationId xmlns:a16="http://schemas.microsoft.com/office/drawing/2014/main" id="{353EF636-A9A5-8A1F-660A-5395D30B0DB6}"/>
              </a:ext>
            </a:extLst>
          </p:cNvPr>
          <p:cNvSpPr/>
          <p:nvPr/>
        </p:nvSpPr>
        <p:spPr>
          <a:xfrm>
            <a:off x="6536233" y="3101038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71" name="Shape 61">
            <a:extLst>
              <a:ext uri="{FF2B5EF4-FFF2-40B4-BE49-F238E27FC236}">
                <a16:creationId xmlns:a16="http://schemas.microsoft.com/office/drawing/2014/main" id="{E9DB8619-32C6-542D-CE8B-71A9D297739B}"/>
              </a:ext>
            </a:extLst>
          </p:cNvPr>
          <p:cNvSpPr/>
          <p:nvPr/>
        </p:nvSpPr>
        <p:spPr>
          <a:xfrm>
            <a:off x="7267753" y="3101038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2">
            <a:extLst>
              <a:ext uri="{FF2B5EF4-FFF2-40B4-BE49-F238E27FC236}">
                <a16:creationId xmlns:a16="http://schemas.microsoft.com/office/drawing/2014/main" id="{3EBFCADA-9E59-D729-EB04-9CF1FE2288EF}"/>
              </a:ext>
            </a:extLst>
          </p:cNvPr>
          <p:cNvSpPr/>
          <p:nvPr/>
        </p:nvSpPr>
        <p:spPr>
          <a:xfrm>
            <a:off x="7304329" y="3101038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73" name="Shape 63">
            <a:extLst>
              <a:ext uri="{FF2B5EF4-FFF2-40B4-BE49-F238E27FC236}">
                <a16:creationId xmlns:a16="http://schemas.microsoft.com/office/drawing/2014/main" id="{D3E28DCC-1A0C-36E2-EE55-868479B0A887}"/>
              </a:ext>
            </a:extLst>
          </p:cNvPr>
          <p:cNvSpPr/>
          <p:nvPr/>
        </p:nvSpPr>
        <p:spPr>
          <a:xfrm>
            <a:off x="8044993" y="3101038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64">
            <a:extLst>
              <a:ext uri="{FF2B5EF4-FFF2-40B4-BE49-F238E27FC236}">
                <a16:creationId xmlns:a16="http://schemas.microsoft.com/office/drawing/2014/main" id="{0552C38F-CE47-7F3F-4B97-206B4FA7F5E4}"/>
              </a:ext>
            </a:extLst>
          </p:cNvPr>
          <p:cNvSpPr/>
          <p:nvPr/>
        </p:nvSpPr>
        <p:spPr>
          <a:xfrm>
            <a:off x="8081569" y="3101038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75" name="Shape 65">
            <a:extLst>
              <a:ext uri="{FF2B5EF4-FFF2-40B4-BE49-F238E27FC236}">
                <a16:creationId xmlns:a16="http://schemas.microsoft.com/office/drawing/2014/main" id="{E0DEEA76-A2D5-EFEF-3B64-89465E6F0D7A}"/>
              </a:ext>
            </a:extLst>
          </p:cNvPr>
          <p:cNvSpPr/>
          <p:nvPr/>
        </p:nvSpPr>
        <p:spPr>
          <a:xfrm>
            <a:off x="4369105" y="3448510"/>
            <a:ext cx="21031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66">
            <a:extLst>
              <a:ext uri="{FF2B5EF4-FFF2-40B4-BE49-F238E27FC236}">
                <a16:creationId xmlns:a16="http://schemas.microsoft.com/office/drawing/2014/main" id="{1C841848-15C1-DDE2-8650-958394F5CBC5}"/>
              </a:ext>
            </a:extLst>
          </p:cNvPr>
          <p:cNvSpPr/>
          <p:nvPr/>
        </p:nvSpPr>
        <p:spPr>
          <a:xfrm>
            <a:off x="4405681" y="344851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스쿨존_속도제한30이하</a:t>
            </a:r>
            <a:endParaRPr lang="en-US" sz="800" dirty="0"/>
          </a:p>
        </p:txBody>
      </p:sp>
      <p:sp>
        <p:nvSpPr>
          <p:cNvPr id="77" name="Shape 67">
            <a:extLst>
              <a:ext uri="{FF2B5EF4-FFF2-40B4-BE49-F238E27FC236}">
                <a16:creationId xmlns:a16="http://schemas.microsoft.com/office/drawing/2014/main" id="{19367174-BAD4-3912-DD2E-02E89C5CFCB7}"/>
              </a:ext>
            </a:extLst>
          </p:cNvPr>
          <p:cNvSpPr/>
          <p:nvPr/>
        </p:nvSpPr>
        <p:spPr>
          <a:xfrm>
            <a:off x="6499657" y="3448510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68">
            <a:extLst>
              <a:ext uri="{FF2B5EF4-FFF2-40B4-BE49-F238E27FC236}">
                <a16:creationId xmlns:a16="http://schemas.microsoft.com/office/drawing/2014/main" id="{537A3AA3-55A5-7D91-BD4C-A8577B900203}"/>
              </a:ext>
            </a:extLst>
          </p:cNvPr>
          <p:cNvSpPr/>
          <p:nvPr/>
        </p:nvSpPr>
        <p:spPr>
          <a:xfrm>
            <a:off x="6536233" y="344851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79" name="Shape 69">
            <a:extLst>
              <a:ext uri="{FF2B5EF4-FFF2-40B4-BE49-F238E27FC236}">
                <a16:creationId xmlns:a16="http://schemas.microsoft.com/office/drawing/2014/main" id="{744E5F13-1551-E655-5C4B-28AE4890E625}"/>
              </a:ext>
            </a:extLst>
          </p:cNvPr>
          <p:cNvSpPr/>
          <p:nvPr/>
        </p:nvSpPr>
        <p:spPr>
          <a:xfrm>
            <a:off x="7267753" y="3448510"/>
            <a:ext cx="7772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0">
            <a:extLst>
              <a:ext uri="{FF2B5EF4-FFF2-40B4-BE49-F238E27FC236}">
                <a16:creationId xmlns:a16="http://schemas.microsoft.com/office/drawing/2014/main" id="{12AF6E1F-0D64-CE4B-8195-9D5E1B571976}"/>
              </a:ext>
            </a:extLst>
          </p:cNvPr>
          <p:cNvSpPr/>
          <p:nvPr/>
        </p:nvSpPr>
        <p:spPr>
          <a:xfrm>
            <a:off x="7304329" y="3448510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81" name="Shape 71">
            <a:extLst>
              <a:ext uri="{FF2B5EF4-FFF2-40B4-BE49-F238E27FC236}">
                <a16:creationId xmlns:a16="http://schemas.microsoft.com/office/drawing/2014/main" id="{375772E3-B2F5-80E0-61C3-81C4E24EA246}"/>
              </a:ext>
            </a:extLst>
          </p:cNvPr>
          <p:cNvSpPr/>
          <p:nvPr/>
        </p:nvSpPr>
        <p:spPr>
          <a:xfrm>
            <a:off x="8044993" y="3448510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72">
            <a:extLst>
              <a:ext uri="{FF2B5EF4-FFF2-40B4-BE49-F238E27FC236}">
                <a16:creationId xmlns:a16="http://schemas.microsoft.com/office/drawing/2014/main" id="{E9FFACBE-AD96-F4AC-2BCC-D4C9062E1F49}"/>
              </a:ext>
            </a:extLst>
          </p:cNvPr>
          <p:cNvSpPr/>
          <p:nvPr/>
        </p:nvSpPr>
        <p:spPr>
          <a:xfrm>
            <a:off x="8081569" y="344851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83" name="Shape 73">
            <a:extLst>
              <a:ext uri="{FF2B5EF4-FFF2-40B4-BE49-F238E27FC236}">
                <a16:creationId xmlns:a16="http://schemas.microsoft.com/office/drawing/2014/main" id="{C0A589A7-4B77-64D7-FF71-6979BF4AE1CB}"/>
              </a:ext>
            </a:extLst>
          </p:cNvPr>
          <p:cNvSpPr/>
          <p:nvPr/>
        </p:nvSpPr>
        <p:spPr>
          <a:xfrm>
            <a:off x="4369105" y="3795982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74">
            <a:extLst>
              <a:ext uri="{FF2B5EF4-FFF2-40B4-BE49-F238E27FC236}">
                <a16:creationId xmlns:a16="http://schemas.microsoft.com/office/drawing/2014/main" id="{7CFF7EBC-49AA-241B-B42C-8696D6687894}"/>
              </a:ext>
            </a:extLst>
          </p:cNvPr>
          <p:cNvSpPr/>
          <p:nvPr/>
        </p:nvSpPr>
        <p:spPr>
          <a:xfrm>
            <a:off x="4405681" y="379598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주의표지</a:t>
            </a:r>
            <a:endParaRPr lang="en-US" sz="800" dirty="0"/>
          </a:p>
        </p:txBody>
      </p:sp>
      <p:sp>
        <p:nvSpPr>
          <p:cNvPr id="85" name="Shape 75">
            <a:extLst>
              <a:ext uri="{FF2B5EF4-FFF2-40B4-BE49-F238E27FC236}">
                <a16:creationId xmlns:a16="http://schemas.microsoft.com/office/drawing/2014/main" id="{6A83D7DA-2B83-2A81-2BFE-586760BC91A0}"/>
              </a:ext>
            </a:extLst>
          </p:cNvPr>
          <p:cNvSpPr/>
          <p:nvPr/>
        </p:nvSpPr>
        <p:spPr>
          <a:xfrm>
            <a:off x="6499657" y="3795982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76">
            <a:extLst>
              <a:ext uri="{FF2B5EF4-FFF2-40B4-BE49-F238E27FC236}">
                <a16:creationId xmlns:a16="http://schemas.microsoft.com/office/drawing/2014/main" id="{D3404B24-FA64-8BDE-9AAD-5E5D243FBF63}"/>
              </a:ext>
            </a:extLst>
          </p:cNvPr>
          <p:cNvSpPr/>
          <p:nvPr/>
        </p:nvSpPr>
        <p:spPr>
          <a:xfrm>
            <a:off x="6536233" y="3795982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87" name="Shape 77">
            <a:extLst>
              <a:ext uri="{FF2B5EF4-FFF2-40B4-BE49-F238E27FC236}">
                <a16:creationId xmlns:a16="http://schemas.microsoft.com/office/drawing/2014/main" id="{B57A9DE2-FB5F-D3B1-38AB-8A8C6EE993AF}"/>
              </a:ext>
            </a:extLst>
          </p:cNvPr>
          <p:cNvSpPr/>
          <p:nvPr/>
        </p:nvSpPr>
        <p:spPr>
          <a:xfrm>
            <a:off x="7267753" y="3795982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78">
            <a:extLst>
              <a:ext uri="{FF2B5EF4-FFF2-40B4-BE49-F238E27FC236}">
                <a16:creationId xmlns:a16="http://schemas.microsoft.com/office/drawing/2014/main" id="{0236371C-B677-9DD3-D459-37153475148C}"/>
              </a:ext>
            </a:extLst>
          </p:cNvPr>
          <p:cNvSpPr/>
          <p:nvPr/>
        </p:nvSpPr>
        <p:spPr>
          <a:xfrm>
            <a:off x="7304329" y="3795982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89" name="Shape 79">
            <a:extLst>
              <a:ext uri="{FF2B5EF4-FFF2-40B4-BE49-F238E27FC236}">
                <a16:creationId xmlns:a16="http://schemas.microsoft.com/office/drawing/2014/main" id="{F27F4231-8A5F-B191-2621-0375B25A7DB8}"/>
              </a:ext>
            </a:extLst>
          </p:cNvPr>
          <p:cNvSpPr/>
          <p:nvPr/>
        </p:nvSpPr>
        <p:spPr>
          <a:xfrm>
            <a:off x="8044993" y="3795982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0">
            <a:extLst>
              <a:ext uri="{FF2B5EF4-FFF2-40B4-BE49-F238E27FC236}">
                <a16:creationId xmlns:a16="http://schemas.microsoft.com/office/drawing/2014/main" id="{2107F05B-6292-757E-9863-B11C595BEEBA}"/>
              </a:ext>
            </a:extLst>
          </p:cNvPr>
          <p:cNvSpPr/>
          <p:nvPr/>
        </p:nvSpPr>
        <p:spPr>
          <a:xfrm>
            <a:off x="8081569" y="3795982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91" name="Shape 81">
            <a:extLst>
              <a:ext uri="{FF2B5EF4-FFF2-40B4-BE49-F238E27FC236}">
                <a16:creationId xmlns:a16="http://schemas.microsoft.com/office/drawing/2014/main" id="{ADA75BB0-08BE-E21D-4192-F6470CA2589C}"/>
              </a:ext>
            </a:extLst>
          </p:cNvPr>
          <p:cNvSpPr/>
          <p:nvPr/>
        </p:nvSpPr>
        <p:spPr>
          <a:xfrm>
            <a:off x="4369105" y="4143454"/>
            <a:ext cx="21031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82">
            <a:extLst>
              <a:ext uri="{FF2B5EF4-FFF2-40B4-BE49-F238E27FC236}">
                <a16:creationId xmlns:a16="http://schemas.microsoft.com/office/drawing/2014/main" id="{1C45045B-85E2-69F0-EE61-CD3294F4515D}"/>
              </a:ext>
            </a:extLst>
          </p:cNvPr>
          <p:cNvSpPr/>
          <p:nvPr/>
        </p:nvSpPr>
        <p:spPr>
          <a:xfrm>
            <a:off x="4405681" y="414345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지시표지</a:t>
            </a:r>
            <a:endParaRPr lang="en-US" sz="800" dirty="0"/>
          </a:p>
        </p:txBody>
      </p:sp>
      <p:sp>
        <p:nvSpPr>
          <p:cNvPr id="93" name="Shape 83">
            <a:extLst>
              <a:ext uri="{FF2B5EF4-FFF2-40B4-BE49-F238E27FC236}">
                <a16:creationId xmlns:a16="http://schemas.microsoft.com/office/drawing/2014/main" id="{31151147-43C2-F51C-5E95-618107D50725}"/>
              </a:ext>
            </a:extLst>
          </p:cNvPr>
          <p:cNvSpPr/>
          <p:nvPr/>
        </p:nvSpPr>
        <p:spPr>
          <a:xfrm>
            <a:off x="6499657" y="4143454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84">
            <a:extLst>
              <a:ext uri="{FF2B5EF4-FFF2-40B4-BE49-F238E27FC236}">
                <a16:creationId xmlns:a16="http://schemas.microsoft.com/office/drawing/2014/main" id="{72BF0169-F63E-026F-69A5-9548FDAA9F40}"/>
              </a:ext>
            </a:extLst>
          </p:cNvPr>
          <p:cNvSpPr/>
          <p:nvPr/>
        </p:nvSpPr>
        <p:spPr>
          <a:xfrm>
            <a:off x="6536233" y="414345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95" name="Shape 85">
            <a:extLst>
              <a:ext uri="{FF2B5EF4-FFF2-40B4-BE49-F238E27FC236}">
                <a16:creationId xmlns:a16="http://schemas.microsoft.com/office/drawing/2014/main" id="{ECAD8CF8-9089-3CB5-4F26-4C2084CCF9E5}"/>
              </a:ext>
            </a:extLst>
          </p:cNvPr>
          <p:cNvSpPr/>
          <p:nvPr/>
        </p:nvSpPr>
        <p:spPr>
          <a:xfrm>
            <a:off x="7267753" y="4143454"/>
            <a:ext cx="7772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86">
            <a:extLst>
              <a:ext uri="{FF2B5EF4-FFF2-40B4-BE49-F238E27FC236}">
                <a16:creationId xmlns:a16="http://schemas.microsoft.com/office/drawing/2014/main" id="{A14A5E67-D111-DC99-5946-5D881FCEDEC9}"/>
              </a:ext>
            </a:extLst>
          </p:cNvPr>
          <p:cNvSpPr/>
          <p:nvPr/>
        </p:nvSpPr>
        <p:spPr>
          <a:xfrm>
            <a:off x="7304329" y="4143454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97" name="Shape 87">
            <a:extLst>
              <a:ext uri="{FF2B5EF4-FFF2-40B4-BE49-F238E27FC236}">
                <a16:creationId xmlns:a16="http://schemas.microsoft.com/office/drawing/2014/main" id="{49E0D0D9-DA6A-173D-CC94-09023BD02EC9}"/>
              </a:ext>
            </a:extLst>
          </p:cNvPr>
          <p:cNvSpPr/>
          <p:nvPr/>
        </p:nvSpPr>
        <p:spPr>
          <a:xfrm>
            <a:off x="8044993" y="4143454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88">
            <a:extLst>
              <a:ext uri="{FF2B5EF4-FFF2-40B4-BE49-F238E27FC236}">
                <a16:creationId xmlns:a16="http://schemas.microsoft.com/office/drawing/2014/main" id="{90C46741-F056-3611-DF2C-7C074A41CC8C}"/>
              </a:ext>
            </a:extLst>
          </p:cNvPr>
          <p:cNvSpPr/>
          <p:nvPr/>
        </p:nvSpPr>
        <p:spPr>
          <a:xfrm>
            <a:off x="8081569" y="414345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99" name="Shape 89">
            <a:extLst>
              <a:ext uri="{FF2B5EF4-FFF2-40B4-BE49-F238E27FC236}">
                <a16:creationId xmlns:a16="http://schemas.microsoft.com/office/drawing/2014/main" id="{3939E06B-8283-9AA1-F746-88EE090D2B32}"/>
              </a:ext>
            </a:extLst>
          </p:cNvPr>
          <p:cNvSpPr/>
          <p:nvPr/>
        </p:nvSpPr>
        <p:spPr>
          <a:xfrm>
            <a:off x="4369105" y="4490926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0">
            <a:extLst>
              <a:ext uri="{FF2B5EF4-FFF2-40B4-BE49-F238E27FC236}">
                <a16:creationId xmlns:a16="http://schemas.microsoft.com/office/drawing/2014/main" id="{4645B593-5730-1A69-5F2D-BC8070399CBA}"/>
              </a:ext>
            </a:extLst>
          </p:cNvPr>
          <p:cNvSpPr/>
          <p:nvPr/>
        </p:nvSpPr>
        <p:spPr>
          <a:xfrm>
            <a:off x="4405681" y="4490926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진입_주정차금지</a:t>
            </a:r>
            <a:endParaRPr lang="en-US" sz="800" dirty="0"/>
          </a:p>
        </p:txBody>
      </p:sp>
      <p:sp>
        <p:nvSpPr>
          <p:cNvPr id="101" name="Shape 91">
            <a:extLst>
              <a:ext uri="{FF2B5EF4-FFF2-40B4-BE49-F238E27FC236}">
                <a16:creationId xmlns:a16="http://schemas.microsoft.com/office/drawing/2014/main" id="{F9FA8273-8CBA-2E73-FD72-76E57D9CC6FD}"/>
              </a:ext>
            </a:extLst>
          </p:cNvPr>
          <p:cNvSpPr/>
          <p:nvPr/>
        </p:nvSpPr>
        <p:spPr>
          <a:xfrm>
            <a:off x="6499657" y="4490926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92">
            <a:extLst>
              <a:ext uri="{FF2B5EF4-FFF2-40B4-BE49-F238E27FC236}">
                <a16:creationId xmlns:a16="http://schemas.microsoft.com/office/drawing/2014/main" id="{575E681C-C742-080E-7CF7-470C67812A59}"/>
              </a:ext>
            </a:extLst>
          </p:cNvPr>
          <p:cNvSpPr/>
          <p:nvPr/>
        </p:nvSpPr>
        <p:spPr>
          <a:xfrm>
            <a:off x="6536233" y="4490926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103" name="Shape 93">
            <a:extLst>
              <a:ext uri="{FF2B5EF4-FFF2-40B4-BE49-F238E27FC236}">
                <a16:creationId xmlns:a16="http://schemas.microsoft.com/office/drawing/2014/main" id="{09B7A9E5-70E0-7F9D-D7F0-F4254E2D1B8D}"/>
              </a:ext>
            </a:extLst>
          </p:cNvPr>
          <p:cNvSpPr/>
          <p:nvPr/>
        </p:nvSpPr>
        <p:spPr>
          <a:xfrm>
            <a:off x="7267753" y="4490926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94">
            <a:extLst>
              <a:ext uri="{FF2B5EF4-FFF2-40B4-BE49-F238E27FC236}">
                <a16:creationId xmlns:a16="http://schemas.microsoft.com/office/drawing/2014/main" id="{971FAE83-435F-9204-2D44-7E8D40FC325A}"/>
              </a:ext>
            </a:extLst>
          </p:cNvPr>
          <p:cNvSpPr/>
          <p:nvPr/>
        </p:nvSpPr>
        <p:spPr>
          <a:xfrm>
            <a:off x="7304329" y="4490926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105" name="Shape 95">
            <a:extLst>
              <a:ext uri="{FF2B5EF4-FFF2-40B4-BE49-F238E27FC236}">
                <a16:creationId xmlns:a16="http://schemas.microsoft.com/office/drawing/2014/main" id="{2487404D-C30F-FFE0-7276-371174C80167}"/>
              </a:ext>
            </a:extLst>
          </p:cNvPr>
          <p:cNvSpPr/>
          <p:nvPr/>
        </p:nvSpPr>
        <p:spPr>
          <a:xfrm>
            <a:off x="8044993" y="4490926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96">
            <a:extLst>
              <a:ext uri="{FF2B5EF4-FFF2-40B4-BE49-F238E27FC236}">
                <a16:creationId xmlns:a16="http://schemas.microsoft.com/office/drawing/2014/main" id="{6BB34385-FFB8-DBB0-72AB-36369973D160}"/>
              </a:ext>
            </a:extLst>
          </p:cNvPr>
          <p:cNvSpPr/>
          <p:nvPr/>
        </p:nvSpPr>
        <p:spPr>
          <a:xfrm>
            <a:off x="8081569" y="4490926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pic>
        <p:nvPicPr>
          <p:cNvPr id="108" name="그림 107" descr="The image is a confusion matrix visualizing the performance of MobileNetV2, a neural network, against different speed and height restrictions for vehicle detection, categorized by actual presence and absence of vehicles.&#10;&#10;AI 생성 콘텐츠는 정확하지 않을 수 있습니다.">
            <a:extLst>
              <a:ext uri="{FF2B5EF4-FFF2-40B4-BE49-F238E27FC236}">
                <a16:creationId xmlns:a16="http://schemas.microsoft.com/office/drawing/2014/main" id="{35254F5D-015D-BDF9-5FAD-A03FD2721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06" y="1401127"/>
            <a:ext cx="3927820" cy="343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976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VGG16 &amp; MobileNetV2 – 학습 붕괴 &amp; 실패 원인 분석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599" y="1051560"/>
            <a:ext cx="8806543" cy="1754431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28599" y="1051560"/>
            <a:ext cx="8806543" cy="182279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4084" y="1051560"/>
            <a:ext cx="8516217" cy="1822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VGG16 — Test Acc: 29.08%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4084" y="1270294"/>
            <a:ext cx="1645178" cy="241519"/>
          </a:xfrm>
          <a:prstGeom prst="rect">
            <a:avLst/>
          </a:prstGeom>
          <a:solidFill>
            <a:srgbClr val="EDE9FE"/>
          </a:solidFill>
          <a:ln w="88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4084" y="1270294"/>
            <a:ext cx="1645178" cy="241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06038" y="1283965"/>
            <a:ext cx="6774264" cy="227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22,963장을 "진입_주정차금지"로만 예측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6,678/22,963 = 29.08% 통계적 착시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4084" y="1543712"/>
            <a:ext cx="1645178" cy="241519"/>
          </a:xfrm>
          <a:prstGeom prst="rect">
            <a:avLst/>
          </a:prstGeom>
          <a:solidFill>
            <a:srgbClr val="EDE9FE"/>
          </a:solidFill>
          <a:ln w="88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4084" y="1543712"/>
            <a:ext cx="1645178" cy="241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106038" y="1557383"/>
            <a:ext cx="6774264" cy="227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Catastrophic Forgetting: 파인튜닝 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ImageNet 가중치 순식간에 파괴됨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4084" y="1817130"/>
            <a:ext cx="1645178" cy="241519"/>
          </a:xfrm>
          <a:prstGeom prst="rect">
            <a:avLst/>
          </a:prstGeom>
          <a:solidFill>
            <a:srgbClr val="EDE9FE"/>
          </a:solidFill>
          <a:ln w="88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64084" y="1817130"/>
            <a:ext cx="1645178" cy="241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원인②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06038" y="1830801"/>
            <a:ext cx="6774264" cy="227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BN 레이어 없음 → 내부 공변량 변화 취약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수렴 불안정, 과적합 민감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4084" y="2090548"/>
            <a:ext cx="1645178" cy="241519"/>
          </a:xfrm>
          <a:prstGeom prst="rect">
            <a:avLst/>
          </a:prstGeom>
          <a:solidFill>
            <a:srgbClr val="EDE9FE"/>
          </a:solidFill>
          <a:ln w="88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64084" y="2090548"/>
            <a:ext cx="1645178" cy="241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원인③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6038" y="2104219"/>
            <a:ext cx="6774264" cy="227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불균형 + 학습률 부적절 결합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Local Minima 탈출 실패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4084" y="2363966"/>
            <a:ext cx="1645178" cy="241519"/>
          </a:xfrm>
          <a:prstGeom prst="rect">
            <a:avLst/>
          </a:prstGeom>
          <a:solidFill>
            <a:srgbClr val="EDE9FE"/>
          </a:solidFill>
          <a:ln w="88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64084" y="2363966"/>
            <a:ext cx="1645178" cy="2415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손실값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06038" y="2377636"/>
            <a:ext cx="6774264" cy="227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-ln(1/9) ≈ 2.197 = 무작위 찍기 상태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9클래스 랜덤 예측 이론값과 일치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4084" y="2630045"/>
            <a:ext cx="8516217" cy="150380"/>
          </a:xfrm>
          <a:prstGeom prst="rect">
            <a:avLst/>
          </a:prstGeom>
          <a:solidFill>
            <a:srgbClr val="EDE9FE"/>
          </a:solidFill>
          <a:ln w="88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3" name="Text 21"/>
          <p:cNvSpPr/>
          <p:nvPr/>
        </p:nvSpPr>
        <p:spPr>
          <a:xfrm>
            <a:off x="364084" y="2630046"/>
            <a:ext cx="8516217" cy="1503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900" dirty="0" err="1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교훈</a:t>
            </a:r>
            <a:r>
              <a:rPr lang="en-US" altLang="ko-KR" sz="900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</a:t>
            </a:r>
            <a:r>
              <a:rPr lang="en-US" altLang="ko-KR" sz="900" dirty="0">
                <a:solidFill>
                  <a:srgbClr val="7C3AED"/>
                </a:solidFill>
              </a:rPr>
              <a:t> </a:t>
            </a:r>
            <a:r>
              <a:rPr lang="en-US" altLang="ko-KR" sz="900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BN </a:t>
            </a:r>
            <a:r>
              <a:rPr lang="en-US" altLang="ko-KR" sz="900" dirty="0" err="1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</a:t>
            </a:r>
            <a:r>
              <a:rPr lang="en-US" altLang="ko-KR" sz="900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900" dirty="0" err="1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레거시</a:t>
            </a:r>
            <a:r>
              <a:rPr lang="en-US" altLang="ko-KR" sz="900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900" dirty="0" err="1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구조는</a:t>
            </a:r>
            <a:r>
              <a:rPr lang="en-US" altLang="ko-KR" sz="900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900" dirty="0" err="1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파인튜닝</a:t>
            </a:r>
            <a:r>
              <a:rPr lang="en-US" altLang="ko-KR" sz="900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900" dirty="0" err="1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학습률</a:t>
            </a:r>
            <a:r>
              <a:rPr lang="en-US" altLang="ko-KR" sz="900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900" dirty="0" err="1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r>
              <a:rPr lang="en-US" altLang="ko-KR" sz="900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 Catastrophic Forgetting </a:t>
            </a:r>
            <a:r>
              <a:rPr lang="en-US" altLang="ko-KR" sz="900" dirty="0" err="1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</a:t>
            </a:r>
            <a:endParaRPr lang="en-US" altLang="ko-KR" sz="900" dirty="0">
              <a:solidFill>
                <a:srgbClr val="7C3AED"/>
              </a:solidFill>
            </a:endParaRPr>
          </a:p>
        </p:txBody>
      </p:sp>
      <p:pic>
        <p:nvPicPr>
          <p:cNvPr id="48" name="그림 47" descr="The diagram shows the training and validation loss and accuracy of the VGG16 model during fine-tuning, with a steady improvement in accuracy and a decrease in loss over 25 epochs.&#10;&#10;AI 생성 콘텐츠는 정확하지 않을 수 있습니다.">
            <a:extLst>
              <a:ext uri="{FF2B5EF4-FFF2-40B4-BE49-F238E27FC236}">
                <a16:creationId xmlns:a16="http://schemas.microsoft.com/office/drawing/2014/main" id="{117BF686-E8F8-837D-CABC-33A90FB71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069" y="2884792"/>
            <a:ext cx="6887861" cy="22587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B53E1-923A-D23C-611F-B86161FF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D55237-1E0E-79B7-4D1D-D87DCA28674F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5D2EB4-23A6-1473-F950-0EA4CEA22A8C}"/>
              </a:ext>
            </a:extLst>
          </p:cNvPr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VGG16 &amp; MobileNetV2 – 학습 붕괴 &amp; 실패 원인 분석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571937-9BA1-0487-D0DB-89681D24C04B}"/>
              </a:ext>
            </a:extLst>
          </p:cNvPr>
          <p:cNvSpPr/>
          <p:nvPr/>
        </p:nvSpPr>
        <p:spPr>
          <a:xfrm>
            <a:off x="228599" y="1051560"/>
            <a:ext cx="8806543" cy="3912326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440BFD1-8C7A-F766-7F0D-A15E199B5845}"/>
              </a:ext>
            </a:extLst>
          </p:cNvPr>
          <p:cNvSpPr/>
          <p:nvPr/>
        </p:nvSpPr>
        <p:spPr>
          <a:xfrm>
            <a:off x="228599" y="1051560"/>
            <a:ext cx="8806543" cy="18706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F32593-21B4-B731-60B8-C9859B245EDF}"/>
              </a:ext>
            </a:extLst>
          </p:cNvPr>
          <p:cNvSpPr/>
          <p:nvPr/>
        </p:nvSpPr>
        <p:spPr>
          <a:xfrm>
            <a:off x="364084" y="1051560"/>
            <a:ext cx="8516217" cy="1870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VGG16 — Test Acc: 29.08%</a:t>
            </a:r>
            <a:endParaRPr lang="en-US" sz="1050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8EE0E397-E759-B9D3-A0DC-795783391768}"/>
              </a:ext>
            </a:extLst>
          </p:cNvPr>
          <p:cNvSpPr/>
          <p:nvPr/>
        </p:nvSpPr>
        <p:spPr>
          <a:xfrm>
            <a:off x="4369105" y="1372822"/>
            <a:ext cx="2103120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A18EC9B2-2A21-9C06-A252-BD2C8CD9483C}"/>
              </a:ext>
            </a:extLst>
          </p:cNvPr>
          <p:cNvSpPr/>
          <p:nvPr/>
        </p:nvSpPr>
        <p:spPr>
          <a:xfrm>
            <a:off x="4369105" y="137282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</a:t>
            </a:r>
            <a:endParaRPr lang="en-US" sz="800" dirty="0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E8A25B36-17A8-5EF3-FEA3-0802149D21E9}"/>
              </a:ext>
            </a:extLst>
          </p:cNvPr>
          <p:cNvSpPr/>
          <p:nvPr/>
        </p:nvSpPr>
        <p:spPr>
          <a:xfrm>
            <a:off x="6499657" y="1372822"/>
            <a:ext cx="749808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59A831FC-931B-F3C4-1C4A-DE74B47E781B}"/>
              </a:ext>
            </a:extLst>
          </p:cNvPr>
          <p:cNvSpPr/>
          <p:nvPr/>
        </p:nvSpPr>
        <p:spPr>
          <a:xfrm>
            <a:off x="6499657" y="1372822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Prec</a:t>
            </a:r>
            <a:endParaRPr lang="en-US" sz="800" dirty="0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C5027A6F-A2D8-DD5D-CB5D-CD54401E141C}"/>
              </a:ext>
            </a:extLst>
          </p:cNvPr>
          <p:cNvSpPr/>
          <p:nvPr/>
        </p:nvSpPr>
        <p:spPr>
          <a:xfrm>
            <a:off x="7267753" y="1372822"/>
            <a:ext cx="777240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AE679146-E2C9-D474-C25C-779583FB95E4}"/>
              </a:ext>
            </a:extLst>
          </p:cNvPr>
          <p:cNvSpPr/>
          <p:nvPr/>
        </p:nvSpPr>
        <p:spPr>
          <a:xfrm>
            <a:off x="7267753" y="1372822"/>
            <a:ext cx="777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Recall</a:t>
            </a:r>
            <a:endParaRPr lang="en-US" sz="800" dirty="0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A17C5CF3-8981-9661-940F-64EA539F67F2}"/>
              </a:ext>
            </a:extLst>
          </p:cNvPr>
          <p:cNvSpPr/>
          <p:nvPr/>
        </p:nvSpPr>
        <p:spPr>
          <a:xfrm>
            <a:off x="8044993" y="1372822"/>
            <a:ext cx="749808" cy="329184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D706F797-D0D5-EC43-A635-DD04015E673D}"/>
              </a:ext>
            </a:extLst>
          </p:cNvPr>
          <p:cNvSpPr/>
          <p:nvPr/>
        </p:nvSpPr>
        <p:spPr>
          <a:xfrm>
            <a:off x="8044993" y="1372822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F1</a:t>
            </a:r>
            <a:endParaRPr lang="en-US" sz="800" dirty="0"/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4F552963-6869-33CF-8164-3A69E1C35AE9}"/>
              </a:ext>
            </a:extLst>
          </p:cNvPr>
          <p:cNvSpPr/>
          <p:nvPr/>
        </p:nvSpPr>
        <p:spPr>
          <a:xfrm>
            <a:off x="4369105" y="1711150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811EDE71-FF12-65B5-B6CE-EA4C63BAEEAA}"/>
              </a:ext>
            </a:extLst>
          </p:cNvPr>
          <p:cNvSpPr/>
          <p:nvPr/>
        </p:nvSpPr>
        <p:spPr>
          <a:xfrm>
            <a:off x="4405681" y="171115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높이_중량제한</a:t>
            </a:r>
            <a:endParaRPr lang="en-US" sz="800" dirty="0"/>
          </a:p>
        </p:txBody>
      </p:sp>
      <p:sp>
        <p:nvSpPr>
          <p:cNvPr id="34" name="Shape 27">
            <a:extLst>
              <a:ext uri="{FF2B5EF4-FFF2-40B4-BE49-F238E27FC236}">
                <a16:creationId xmlns:a16="http://schemas.microsoft.com/office/drawing/2014/main" id="{9512A7C0-2969-AE29-E10C-D89F49235F25}"/>
              </a:ext>
            </a:extLst>
          </p:cNvPr>
          <p:cNvSpPr/>
          <p:nvPr/>
        </p:nvSpPr>
        <p:spPr>
          <a:xfrm>
            <a:off x="6499657" y="1711150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EDFEF702-B08C-2C8C-F61F-DC3974367180}"/>
              </a:ext>
            </a:extLst>
          </p:cNvPr>
          <p:cNvSpPr/>
          <p:nvPr/>
        </p:nvSpPr>
        <p:spPr>
          <a:xfrm>
            <a:off x="6536233" y="171115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sz="850" dirty="0"/>
          </a:p>
        </p:txBody>
      </p:sp>
      <p:sp>
        <p:nvSpPr>
          <p:cNvPr id="36" name="Shape 29">
            <a:extLst>
              <a:ext uri="{FF2B5EF4-FFF2-40B4-BE49-F238E27FC236}">
                <a16:creationId xmlns:a16="http://schemas.microsoft.com/office/drawing/2014/main" id="{BA5936BA-4201-28EC-8FC9-76CF75E8DF1B}"/>
              </a:ext>
            </a:extLst>
          </p:cNvPr>
          <p:cNvSpPr/>
          <p:nvPr/>
        </p:nvSpPr>
        <p:spPr>
          <a:xfrm>
            <a:off x="7267753" y="1711150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0">
            <a:extLst>
              <a:ext uri="{FF2B5EF4-FFF2-40B4-BE49-F238E27FC236}">
                <a16:creationId xmlns:a16="http://schemas.microsoft.com/office/drawing/2014/main" id="{42DE2256-EE8D-6ED7-89AB-6592ED90073B}"/>
              </a:ext>
            </a:extLst>
          </p:cNvPr>
          <p:cNvSpPr/>
          <p:nvPr/>
        </p:nvSpPr>
        <p:spPr>
          <a:xfrm>
            <a:off x="7304329" y="1711150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sz="850" dirty="0"/>
          </a:p>
        </p:txBody>
      </p:sp>
      <p:sp>
        <p:nvSpPr>
          <p:cNvPr id="38" name="Shape 31">
            <a:extLst>
              <a:ext uri="{FF2B5EF4-FFF2-40B4-BE49-F238E27FC236}">
                <a16:creationId xmlns:a16="http://schemas.microsoft.com/office/drawing/2014/main" id="{026E896D-A478-DD35-CBC5-0D541313DCA2}"/>
              </a:ext>
            </a:extLst>
          </p:cNvPr>
          <p:cNvSpPr/>
          <p:nvPr/>
        </p:nvSpPr>
        <p:spPr>
          <a:xfrm>
            <a:off x="8044993" y="1711150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4A2E5EBD-8CC5-053B-09F3-F7A214AD47C8}"/>
              </a:ext>
            </a:extLst>
          </p:cNvPr>
          <p:cNvSpPr/>
          <p:nvPr/>
        </p:nvSpPr>
        <p:spPr>
          <a:xfrm>
            <a:off x="8081569" y="171115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sz="850" dirty="0"/>
          </a:p>
        </p:txBody>
      </p:sp>
      <p:sp>
        <p:nvSpPr>
          <p:cNvPr id="40" name="Shape 33">
            <a:extLst>
              <a:ext uri="{FF2B5EF4-FFF2-40B4-BE49-F238E27FC236}">
                <a16:creationId xmlns:a16="http://schemas.microsoft.com/office/drawing/2014/main" id="{A7847134-1509-8094-C13C-27691A516EE4}"/>
              </a:ext>
            </a:extLst>
          </p:cNvPr>
          <p:cNvSpPr/>
          <p:nvPr/>
        </p:nvSpPr>
        <p:spPr>
          <a:xfrm>
            <a:off x="4369105" y="2058622"/>
            <a:ext cx="21031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6FA9A655-2E27-40F7-AE46-68916243B1C5}"/>
              </a:ext>
            </a:extLst>
          </p:cNvPr>
          <p:cNvSpPr/>
          <p:nvPr/>
        </p:nvSpPr>
        <p:spPr>
          <a:xfrm>
            <a:off x="4405681" y="205862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보호구역</a:t>
            </a:r>
            <a:endParaRPr lang="en-US" sz="800" dirty="0"/>
          </a:p>
        </p:txBody>
      </p:sp>
      <p:sp>
        <p:nvSpPr>
          <p:cNvPr id="42" name="Shape 35">
            <a:extLst>
              <a:ext uri="{FF2B5EF4-FFF2-40B4-BE49-F238E27FC236}">
                <a16:creationId xmlns:a16="http://schemas.microsoft.com/office/drawing/2014/main" id="{5CBAF009-D212-8429-A608-C37E23D91226}"/>
              </a:ext>
            </a:extLst>
          </p:cNvPr>
          <p:cNvSpPr/>
          <p:nvPr/>
        </p:nvSpPr>
        <p:spPr>
          <a:xfrm>
            <a:off x="6499657" y="2058622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6">
            <a:extLst>
              <a:ext uri="{FF2B5EF4-FFF2-40B4-BE49-F238E27FC236}">
                <a16:creationId xmlns:a16="http://schemas.microsoft.com/office/drawing/2014/main" id="{39406906-B84D-0686-CAFF-6183FC40D5AD}"/>
              </a:ext>
            </a:extLst>
          </p:cNvPr>
          <p:cNvSpPr/>
          <p:nvPr/>
        </p:nvSpPr>
        <p:spPr>
          <a:xfrm>
            <a:off x="6536233" y="2058622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44" name="Shape 37">
            <a:extLst>
              <a:ext uri="{FF2B5EF4-FFF2-40B4-BE49-F238E27FC236}">
                <a16:creationId xmlns:a16="http://schemas.microsoft.com/office/drawing/2014/main" id="{CB08BF42-AE3E-9CA2-96DA-3DAEF2C9D6EE}"/>
              </a:ext>
            </a:extLst>
          </p:cNvPr>
          <p:cNvSpPr/>
          <p:nvPr/>
        </p:nvSpPr>
        <p:spPr>
          <a:xfrm>
            <a:off x="7267753" y="2058622"/>
            <a:ext cx="7772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8">
            <a:extLst>
              <a:ext uri="{FF2B5EF4-FFF2-40B4-BE49-F238E27FC236}">
                <a16:creationId xmlns:a16="http://schemas.microsoft.com/office/drawing/2014/main" id="{48FDD6A7-B360-742F-3CB6-06E58F58ECBE}"/>
              </a:ext>
            </a:extLst>
          </p:cNvPr>
          <p:cNvSpPr/>
          <p:nvPr/>
        </p:nvSpPr>
        <p:spPr>
          <a:xfrm>
            <a:off x="7304329" y="2058622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47" name="Shape 39">
            <a:extLst>
              <a:ext uri="{FF2B5EF4-FFF2-40B4-BE49-F238E27FC236}">
                <a16:creationId xmlns:a16="http://schemas.microsoft.com/office/drawing/2014/main" id="{EBFAAA10-20A6-82DA-2B76-99C8B46A4012}"/>
              </a:ext>
            </a:extLst>
          </p:cNvPr>
          <p:cNvSpPr/>
          <p:nvPr/>
        </p:nvSpPr>
        <p:spPr>
          <a:xfrm>
            <a:off x="8044993" y="2058622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980D2E0A-5AA9-1D38-7FA7-EC17CCAE4438}"/>
              </a:ext>
            </a:extLst>
          </p:cNvPr>
          <p:cNvSpPr/>
          <p:nvPr/>
        </p:nvSpPr>
        <p:spPr>
          <a:xfrm>
            <a:off x="8081569" y="2058622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99E55FD6-9D87-6E06-7785-B22162A38E45}"/>
              </a:ext>
            </a:extLst>
          </p:cNvPr>
          <p:cNvSpPr/>
          <p:nvPr/>
        </p:nvSpPr>
        <p:spPr>
          <a:xfrm>
            <a:off x="4369105" y="2406094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2">
            <a:extLst>
              <a:ext uri="{FF2B5EF4-FFF2-40B4-BE49-F238E27FC236}">
                <a16:creationId xmlns:a16="http://schemas.microsoft.com/office/drawing/2014/main" id="{11F3B435-8546-3345-B7A7-3E7BF77AD45B}"/>
              </a:ext>
            </a:extLst>
          </p:cNvPr>
          <p:cNvSpPr/>
          <p:nvPr/>
        </p:nvSpPr>
        <p:spPr>
          <a:xfrm>
            <a:off x="4405681" y="240609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속도제한40_60</a:t>
            </a:r>
            <a:endParaRPr lang="en-US" sz="800" dirty="0"/>
          </a:p>
        </p:txBody>
      </p:sp>
      <p:sp>
        <p:nvSpPr>
          <p:cNvPr id="52" name="Shape 43">
            <a:extLst>
              <a:ext uri="{FF2B5EF4-FFF2-40B4-BE49-F238E27FC236}">
                <a16:creationId xmlns:a16="http://schemas.microsoft.com/office/drawing/2014/main" id="{CE00EAD0-EB57-3514-44F4-92B076F94920}"/>
              </a:ext>
            </a:extLst>
          </p:cNvPr>
          <p:cNvSpPr/>
          <p:nvPr/>
        </p:nvSpPr>
        <p:spPr>
          <a:xfrm>
            <a:off x="6499657" y="2406094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4">
            <a:extLst>
              <a:ext uri="{FF2B5EF4-FFF2-40B4-BE49-F238E27FC236}">
                <a16:creationId xmlns:a16="http://schemas.microsoft.com/office/drawing/2014/main" id="{7C11B040-AF68-49AB-5A9F-69DB76BF87A1}"/>
              </a:ext>
            </a:extLst>
          </p:cNvPr>
          <p:cNvSpPr/>
          <p:nvPr/>
        </p:nvSpPr>
        <p:spPr>
          <a:xfrm>
            <a:off x="6536233" y="240609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54" name="Shape 45">
            <a:extLst>
              <a:ext uri="{FF2B5EF4-FFF2-40B4-BE49-F238E27FC236}">
                <a16:creationId xmlns:a16="http://schemas.microsoft.com/office/drawing/2014/main" id="{80B7FB48-C4AB-92DC-844B-C03283AE3F09}"/>
              </a:ext>
            </a:extLst>
          </p:cNvPr>
          <p:cNvSpPr/>
          <p:nvPr/>
        </p:nvSpPr>
        <p:spPr>
          <a:xfrm>
            <a:off x="7267753" y="2406094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6">
            <a:extLst>
              <a:ext uri="{FF2B5EF4-FFF2-40B4-BE49-F238E27FC236}">
                <a16:creationId xmlns:a16="http://schemas.microsoft.com/office/drawing/2014/main" id="{72F44EF5-0AC6-E5F0-EFA1-4393B1872962}"/>
              </a:ext>
            </a:extLst>
          </p:cNvPr>
          <p:cNvSpPr/>
          <p:nvPr/>
        </p:nvSpPr>
        <p:spPr>
          <a:xfrm>
            <a:off x="7304329" y="2406094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AF427BAC-9C8D-1E8E-7607-CB3C8F830894}"/>
              </a:ext>
            </a:extLst>
          </p:cNvPr>
          <p:cNvSpPr/>
          <p:nvPr/>
        </p:nvSpPr>
        <p:spPr>
          <a:xfrm>
            <a:off x="8044993" y="2406094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8">
            <a:extLst>
              <a:ext uri="{FF2B5EF4-FFF2-40B4-BE49-F238E27FC236}">
                <a16:creationId xmlns:a16="http://schemas.microsoft.com/office/drawing/2014/main" id="{70688CDC-16E8-9DC9-90DA-4D690500C73E}"/>
              </a:ext>
            </a:extLst>
          </p:cNvPr>
          <p:cNvSpPr/>
          <p:nvPr/>
        </p:nvSpPr>
        <p:spPr>
          <a:xfrm>
            <a:off x="8081569" y="240609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03BC8D51-BAB9-0652-399E-8057BDEA3CE2}"/>
              </a:ext>
            </a:extLst>
          </p:cNvPr>
          <p:cNvSpPr/>
          <p:nvPr/>
        </p:nvSpPr>
        <p:spPr>
          <a:xfrm>
            <a:off x="4369105" y="2753566"/>
            <a:ext cx="21031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0">
            <a:extLst>
              <a:ext uri="{FF2B5EF4-FFF2-40B4-BE49-F238E27FC236}">
                <a16:creationId xmlns:a16="http://schemas.microsoft.com/office/drawing/2014/main" id="{A0DC3927-3A6D-03A2-08F1-5238F0C63D78}"/>
              </a:ext>
            </a:extLst>
          </p:cNvPr>
          <p:cNvSpPr/>
          <p:nvPr/>
        </p:nvSpPr>
        <p:spPr>
          <a:xfrm>
            <a:off x="4405681" y="2753566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속도제한70_80</a:t>
            </a:r>
            <a:endParaRPr lang="en-US" sz="800" dirty="0"/>
          </a:p>
        </p:txBody>
      </p:sp>
      <p:sp>
        <p:nvSpPr>
          <p:cNvPr id="60" name="Shape 51">
            <a:extLst>
              <a:ext uri="{FF2B5EF4-FFF2-40B4-BE49-F238E27FC236}">
                <a16:creationId xmlns:a16="http://schemas.microsoft.com/office/drawing/2014/main" id="{8F5CF1B7-F252-86E4-4AE0-BAFB2FC86E84}"/>
              </a:ext>
            </a:extLst>
          </p:cNvPr>
          <p:cNvSpPr/>
          <p:nvPr/>
        </p:nvSpPr>
        <p:spPr>
          <a:xfrm>
            <a:off x="6499657" y="2753566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2">
            <a:extLst>
              <a:ext uri="{FF2B5EF4-FFF2-40B4-BE49-F238E27FC236}">
                <a16:creationId xmlns:a16="http://schemas.microsoft.com/office/drawing/2014/main" id="{B162EEFB-A893-FB07-5A22-0E6A2332AF47}"/>
              </a:ext>
            </a:extLst>
          </p:cNvPr>
          <p:cNvSpPr/>
          <p:nvPr/>
        </p:nvSpPr>
        <p:spPr>
          <a:xfrm>
            <a:off x="6536233" y="2753566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62" name="Shape 53">
            <a:extLst>
              <a:ext uri="{FF2B5EF4-FFF2-40B4-BE49-F238E27FC236}">
                <a16:creationId xmlns:a16="http://schemas.microsoft.com/office/drawing/2014/main" id="{839155B9-33D3-FE84-8A5B-9BC93330B907}"/>
              </a:ext>
            </a:extLst>
          </p:cNvPr>
          <p:cNvSpPr/>
          <p:nvPr/>
        </p:nvSpPr>
        <p:spPr>
          <a:xfrm>
            <a:off x="7267753" y="2753566"/>
            <a:ext cx="7772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4">
            <a:extLst>
              <a:ext uri="{FF2B5EF4-FFF2-40B4-BE49-F238E27FC236}">
                <a16:creationId xmlns:a16="http://schemas.microsoft.com/office/drawing/2014/main" id="{3A5F1005-69AC-0EB6-E8C3-28CB8E15C4EE}"/>
              </a:ext>
            </a:extLst>
          </p:cNvPr>
          <p:cNvSpPr/>
          <p:nvPr/>
        </p:nvSpPr>
        <p:spPr>
          <a:xfrm>
            <a:off x="7304329" y="2753566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64" name="Shape 55">
            <a:extLst>
              <a:ext uri="{FF2B5EF4-FFF2-40B4-BE49-F238E27FC236}">
                <a16:creationId xmlns:a16="http://schemas.microsoft.com/office/drawing/2014/main" id="{65340092-67EC-57BA-BCDC-FFDD949211F4}"/>
              </a:ext>
            </a:extLst>
          </p:cNvPr>
          <p:cNvSpPr/>
          <p:nvPr/>
        </p:nvSpPr>
        <p:spPr>
          <a:xfrm>
            <a:off x="8044993" y="2753566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56">
            <a:extLst>
              <a:ext uri="{FF2B5EF4-FFF2-40B4-BE49-F238E27FC236}">
                <a16:creationId xmlns:a16="http://schemas.microsoft.com/office/drawing/2014/main" id="{519D2FA9-D50C-FBB9-22B1-B90F1619098A}"/>
              </a:ext>
            </a:extLst>
          </p:cNvPr>
          <p:cNvSpPr/>
          <p:nvPr/>
        </p:nvSpPr>
        <p:spPr>
          <a:xfrm>
            <a:off x="8081569" y="2753566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66" name="Shape 57">
            <a:extLst>
              <a:ext uri="{FF2B5EF4-FFF2-40B4-BE49-F238E27FC236}">
                <a16:creationId xmlns:a16="http://schemas.microsoft.com/office/drawing/2014/main" id="{6608890A-4851-D230-DA2B-6AF81C2004D0}"/>
              </a:ext>
            </a:extLst>
          </p:cNvPr>
          <p:cNvSpPr/>
          <p:nvPr/>
        </p:nvSpPr>
        <p:spPr>
          <a:xfrm>
            <a:off x="4369105" y="3101038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58">
            <a:extLst>
              <a:ext uri="{FF2B5EF4-FFF2-40B4-BE49-F238E27FC236}">
                <a16:creationId xmlns:a16="http://schemas.microsoft.com/office/drawing/2014/main" id="{9720F656-2582-7DD4-E811-BB75A267E252}"/>
              </a:ext>
            </a:extLst>
          </p:cNvPr>
          <p:cNvSpPr/>
          <p:nvPr/>
        </p:nvSpPr>
        <p:spPr>
          <a:xfrm>
            <a:off x="4405681" y="3101038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속도제한90이상</a:t>
            </a:r>
            <a:endParaRPr lang="en-US" sz="800" dirty="0"/>
          </a:p>
        </p:txBody>
      </p:sp>
      <p:sp>
        <p:nvSpPr>
          <p:cNvPr id="68" name="Shape 59">
            <a:extLst>
              <a:ext uri="{FF2B5EF4-FFF2-40B4-BE49-F238E27FC236}">
                <a16:creationId xmlns:a16="http://schemas.microsoft.com/office/drawing/2014/main" id="{F4E1C795-A609-D0F8-2DAB-B5132543D493}"/>
              </a:ext>
            </a:extLst>
          </p:cNvPr>
          <p:cNvSpPr/>
          <p:nvPr/>
        </p:nvSpPr>
        <p:spPr>
          <a:xfrm>
            <a:off x="6499657" y="3101038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0">
            <a:extLst>
              <a:ext uri="{FF2B5EF4-FFF2-40B4-BE49-F238E27FC236}">
                <a16:creationId xmlns:a16="http://schemas.microsoft.com/office/drawing/2014/main" id="{0785AC01-8453-6EBA-F8C7-348C56212777}"/>
              </a:ext>
            </a:extLst>
          </p:cNvPr>
          <p:cNvSpPr/>
          <p:nvPr/>
        </p:nvSpPr>
        <p:spPr>
          <a:xfrm>
            <a:off x="6536233" y="3101038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70" name="Shape 61">
            <a:extLst>
              <a:ext uri="{FF2B5EF4-FFF2-40B4-BE49-F238E27FC236}">
                <a16:creationId xmlns:a16="http://schemas.microsoft.com/office/drawing/2014/main" id="{5F539B8D-49F4-5D82-0218-D98A464B9A6D}"/>
              </a:ext>
            </a:extLst>
          </p:cNvPr>
          <p:cNvSpPr/>
          <p:nvPr/>
        </p:nvSpPr>
        <p:spPr>
          <a:xfrm>
            <a:off x="7267753" y="3101038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2">
            <a:extLst>
              <a:ext uri="{FF2B5EF4-FFF2-40B4-BE49-F238E27FC236}">
                <a16:creationId xmlns:a16="http://schemas.microsoft.com/office/drawing/2014/main" id="{5E042E21-F5DD-60DF-F655-2794F4512882}"/>
              </a:ext>
            </a:extLst>
          </p:cNvPr>
          <p:cNvSpPr/>
          <p:nvPr/>
        </p:nvSpPr>
        <p:spPr>
          <a:xfrm>
            <a:off x="7304329" y="3101038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72" name="Shape 63">
            <a:extLst>
              <a:ext uri="{FF2B5EF4-FFF2-40B4-BE49-F238E27FC236}">
                <a16:creationId xmlns:a16="http://schemas.microsoft.com/office/drawing/2014/main" id="{86FA094D-77C4-E934-2049-66F8213BE53B}"/>
              </a:ext>
            </a:extLst>
          </p:cNvPr>
          <p:cNvSpPr/>
          <p:nvPr/>
        </p:nvSpPr>
        <p:spPr>
          <a:xfrm>
            <a:off x="8044993" y="3101038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64">
            <a:extLst>
              <a:ext uri="{FF2B5EF4-FFF2-40B4-BE49-F238E27FC236}">
                <a16:creationId xmlns:a16="http://schemas.microsoft.com/office/drawing/2014/main" id="{8F955B98-2EB0-BA39-A32E-3F32E1D5B112}"/>
              </a:ext>
            </a:extLst>
          </p:cNvPr>
          <p:cNvSpPr/>
          <p:nvPr/>
        </p:nvSpPr>
        <p:spPr>
          <a:xfrm>
            <a:off x="8081569" y="3101038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74" name="Shape 65">
            <a:extLst>
              <a:ext uri="{FF2B5EF4-FFF2-40B4-BE49-F238E27FC236}">
                <a16:creationId xmlns:a16="http://schemas.microsoft.com/office/drawing/2014/main" id="{E6D002CD-BE7C-2CFD-3733-DA684FFE6D4F}"/>
              </a:ext>
            </a:extLst>
          </p:cNvPr>
          <p:cNvSpPr/>
          <p:nvPr/>
        </p:nvSpPr>
        <p:spPr>
          <a:xfrm>
            <a:off x="4369105" y="3448510"/>
            <a:ext cx="21031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66">
            <a:extLst>
              <a:ext uri="{FF2B5EF4-FFF2-40B4-BE49-F238E27FC236}">
                <a16:creationId xmlns:a16="http://schemas.microsoft.com/office/drawing/2014/main" id="{BB643CE5-6E40-AAA6-0CD7-9F9BFFB7838F}"/>
              </a:ext>
            </a:extLst>
          </p:cNvPr>
          <p:cNvSpPr/>
          <p:nvPr/>
        </p:nvSpPr>
        <p:spPr>
          <a:xfrm>
            <a:off x="4405681" y="3448510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스쿨존_속도제한30이하</a:t>
            </a:r>
            <a:endParaRPr lang="en-US" sz="800" dirty="0"/>
          </a:p>
        </p:txBody>
      </p:sp>
      <p:sp>
        <p:nvSpPr>
          <p:cNvPr id="76" name="Shape 67">
            <a:extLst>
              <a:ext uri="{FF2B5EF4-FFF2-40B4-BE49-F238E27FC236}">
                <a16:creationId xmlns:a16="http://schemas.microsoft.com/office/drawing/2014/main" id="{ECD63F0C-6B62-3957-2B95-45E604FCF926}"/>
              </a:ext>
            </a:extLst>
          </p:cNvPr>
          <p:cNvSpPr/>
          <p:nvPr/>
        </p:nvSpPr>
        <p:spPr>
          <a:xfrm>
            <a:off x="6499657" y="3448510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68">
            <a:extLst>
              <a:ext uri="{FF2B5EF4-FFF2-40B4-BE49-F238E27FC236}">
                <a16:creationId xmlns:a16="http://schemas.microsoft.com/office/drawing/2014/main" id="{D2B9CBA1-9F9D-9EDF-975C-7FEB385B991C}"/>
              </a:ext>
            </a:extLst>
          </p:cNvPr>
          <p:cNvSpPr/>
          <p:nvPr/>
        </p:nvSpPr>
        <p:spPr>
          <a:xfrm>
            <a:off x="6536233" y="344851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78" name="Shape 69">
            <a:extLst>
              <a:ext uri="{FF2B5EF4-FFF2-40B4-BE49-F238E27FC236}">
                <a16:creationId xmlns:a16="http://schemas.microsoft.com/office/drawing/2014/main" id="{3F318A7F-0E70-65E5-4B0B-F80D9E9B1A34}"/>
              </a:ext>
            </a:extLst>
          </p:cNvPr>
          <p:cNvSpPr/>
          <p:nvPr/>
        </p:nvSpPr>
        <p:spPr>
          <a:xfrm>
            <a:off x="7267753" y="3448510"/>
            <a:ext cx="7772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0">
            <a:extLst>
              <a:ext uri="{FF2B5EF4-FFF2-40B4-BE49-F238E27FC236}">
                <a16:creationId xmlns:a16="http://schemas.microsoft.com/office/drawing/2014/main" id="{9AA1BEB4-2EBD-B809-AD4A-F6FE0AE87203}"/>
              </a:ext>
            </a:extLst>
          </p:cNvPr>
          <p:cNvSpPr/>
          <p:nvPr/>
        </p:nvSpPr>
        <p:spPr>
          <a:xfrm>
            <a:off x="7304329" y="3448510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80" name="Shape 71">
            <a:extLst>
              <a:ext uri="{FF2B5EF4-FFF2-40B4-BE49-F238E27FC236}">
                <a16:creationId xmlns:a16="http://schemas.microsoft.com/office/drawing/2014/main" id="{8B41EABA-35C2-BD36-6379-4F705F674C9F}"/>
              </a:ext>
            </a:extLst>
          </p:cNvPr>
          <p:cNvSpPr/>
          <p:nvPr/>
        </p:nvSpPr>
        <p:spPr>
          <a:xfrm>
            <a:off x="8044993" y="3448510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2">
            <a:extLst>
              <a:ext uri="{FF2B5EF4-FFF2-40B4-BE49-F238E27FC236}">
                <a16:creationId xmlns:a16="http://schemas.microsoft.com/office/drawing/2014/main" id="{D9AC3F4C-DDFB-C645-3EE9-72E1FF2DBCD5}"/>
              </a:ext>
            </a:extLst>
          </p:cNvPr>
          <p:cNvSpPr/>
          <p:nvPr/>
        </p:nvSpPr>
        <p:spPr>
          <a:xfrm>
            <a:off x="8081569" y="3448510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82" name="Shape 73">
            <a:extLst>
              <a:ext uri="{FF2B5EF4-FFF2-40B4-BE49-F238E27FC236}">
                <a16:creationId xmlns:a16="http://schemas.microsoft.com/office/drawing/2014/main" id="{25CC642E-FA47-92A2-0587-C69201C33A7F}"/>
              </a:ext>
            </a:extLst>
          </p:cNvPr>
          <p:cNvSpPr/>
          <p:nvPr/>
        </p:nvSpPr>
        <p:spPr>
          <a:xfrm>
            <a:off x="4369105" y="3795982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74">
            <a:extLst>
              <a:ext uri="{FF2B5EF4-FFF2-40B4-BE49-F238E27FC236}">
                <a16:creationId xmlns:a16="http://schemas.microsoft.com/office/drawing/2014/main" id="{5E95B0AF-8F41-B135-D4E0-C2A16C5F09CF}"/>
              </a:ext>
            </a:extLst>
          </p:cNvPr>
          <p:cNvSpPr/>
          <p:nvPr/>
        </p:nvSpPr>
        <p:spPr>
          <a:xfrm>
            <a:off x="4405681" y="3795982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주의표지</a:t>
            </a:r>
            <a:endParaRPr lang="en-US" sz="800" dirty="0"/>
          </a:p>
        </p:txBody>
      </p:sp>
      <p:sp>
        <p:nvSpPr>
          <p:cNvPr id="84" name="Shape 75">
            <a:extLst>
              <a:ext uri="{FF2B5EF4-FFF2-40B4-BE49-F238E27FC236}">
                <a16:creationId xmlns:a16="http://schemas.microsoft.com/office/drawing/2014/main" id="{C14E5CD8-EFDA-EDDD-43DD-E08D9D8883A6}"/>
              </a:ext>
            </a:extLst>
          </p:cNvPr>
          <p:cNvSpPr/>
          <p:nvPr/>
        </p:nvSpPr>
        <p:spPr>
          <a:xfrm>
            <a:off x="6499657" y="3795982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76">
            <a:extLst>
              <a:ext uri="{FF2B5EF4-FFF2-40B4-BE49-F238E27FC236}">
                <a16:creationId xmlns:a16="http://schemas.microsoft.com/office/drawing/2014/main" id="{964F0B05-C2A4-C0FB-1C58-E5BF0604EC37}"/>
              </a:ext>
            </a:extLst>
          </p:cNvPr>
          <p:cNvSpPr/>
          <p:nvPr/>
        </p:nvSpPr>
        <p:spPr>
          <a:xfrm>
            <a:off x="6536233" y="3795982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86" name="Shape 77">
            <a:extLst>
              <a:ext uri="{FF2B5EF4-FFF2-40B4-BE49-F238E27FC236}">
                <a16:creationId xmlns:a16="http://schemas.microsoft.com/office/drawing/2014/main" id="{9E40BA9E-40A2-E044-6CD0-FA734FF510F9}"/>
              </a:ext>
            </a:extLst>
          </p:cNvPr>
          <p:cNvSpPr/>
          <p:nvPr/>
        </p:nvSpPr>
        <p:spPr>
          <a:xfrm>
            <a:off x="7267753" y="3795982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78">
            <a:extLst>
              <a:ext uri="{FF2B5EF4-FFF2-40B4-BE49-F238E27FC236}">
                <a16:creationId xmlns:a16="http://schemas.microsoft.com/office/drawing/2014/main" id="{48C11D9B-5DB5-621A-8524-ECBD7544AEEC}"/>
              </a:ext>
            </a:extLst>
          </p:cNvPr>
          <p:cNvSpPr/>
          <p:nvPr/>
        </p:nvSpPr>
        <p:spPr>
          <a:xfrm>
            <a:off x="7304329" y="3795982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88" name="Shape 79">
            <a:extLst>
              <a:ext uri="{FF2B5EF4-FFF2-40B4-BE49-F238E27FC236}">
                <a16:creationId xmlns:a16="http://schemas.microsoft.com/office/drawing/2014/main" id="{9221A78E-91D4-AD32-2D51-D4574B790514}"/>
              </a:ext>
            </a:extLst>
          </p:cNvPr>
          <p:cNvSpPr/>
          <p:nvPr/>
        </p:nvSpPr>
        <p:spPr>
          <a:xfrm>
            <a:off x="8044993" y="3795982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80">
            <a:extLst>
              <a:ext uri="{FF2B5EF4-FFF2-40B4-BE49-F238E27FC236}">
                <a16:creationId xmlns:a16="http://schemas.microsoft.com/office/drawing/2014/main" id="{08A9B8B3-021D-6E16-3D63-18B2732E1F26}"/>
              </a:ext>
            </a:extLst>
          </p:cNvPr>
          <p:cNvSpPr/>
          <p:nvPr/>
        </p:nvSpPr>
        <p:spPr>
          <a:xfrm>
            <a:off x="8081569" y="3795982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90" name="Shape 81">
            <a:extLst>
              <a:ext uri="{FF2B5EF4-FFF2-40B4-BE49-F238E27FC236}">
                <a16:creationId xmlns:a16="http://schemas.microsoft.com/office/drawing/2014/main" id="{60C8044A-B225-F7DC-90DC-F5FDBEE93823}"/>
              </a:ext>
            </a:extLst>
          </p:cNvPr>
          <p:cNvSpPr/>
          <p:nvPr/>
        </p:nvSpPr>
        <p:spPr>
          <a:xfrm>
            <a:off x="4369105" y="4143454"/>
            <a:ext cx="210312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2">
            <a:extLst>
              <a:ext uri="{FF2B5EF4-FFF2-40B4-BE49-F238E27FC236}">
                <a16:creationId xmlns:a16="http://schemas.microsoft.com/office/drawing/2014/main" id="{830575D6-8979-5F0F-2114-692826D3648D}"/>
              </a:ext>
            </a:extLst>
          </p:cNvPr>
          <p:cNvSpPr/>
          <p:nvPr/>
        </p:nvSpPr>
        <p:spPr>
          <a:xfrm>
            <a:off x="4405681" y="4143454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지시표지</a:t>
            </a:r>
            <a:endParaRPr lang="en-US" sz="800" dirty="0"/>
          </a:p>
        </p:txBody>
      </p:sp>
      <p:sp>
        <p:nvSpPr>
          <p:cNvPr id="92" name="Shape 83">
            <a:extLst>
              <a:ext uri="{FF2B5EF4-FFF2-40B4-BE49-F238E27FC236}">
                <a16:creationId xmlns:a16="http://schemas.microsoft.com/office/drawing/2014/main" id="{E3F758CA-A2C4-2E14-6C01-0DA222965FF4}"/>
              </a:ext>
            </a:extLst>
          </p:cNvPr>
          <p:cNvSpPr/>
          <p:nvPr/>
        </p:nvSpPr>
        <p:spPr>
          <a:xfrm>
            <a:off x="6499657" y="4143454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84">
            <a:extLst>
              <a:ext uri="{FF2B5EF4-FFF2-40B4-BE49-F238E27FC236}">
                <a16:creationId xmlns:a16="http://schemas.microsoft.com/office/drawing/2014/main" id="{726DA739-4BD1-2B08-6AD5-F014CF0EC4B7}"/>
              </a:ext>
            </a:extLst>
          </p:cNvPr>
          <p:cNvSpPr/>
          <p:nvPr/>
        </p:nvSpPr>
        <p:spPr>
          <a:xfrm>
            <a:off x="6536233" y="414345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94" name="Shape 85">
            <a:extLst>
              <a:ext uri="{FF2B5EF4-FFF2-40B4-BE49-F238E27FC236}">
                <a16:creationId xmlns:a16="http://schemas.microsoft.com/office/drawing/2014/main" id="{E6A76032-60AC-0D1C-25A2-8A69354EFD4F}"/>
              </a:ext>
            </a:extLst>
          </p:cNvPr>
          <p:cNvSpPr/>
          <p:nvPr/>
        </p:nvSpPr>
        <p:spPr>
          <a:xfrm>
            <a:off x="7267753" y="4143454"/>
            <a:ext cx="777240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86">
            <a:extLst>
              <a:ext uri="{FF2B5EF4-FFF2-40B4-BE49-F238E27FC236}">
                <a16:creationId xmlns:a16="http://schemas.microsoft.com/office/drawing/2014/main" id="{03841926-7B59-6A0F-018D-1B776C2DEE98}"/>
              </a:ext>
            </a:extLst>
          </p:cNvPr>
          <p:cNvSpPr/>
          <p:nvPr/>
        </p:nvSpPr>
        <p:spPr>
          <a:xfrm>
            <a:off x="7304329" y="4143454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96" name="Shape 87">
            <a:extLst>
              <a:ext uri="{FF2B5EF4-FFF2-40B4-BE49-F238E27FC236}">
                <a16:creationId xmlns:a16="http://schemas.microsoft.com/office/drawing/2014/main" id="{3A597FB6-FC13-9E9E-C7F9-7185893C97FE}"/>
              </a:ext>
            </a:extLst>
          </p:cNvPr>
          <p:cNvSpPr/>
          <p:nvPr/>
        </p:nvSpPr>
        <p:spPr>
          <a:xfrm>
            <a:off x="8044993" y="4143454"/>
            <a:ext cx="749808" cy="3200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88">
            <a:extLst>
              <a:ext uri="{FF2B5EF4-FFF2-40B4-BE49-F238E27FC236}">
                <a16:creationId xmlns:a16="http://schemas.microsoft.com/office/drawing/2014/main" id="{13A553F5-1A26-1421-C0B2-286C7619E95C}"/>
              </a:ext>
            </a:extLst>
          </p:cNvPr>
          <p:cNvSpPr/>
          <p:nvPr/>
        </p:nvSpPr>
        <p:spPr>
          <a:xfrm>
            <a:off x="8081569" y="414345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</a:t>
            </a:r>
            <a:endParaRPr lang="en-US" altLang="ko-KR" sz="850" dirty="0"/>
          </a:p>
        </p:txBody>
      </p:sp>
      <p:sp>
        <p:nvSpPr>
          <p:cNvPr id="98" name="Shape 89">
            <a:extLst>
              <a:ext uri="{FF2B5EF4-FFF2-40B4-BE49-F238E27FC236}">
                <a16:creationId xmlns:a16="http://schemas.microsoft.com/office/drawing/2014/main" id="{ED42D2B9-1877-3D39-D024-8E57E372A355}"/>
              </a:ext>
            </a:extLst>
          </p:cNvPr>
          <p:cNvSpPr/>
          <p:nvPr/>
        </p:nvSpPr>
        <p:spPr>
          <a:xfrm>
            <a:off x="4369105" y="4490926"/>
            <a:ext cx="2103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Text 90">
            <a:extLst>
              <a:ext uri="{FF2B5EF4-FFF2-40B4-BE49-F238E27FC236}">
                <a16:creationId xmlns:a16="http://schemas.microsoft.com/office/drawing/2014/main" id="{192A8CE0-A5CB-7357-D3A0-EF0A143BE73F}"/>
              </a:ext>
            </a:extLst>
          </p:cNvPr>
          <p:cNvSpPr/>
          <p:nvPr/>
        </p:nvSpPr>
        <p:spPr>
          <a:xfrm>
            <a:off x="4405681" y="4490926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진입_주정차금지</a:t>
            </a:r>
            <a:endParaRPr lang="en-US" sz="800" dirty="0"/>
          </a:p>
        </p:txBody>
      </p:sp>
      <p:sp>
        <p:nvSpPr>
          <p:cNvPr id="100" name="Shape 91">
            <a:extLst>
              <a:ext uri="{FF2B5EF4-FFF2-40B4-BE49-F238E27FC236}">
                <a16:creationId xmlns:a16="http://schemas.microsoft.com/office/drawing/2014/main" id="{B4BD3CEF-CE82-6A40-A703-25EC2F796E23}"/>
              </a:ext>
            </a:extLst>
          </p:cNvPr>
          <p:cNvSpPr/>
          <p:nvPr/>
        </p:nvSpPr>
        <p:spPr>
          <a:xfrm>
            <a:off x="6499657" y="4490926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2">
            <a:extLst>
              <a:ext uri="{FF2B5EF4-FFF2-40B4-BE49-F238E27FC236}">
                <a16:creationId xmlns:a16="http://schemas.microsoft.com/office/drawing/2014/main" id="{34792DBA-599E-0673-5560-0CF5ABC103FE}"/>
              </a:ext>
            </a:extLst>
          </p:cNvPr>
          <p:cNvSpPr/>
          <p:nvPr/>
        </p:nvSpPr>
        <p:spPr>
          <a:xfrm>
            <a:off x="6536233" y="4490926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0.29</a:t>
            </a:r>
            <a:endParaRPr lang="en-US" altLang="ko-KR" sz="850" dirty="0"/>
          </a:p>
        </p:txBody>
      </p:sp>
      <p:sp>
        <p:nvSpPr>
          <p:cNvPr id="102" name="Shape 93">
            <a:extLst>
              <a:ext uri="{FF2B5EF4-FFF2-40B4-BE49-F238E27FC236}">
                <a16:creationId xmlns:a16="http://schemas.microsoft.com/office/drawing/2014/main" id="{D7474443-0BA4-E4AD-E5DB-DD0BF53D853F}"/>
              </a:ext>
            </a:extLst>
          </p:cNvPr>
          <p:cNvSpPr/>
          <p:nvPr/>
        </p:nvSpPr>
        <p:spPr>
          <a:xfrm>
            <a:off x="7267753" y="4490926"/>
            <a:ext cx="7772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94">
            <a:extLst>
              <a:ext uri="{FF2B5EF4-FFF2-40B4-BE49-F238E27FC236}">
                <a16:creationId xmlns:a16="http://schemas.microsoft.com/office/drawing/2014/main" id="{5F2891CA-C94D-10A6-9E4B-3FAADD7690CE}"/>
              </a:ext>
            </a:extLst>
          </p:cNvPr>
          <p:cNvSpPr/>
          <p:nvPr/>
        </p:nvSpPr>
        <p:spPr>
          <a:xfrm>
            <a:off x="7304329" y="4490926"/>
            <a:ext cx="704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1.00</a:t>
            </a:r>
            <a:endParaRPr lang="en-US" altLang="ko-KR" sz="850" dirty="0"/>
          </a:p>
        </p:txBody>
      </p:sp>
      <p:sp>
        <p:nvSpPr>
          <p:cNvPr id="104" name="Shape 95">
            <a:extLst>
              <a:ext uri="{FF2B5EF4-FFF2-40B4-BE49-F238E27FC236}">
                <a16:creationId xmlns:a16="http://schemas.microsoft.com/office/drawing/2014/main" id="{ECC65264-87BB-FD69-9F89-691A9FECD05C}"/>
              </a:ext>
            </a:extLst>
          </p:cNvPr>
          <p:cNvSpPr/>
          <p:nvPr/>
        </p:nvSpPr>
        <p:spPr>
          <a:xfrm>
            <a:off x="8044993" y="4490926"/>
            <a:ext cx="749808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96">
            <a:extLst>
              <a:ext uri="{FF2B5EF4-FFF2-40B4-BE49-F238E27FC236}">
                <a16:creationId xmlns:a16="http://schemas.microsoft.com/office/drawing/2014/main" id="{5095EA87-3E65-CDFD-7C2F-AB5A961DD197}"/>
              </a:ext>
            </a:extLst>
          </p:cNvPr>
          <p:cNvSpPr/>
          <p:nvPr/>
        </p:nvSpPr>
        <p:spPr>
          <a:xfrm>
            <a:off x="8081569" y="4490926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0.45</a:t>
            </a:r>
            <a:endParaRPr lang="en-US" altLang="ko-KR" sz="850" dirty="0"/>
          </a:p>
        </p:txBody>
      </p:sp>
      <p:pic>
        <p:nvPicPr>
          <p:cNvPr id="107" name="그림 106" descr="￬ﾋﾤ￬ﾠﾜ ￬ﾠﾕ￫ﾋﾵ&#10;&#10;AI 생성 콘텐츠는 정확하지 않을 수 있습니다.">
            <a:extLst>
              <a:ext uri="{FF2B5EF4-FFF2-40B4-BE49-F238E27FC236}">
                <a16:creationId xmlns:a16="http://schemas.microsoft.com/office/drawing/2014/main" id="{816E0944-B007-4444-6D2A-68664FFFD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31" y="1305252"/>
            <a:ext cx="4056812" cy="353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550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4개 모델 실전 테스트 – 복합 표지판 &amp; 크롭 이미지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8686800" cy="320040"/>
          </a:xfrm>
          <a:prstGeom prst="rect">
            <a:avLst/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74320" y="1051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①  signtest.jpg — 어린이보호 + 속도제한30 복합 표지판 (배경 노이즈 있음)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3289664" cy="3455126"/>
          </a:xfrm>
          <a:prstGeom prst="rect">
            <a:avLst/>
          </a:prstGeom>
          <a:solidFill>
            <a:srgbClr val="E2E8F0"/>
          </a:solidFill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7168722A-0119-215E-6103-9428B9A3234E}"/>
              </a:ext>
            </a:extLst>
          </p:cNvPr>
          <p:cNvGrpSpPr/>
          <p:nvPr/>
        </p:nvGrpSpPr>
        <p:grpSpPr>
          <a:xfrm>
            <a:off x="3705497" y="1417320"/>
            <a:ext cx="5164183" cy="3489960"/>
            <a:chOff x="1965960" y="1417320"/>
            <a:chExt cx="3547872" cy="3115491"/>
          </a:xfrm>
        </p:grpSpPr>
        <p:sp>
          <p:nvSpPr>
            <p:cNvPr id="8" name="Shape 6"/>
            <p:cNvSpPr/>
            <p:nvPr/>
          </p:nvSpPr>
          <p:spPr>
            <a:xfrm>
              <a:off x="1965960" y="1417320"/>
              <a:ext cx="1719072" cy="1508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563EB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1965960" y="1417320"/>
              <a:ext cx="1719072" cy="27432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1965960" y="1417320"/>
              <a:ext cx="17190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ResNet50</a:t>
              </a:r>
              <a:endParaRPr lang="en-US" sz="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020824" y="1737360"/>
              <a:ext cx="1609344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2563E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지시표지</a:t>
              </a:r>
              <a:endParaRPr lang="en-US" sz="9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2020824" y="2103120"/>
              <a:ext cx="1609344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95.44%</a:t>
              </a:r>
              <a:endParaRPr lang="en-US" sz="9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2020824" y="2350008"/>
              <a:ext cx="1609344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파란색 상단 표지판 집중 → 색상 편향</a:t>
              </a:r>
              <a:endParaRPr lang="en-US" sz="75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794760" y="1417320"/>
              <a:ext cx="1719072" cy="1508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59669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3794760" y="1417320"/>
              <a:ext cx="1719072" cy="274320"/>
            </a:xfrm>
            <a:prstGeom prst="rect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3794760" y="1417320"/>
              <a:ext cx="17190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ResNet101</a:t>
              </a:r>
              <a:endParaRPr lang="en-US" sz="9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3849624" y="1737360"/>
              <a:ext cx="1609344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59669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보호구역</a:t>
              </a:r>
              <a:endParaRPr lang="en-US" sz="9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3849624" y="2103120"/>
              <a:ext cx="1609344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93.42%</a:t>
              </a:r>
              <a:endParaRPr lang="en-US" sz="9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3849624" y="2350008"/>
              <a:ext cx="1609344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30, </a:t>
              </a:r>
              <a:r>
                <a:rPr lang="ko-KR" altLang="en-US" sz="7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빨간색</a:t>
              </a:r>
              <a:r>
                <a:rPr lang="en-US" altLang="ko-KR" sz="7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, </a:t>
              </a:r>
              <a:r>
                <a:rPr lang="ko-KR" altLang="en-US" sz="7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원 확인 후</a:t>
              </a:r>
              <a:r>
                <a:rPr lang="en-US" sz="7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추론 성공</a:t>
              </a:r>
              <a:endParaRPr lang="en-US" sz="75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1965960" y="3024051"/>
              <a:ext cx="1719072" cy="1508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Shape 19"/>
            <p:cNvSpPr/>
            <p:nvPr/>
          </p:nvSpPr>
          <p:spPr>
            <a:xfrm>
              <a:off x="1965960" y="3024051"/>
              <a:ext cx="1719072" cy="27432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1965960" y="3024051"/>
              <a:ext cx="17190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VGG16</a:t>
              </a:r>
              <a:endParaRPr lang="en-US" sz="9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020824" y="3344091"/>
              <a:ext cx="1609344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7C3AED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스쿨존_속도제한30이하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2020824" y="3709851"/>
              <a:ext cx="1609344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30.52%</a:t>
              </a:r>
              <a:endParaRPr lang="en-US" sz="9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2020824" y="3956739"/>
              <a:ext cx="1609344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가중치 붕괴 상태 → 무의미</a:t>
              </a:r>
              <a:endParaRPr lang="en-US" sz="75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794760" y="3024051"/>
              <a:ext cx="1719072" cy="15087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2626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Shape 25"/>
            <p:cNvSpPr/>
            <p:nvPr/>
          </p:nvSpPr>
          <p:spPr>
            <a:xfrm>
              <a:off x="3794760" y="3024051"/>
              <a:ext cx="1719072" cy="274320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 26"/>
            <p:cNvSpPr/>
            <p:nvPr/>
          </p:nvSpPr>
          <p:spPr>
            <a:xfrm>
              <a:off x="3794760" y="3024051"/>
              <a:ext cx="17190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MobileNetV2</a:t>
              </a:r>
              <a:endParaRPr lang="en-US" sz="9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3849624" y="3344091"/>
              <a:ext cx="1609344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높이_중량제한</a:t>
              </a:r>
              <a:endParaRPr lang="en-US" sz="9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849624" y="3709851"/>
              <a:ext cx="1609344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11.51%</a:t>
              </a:r>
              <a:endParaRPr lang="en-US" sz="9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3849624" y="3956739"/>
              <a:ext cx="1609344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확신도 극저 → 무의미</a:t>
              </a:r>
              <a:endParaRPr lang="en-US" sz="750" dirty="0"/>
            </a:p>
          </p:txBody>
        </p:sp>
      </p:grpSp>
      <p:pic>
        <p:nvPicPr>
          <p:cNvPr id="64" name="그림 63" descr="The image shows a road sign with a pedestrian symbol, indicating a pedestrian zone, and a number 30, suggesting a speed limit of 30 km/h.&#10;&#10;AI 생성 콘텐츠는 정확하지 않을 수 있습니다.">
            <a:extLst>
              <a:ext uri="{FF2B5EF4-FFF2-40B4-BE49-F238E27FC236}">
                <a16:creationId xmlns:a16="http://schemas.microsoft.com/office/drawing/2014/main" id="{45770D49-7646-3912-4C52-2C17D7D8C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1473178"/>
            <a:ext cx="3197227" cy="335215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9F6DB-4C12-1280-1284-E9A839E05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AFAEBC-5B63-A81B-2EEA-A182298E59F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9E8F94-7A45-B4A5-A406-165557D6B46A}"/>
              </a:ext>
            </a:extLst>
          </p:cNvPr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4개 모델 실전 테스트 – 복합 표지판 &amp; 크롭 이미지</a:t>
            </a:r>
            <a:endParaRPr lang="en-US" sz="2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06278C2-274C-D7EC-C0B8-6A9F8CCFF4D3}"/>
              </a:ext>
            </a:extLst>
          </p:cNvPr>
          <p:cNvSpPr/>
          <p:nvPr/>
        </p:nvSpPr>
        <p:spPr>
          <a:xfrm>
            <a:off x="228600" y="1074637"/>
            <a:ext cx="8686800" cy="320040"/>
          </a:xfrm>
          <a:prstGeom prst="rect">
            <a:avLst/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5AF5505-DDF1-1ABF-3F78-0F3B1853F72A}"/>
              </a:ext>
            </a:extLst>
          </p:cNvPr>
          <p:cNvSpPr/>
          <p:nvPr/>
        </p:nvSpPr>
        <p:spPr>
          <a:xfrm>
            <a:off x="274320" y="1074637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②  crop30_signtest.jpg — 속도제한30 표지판만 크롭 (단일 객체)</a:t>
            </a:r>
            <a:endParaRPr lang="en-US" sz="10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C307A12C-7633-3C5E-8E65-B8013D03AA5E}"/>
              </a:ext>
            </a:extLst>
          </p:cNvPr>
          <p:cNvSpPr/>
          <p:nvPr/>
        </p:nvSpPr>
        <p:spPr>
          <a:xfrm>
            <a:off x="228599" y="1440397"/>
            <a:ext cx="3063241" cy="3144666"/>
          </a:xfrm>
          <a:prstGeom prst="rect">
            <a:avLst/>
          </a:prstGeom>
          <a:solidFill>
            <a:srgbClr val="E2E8F0"/>
          </a:solidFill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82357A2-8545-7BC6-A2F9-03ADBAA6B3DA}"/>
              </a:ext>
            </a:extLst>
          </p:cNvPr>
          <p:cNvGrpSpPr/>
          <p:nvPr/>
        </p:nvGrpSpPr>
        <p:grpSpPr>
          <a:xfrm>
            <a:off x="4040777" y="1486117"/>
            <a:ext cx="4874623" cy="3098946"/>
            <a:chOff x="1965960" y="1440397"/>
            <a:chExt cx="3547872" cy="2687465"/>
          </a:xfrm>
        </p:grpSpPr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E496A5D1-E392-CF5B-545B-3E11F97DFC55}"/>
                </a:ext>
              </a:extLst>
            </p:cNvPr>
            <p:cNvSpPr/>
            <p:nvPr/>
          </p:nvSpPr>
          <p:spPr>
            <a:xfrm>
              <a:off x="1965960" y="1440397"/>
              <a:ext cx="1719072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35">
              <a:extLst>
                <a:ext uri="{FF2B5EF4-FFF2-40B4-BE49-F238E27FC236}">
                  <a16:creationId xmlns:a16="http://schemas.microsoft.com/office/drawing/2014/main" id="{3026BE5A-F8F7-0DA7-49A8-B254C376767D}"/>
                </a:ext>
              </a:extLst>
            </p:cNvPr>
            <p:cNvSpPr/>
            <p:nvPr/>
          </p:nvSpPr>
          <p:spPr>
            <a:xfrm>
              <a:off x="1965960" y="1440397"/>
              <a:ext cx="1719072" cy="27432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0EDEBC36-9EB0-E268-6F68-814B47ACCCBF}"/>
                </a:ext>
              </a:extLst>
            </p:cNvPr>
            <p:cNvSpPr/>
            <p:nvPr/>
          </p:nvSpPr>
          <p:spPr>
            <a:xfrm>
              <a:off x="1965960" y="1440397"/>
              <a:ext cx="17190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ResNet50</a:t>
              </a:r>
              <a:endParaRPr lang="en-US" sz="900" dirty="0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0FB529F6-4529-06D8-DE81-0B1D4FF9C522}"/>
                </a:ext>
              </a:extLst>
            </p:cNvPr>
            <p:cNvSpPr/>
            <p:nvPr/>
          </p:nvSpPr>
          <p:spPr>
            <a:xfrm>
              <a:off x="2011680" y="1751293"/>
              <a:ext cx="1627632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2563E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지시표지</a:t>
              </a:r>
              <a:endParaRPr lang="en-US" sz="900" dirty="0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0BCB3A60-AFCB-C2EB-91A0-E1FE21EC216B}"/>
                </a:ext>
              </a:extLst>
            </p:cNvPr>
            <p:cNvSpPr/>
            <p:nvPr/>
          </p:nvSpPr>
          <p:spPr>
            <a:xfrm>
              <a:off x="2011680" y="2098765"/>
              <a:ext cx="16276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87.39%</a:t>
              </a:r>
              <a:endParaRPr lang="en-US" sz="900" dirty="0"/>
            </a:p>
          </p:txBody>
        </p:sp>
        <p:sp>
          <p:nvSpPr>
            <p:cNvPr id="41" name="Text 39">
              <a:extLst>
                <a:ext uri="{FF2B5EF4-FFF2-40B4-BE49-F238E27FC236}">
                  <a16:creationId xmlns:a16="http://schemas.microsoft.com/office/drawing/2014/main" id="{63AFC65E-6B5D-54A0-37E3-CE2113E0A457}"/>
                </a:ext>
              </a:extLst>
            </p:cNvPr>
            <p:cNvSpPr/>
            <p:nvPr/>
          </p:nvSpPr>
          <p:spPr>
            <a:xfrm>
              <a:off x="2011680" y="2318221"/>
              <a:ext cx="162763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크롭 후에도 파란색 혼동 (층 깊이 한계)</a:t>
              </a:r>
              <a:endParaRPr lang="en-US" sz="750" dirty="0"/>
            </a:p>
          </p:txBody>
        </p:sp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4866FB16-57E8-B327-E298-903A6D44DD7C}"/>
                </a:ext>
              </a:extLst>
            </p:cNvPr>
            <p:cNvSpPr/>
            <p:nvPr/>
          </p:nvSpPr>
          <p:spPr>
            <a:xfrm>
              <a:off x="3794760" y="1440397"/>
              <a:ext cx="1719072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Shape 41">
              <a:extLst>
                <a:ext uri="{FF2B5EF4-FFF2-40B4-BE49-F238E27FC236}">
                  <a16:creationId xmlns:a16="http://schemas.microsoft.com/office/drawing/2014/main" id="{42694B16-CD56-1E20-44CA-982BDE221B71}"/>
                </a:ext>
              </a:extLst>
            </p:cNvPr>
            <p:cNvSpPr/>
            <p:nvPr/>
          </p:nvSpPr>
          <p:spPr>
            <a:xfrm>
              <a:off x="3794760" y="1440397"/>
              <a:ext cx="1719072" cy="274320"/>
            </a:xfrm>
            <a:prstGeom prst="rect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 42">
              <a:extLst>
                <a:ext uri="{FF2B5EF4-FFF2-40B4-BE49-F238E27FC236}">
                  <a16:creationId xmlns:a16="http://schemas.microsoft.com/office/drawing/2014/main" id="{3E006DEF-E9A5-31B7-C1EC-C4BD899E6992}"/>
                </a:ext>
              </a:extLst>
            </p:cNvPr>
            <p:cNvSpPr/>
            <p:nvPr/>
          </p:nvSpPr>
          <p:spPr>
            <a:xfrm>
              <a:off x="3794760" y="1440397"/>
              <a:ext cx="17190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ResNet101</a:t>
              </a:r>
              <a:endParaRPr lang="en-US" sz="900" dirty="0"/>
            </a:p>
          </p:txBody>
        </p:sp>
        <p:sp>
          <p:nvSpPr>
            <p:cNvPr id="45" name="Text 43">
              <a:extLst>
                <a:ext uri="{FF2B5EF4-FFF2-40B4-BE49-F238E27FC236}">
                  <a16:creationId xmlns:a16="http://schemas.microsoft.com/office/drawing/2014/main" id="{A7867EFB-6C93-12E9-4487-5F2585F345EF}"/>
                </a:ext>
              </a:extLst>
            </p:cNvPr>
            <p:cNvSpPr/>
            <p:nvPr/>
          </p:nvSpPr>
          <p:spPr>
            <a:xfrm>
              <a:off x="3840480" y="1751293"/>
              <a:ext cx="1627632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059669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스쿨존_속도제한30이하</a:t>
              </a:r>
              <a:endParaRPr lang="en-US" sz="900" dirty="0"/>
            </a:p>
          </p:txBody>
        </p:sp>
        <p:sp>
          <p:nvSpPr>
            <p:cNvPr id="46" name="Text 44">
              <a:extLst>
                <a:ext uri="{FF2B5EF4-FFF2-40B4-BE49-F238E27FC236}">
                  <a16:creationId xmlns:a16="http://schemas.microsoft.com/office/drawing/2014/main" id="{6A7B938A-7EE9-AA4C-80D3-E97382117F06}"/>
                </a:ext>
              </a:extLst>
            </p:cNvPr>
            <p:cNvSpPr/>
            <p:nvPr/>
          </p:nvSpPr>
          <p:spPr>
            <a:xfrm>
              <a:off x="3840480" y="2098765"/>
              <a:ext cx="16276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76.45%</a:t>
              </a:r>
              <a:endParaRPr lang="en-US" sz="900" dirty="0"/>
            </a:p>
          </p:txBody>
        </p:sp>
        <p:sp>
          <p:nvSpPr>
            <p:cNvPr id="47" name="Text 45">
              <a:extLst>
                <a:ext uri="{FF2B5EF4-FFF2-40B4-BE49-F238E27FC236}">
                  <a16:creationId xmlns:a16="http://schemas.microsoft.com/office/drawing/2014/main" id="{12C49665-4E91-23A7-B481-3B44CC7042E5}"/>
                </a:ext>
              </a:extLst>
            </p:cNvPr>
            <p:cNvSpPr/>
            <p:nvPr/>
          </p:nvSpPr>
          <p:spPr>
            <a:xfrm>
              <a:off x="3840480" y="2318221"/>
              <a:ext cx="162763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"30" 숫자 </a:t>
              </a:r>
              <a:r>
                <a:rPr lang="en-US" sz="750" dirty="0" err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타겟팅</a:t>
              </a:r>
              <a:r>
                <a:rPr lang="en-US" sz="7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750" dirty="0" err="1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성공</a:t>
              </a:r>
              <a:r>
                <a:rPr lang="en-US" sz="7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노이즈 제거 효과</a:t>
              </a:r>
              <a:endParaRPr lang="en-US" sz="750" dirty="0"/>
            </a:p>
          </p:txBody>
        </p:sp>
        <p:sp>
          <p:nvSpPr>
            <p:cNvPr id="48" name="Shape 46">
              <a:extLst>
                <a:ext uri="{FF2B5EF4-FFF2-40B4-BE49-F238E27FC236}">
                  <a16:creationId xmlns:a16="http://schemas.microsoft.com/office/drawing/2014/main" id="{EE354D9B-7C89-499A-08B2-B313FEA7B772}"/>
                </a:ext>
              </a:extLst>
            </p:cNvPr>
            <p:cNvSpPr/>
            <p:nvPr/>
          </p:nvSpPr>
          <p:spPr>
            <a:xfrm>
              <a:off x="1965960" y="2829414"/>
              <a:ext cx="1719072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Shape 47">
              <a:extLst>
                <a:ext uri="{FF2B5EF4-FFF2-40B4-BE49-F238E27FC236}">
                  <a16:creationId xmlns:a16="http://schemas.microsoft.com/office/drawing/2014/main" id="{5EBCC9E8-ECB6-0B9D-C63F-CBC1FA025B82}"/>
                </a:ext>
              </a:extLst>
            </p:cNvPr>
            <p:cNvSpPr/>
            <p:nvPr/>
          </p:nvSpPr>
          <p:spPr>
            <a:xfrm>
              <a:off x="1965960" y="2829414"/>
              <a:ext cx="1719072" cy="27432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8">
              <a:extLst>
                <a:ext uri="{FF2B5EF4-FFF2-40B4-BE49-F238E27FC236}">
                  <a16:creationId xmlns:a16="http://schemas.microsoft.com/office/drawing/2014/main" id="{FC6E2285-0789-353D-2216-FE692B0FC968}"/>
                </a:ext>
              </a:extLst>
            </p:cNvPr>
            <p:cNvSpPr/>
            <p:nvPr/>
          </p:nvSpPr>
          <p:spPr>
            <a:xfrm>
              <a:off x="1965960" y="2829414"/>
              <a:ext cx="17190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VGG16</a:t>
              </a:r>
              <a:endParaRPr lang="en-US" sz="900" dirty="0"/>
            </a:p>
          </p:txBody>
        </p:sp>
        <p:sp>
          <p:nvSpPr>
            <p:cNvPr id="51" name="Text 49">
              <a:extLst>
                <a:ext uri="{FF2B5EF4-FFF2-40B4-BE49-F238E27FC236}">
                  <a16:creationId xmlns:a16="http://schemas.microsoft.com/office/drawing/2014/main" id="{26EEB928-3AE2-3A48-A7CB-466B74CC7CFD}"/>
                </a:ext>
              </a:extLst>
            </p:cNvPr>
            <p:cNvSpPr/>
            <p:nvPr/>
          </p:nvSpPr>
          <p:spPr>
            <a:xfrm>
              <a:off x="2011680" y="3140310"/>
              <a:ext cx="1627632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7C3AED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보호구역</a:t>
              </a:r>
              <a:endParaRPr lang="en-US" sz="900" dirty="0"/>
            </a:p>
          </p:txBody>
        </p:sp>
        <p:sp>
          <p:nvSpPr>
            <p:cNvPr id="52" name="Text 50">
              <a:extLst>
                <a:ext uri="{FF2B5EF4-FFF2-40B4-BE49-F238E27FC236}">
                  <a16:creationId xmlns:a16="http://schemas.microsoft.com/office/drawing/2014/main" id="{CE0291DE-D119-2505-C95E-F4D00921931B}"/>
                </a:ext>
              </a:extLst>
            </p:cNvPr>
            <p:cNvSpPr/>
            <p:nvPr/>
          </p:nvSpPr>
          <p:spPr>
            <a:xfrm>
              <a:off x="2011680" y="3487782"/>
              <a:ext cx="16276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33.89%</a:t>
              </a:r>
              <a:endParaRPr lang="en-US" sz="900" dirty="0"/>
            </a:p>
          </p:txBody>
        </p:sp>
        <p:sp>
          <p:nvSpPr>
            <p:cNvPr id="53" name="Text 51">
              <a:extLst>
                <a:ext uri="{FF2B5EF4-FFF2-40B4-BE49-F238E27FC236}">
                  <a16:creationId xmlns:a16="http://schemas.microsoft.com/office/drawing/2014/main" id="{172D9268-B090-65AF-7377-B8ECF3DC034D}"/>
                </a:ext>
              </a:extLst>
            </p:cNvPr>
            <p:cNvSpPr/>
            <p:nvPr/>
          </p:nvSpPr>
          <p:spPr>
            <a:xfrm>
              <a:off x="2011680" y="3707238"/>
              <a:ext cx="162763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여전히 붕괴 상태</a:t>
              </a:r>
              <a:endParaRPr lang="en-US" sz="750" dirty="0"/>
            </a:p>
          </p:txBody>
        </p:sp>
        <p:sp>
          <p:nvSpPr>
            <p:cNvPr id="54" name="Shape 52">
              <a:extLst>
                <a:ext uri="{FF2B5EF4-FFF2-40B4-BE49-F238E27FC236}">
                  <a16:creationId xmlns:a16="http://schemas.microsoft.com/office/drawing/2014/main" id="{C053A195-7BD7-FB85-24D9-D4FD116BCB5C}"/>
                </a:ext>
              </a:extLst>
            </p:cNvPr>
            <p:cNvSpPr/>
            <p:nvPr/>
          </p:nvSpPr>
          <p:spPr>
            <a:xfrm>
              <a:off x="3794760" y="2829414"/>
              <a:ext cx="1719072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Shape 53">
              <a:extLst>
                <a:ext uri="{FF2B5EF4-FFF2-40B4-BE49-F238E27FC236}">
                  <a16:creationId xmlns:a16="http://schemas.microsoft.com/office/drawing/2014/main" id="{D748C385-F51D-646F-5C6C-B20024D6F102}"/>
                </a:ext>
              </a:extLst>
            </p:cNvPr>
            <p:cNvSpPr/>
            <p:nvPr/>
          </p:nvSpPr>
          <p:spPr>
            <a:xfrm>
              <a:off x="3794760" y="2829414"/>
              <a:ext cx="1719072" cy="274320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 54">
              <a:extLst>
                <a:ext uri="{FF2B5EF4-FFF2-40B4-BE49-F238E27FC236}">
                  <a16:creationId xmlns:a16="http://schemas.microsoft.com/office/drawing/2014/main" id="{DD1A5EF4-7AF4-C016-4ABC-8C58FD2A43CD}"/>
                </a:ext>
              </a:extLst>
            </p:cNvPr>
            <p:cNvSpPr/>
            <p:nvPr/>
          </p:nvSpPr>
          <p:spPr>
            <a:xfrm>
              <a:off x="3794760" y="2829414"/>
              <a:ext cx="17190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MobileNetV2</a:t>
              </a:r>
              <a:endParaRPr lang="en-US" sz="900" dirty="0"/>
            </a:p>
          </p:txBody>
        </p:sp>
        <p:sp>
          <p:nvSpPr>
            <p:cNvPr id="57" name="Text 55">
              <a:extLst>
                <a:ext uri="{FF2B5EF4-FFF2-40B4-BE49-F238E27FC236}">
                  <a16:creationId xmlns:a16="http://schemas.microsoft.com/office/drawing/2014/main" id="{F8EF906A-9494-E7CD-F2D3-625061915AC1}"/>
                </a:ext>
              </a:extLst>
            </p:cNvPr>
            <p:cNvSpPr/>
            <p:nvPr/>
          </p:nvSpPr>
          <p:spPr>
            <a:xfrm>
              <a:off x="3840480" y="3140310"/>
              <a:ext cx="1627632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높이_중량제한</a:t>
              </a:r>
              <a:endParaRPr lang="en-US" sz="900" dirty="0"/>
            </a:p>
          </p:txBody>
        </p:sp>
        <p:sp>
          <p:nvSpPr>
            <p:cNvPr id="58" name="Text 56">
              <a:extLst>
                <a:ext uri="{FF2B5EF4-FFF2-40B4-BE49-F238E27FC236}">
                  <a16:creationId xmlns:a16="http://schemas.microsoft.com/office/drawing/2014/main" id="{07C17A59-7842-347F-8F07-11D5B52C372D}"/>
                </a:ext>
              </a:extLst>
            </p:cNvPr>
            <p:cNvSpPr/>
            <p:nvPr/>
          </p:nvSpPr>
          <p:spPr>
            <a:xfrm>
              <a:off x="3840480" y="3487782"/>
              <a:ext cx="16276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11.52%</a:t>
              </a:r>
              <a:endParaRPr lang="en-US" sz="900" dirty="0"/>
            </a:p>
          </p:txBody>
        </p:sp>
        <p:sp>
          <p:nvSpPr>
            <p:cNvPr id="59" name="Text 57">
              <a:extLst>
                <a:ext uri="{FF2B5EF4-FFF2-40B4-BE49-F238E27FC236}">
                  <a16:creationId xmlns:a16="http://schemas.microsoft.com/office/drawing/2014/main" id="{1A00443C-E53A-1079-948B-CED9C77C9789}"/>
                </a:ext>
              </a:extLst>
            </p:cNvPr>
            <p:cNvSpPr/>
            <p:nvPr/>
          </p:nvSpPr>
          <p:spPr>
            <a:xfrm>
              <a:off x="3840480" y="3707238"/>
              <a:ext cx="162763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여전히 붕괴 상태</a:t>
              </a:r>
              <a:endParaRPr lang="en-US" sz="750" dirty="0"/>
            </a:p>
          </p:txBody>
        </p:sp>
      </p:grpSp>
      <p:sp>
        <p:nvSpPr>
          <p:cNvPr id="60" name="Shape 58">
            <a:extLst>
              <a:ext uri="{FF2B5EF4-FFF2-40B4-BE49-F238E27FC236}">
                <a16:creationId xmlns:a16="http://schemas.microsoft.com/office/drawing/2014/main" id="{C5FE955D-26A9-3D3A-404C-350C15EF7FF1}"/>
              </a:ext>
            </a:extLst>
          </p:cNvPr>
          <p:cNvSpPr/>
          <p:nvPr/>
        </p:nvSpPr>
        <p:spPr>
          <a:xfrm>
            <a:off x="228600" y="4653859"/>
            <a:ext cx="8686800" cy="393192"/>
          </a:xfrm>
          <a:prstGeom prst="rect">
            <a:avLst/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79D505A5-5D72-919A-18ED-ABC873F657C6}"/>
              </a:ext>
            </a:extLst>
          </p:cNvPr>
          <p:cNvSpPr/>
          <p:nvPr/>
        </p:nvSpPr>
        <p:spPr>
          <a:xfrm>
            <a:off x="292608" y="4653859"/>
            <a:ext cx="8503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발견: 크롭(노이즈 제거) 시 ResNet101만 "30" 숫자 판독 성공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실전 시스템에서 YOLO 등 탐지기를 먼저 배치하는 파이프라인이 필수</a:t>
            </a:r>
            <a:endParaRPr lang="en-US" sz="850" dirty="0"/>
          </a:p>
        </p:txBody>
      </p:sp>
      <p:pic>
        <p:nvPicPr>
          <p:cNvPr id="64" name="그림 63" descr="30&#10;&#10;AI 생성 콘텐츠는 정확하지 않을 수 있습니다.">
            <a:extLst>
              <a:ext uri="{FF2B5EF4-FFF2-40B4-BE49-F238E27FC236}">
                <a16:creationId xmlns:a16="http://schemas.microsoft.com/office/drawing/2014/main" id="{82925E6E-2257-ED43-53C9-2E0680F85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6116"/>
            <a:ext cx="2965269" cy="303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741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E3C01-6F5C-1AF9-F96A-35DAF8C57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89566D-89B0-1FF1-3526-8F503FA4CFC6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B31E2C-A1C2-0F4D-0FB2-E17EEC4B9E2D}"/>
              </a:ext>
            </a:extLst>
          </p:cNvPr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4개 모델 실전 테스트 – 복합 표지판 &amp; 크롭 이미지</a:t>
            </a:r>
            <a:endParaRPr lang="en-US" sz="2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8BEDC35-A911-FA91-961B-8974B71FA9C1}"/>
              </a:ext>
            </a:extLst>
          </p:cNvPr>
          <p:cNvSpPr/>
          <p:nvPr/>
        </p:nvSpPr>
        <p:spPr>
          <a:xfrm>
            <a:off x="228600" y="1074637"/>
            <a:ext cx="8686800" cy="320040"/>
          </a:xfrm>
          <a:prstGeom prst="rect">
            <a:avLst/>
          </a:prstGeom>
          <a:solidFill>
            <a:srgbClr val="D1FAE5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131EC3E-923C-EB80-26B1-946B5DD75A5B}"/>
              </a:ext>
            </a:extLst>
          </p:cNvPr>
          <p:cNvSpPr/>
          <p:nvPr/>
        </p:nvSpPr>
        <p:spPr>
          <a:xfrm>
            <a:off x="274320" y="1074637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테스트 ②  BT_signtest.jpg — </a:t>
            </a:r>
            <a:r>
              <a:rPr lang="ko-KR" altLang="en-US" sz="1000" b="1" dirty="0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어린이보호 </a:t>
            </a:r>
            <a:r>
              <a:rPr lang="en-US" sz="1000" b="1" dirty="0" err="1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표지판만</a:t>
            </a:r>
            <a:r>
              <a:rPr lang="en-US" sz="1000" b="1" dirty="0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b="1" dirty="0" err="1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크롭</a:t>
            </a:r>
            <a:r>
              <a:rPr lang="en-US" sz="1000" b="1" dirty="0">
                <a:solidFill>
                  <a:srgbClr val="1A2B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(Blue + Triangle)</a:t>
            </a:r>
            <a:endParaRPr lang="en-US" sz="10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8564D64-D0BE-890B-7E79-2B9B067DC5E4}"/>
              </a:ext>
            </a:extLst>
          </p:cNvPr>
          <p:cNvSpPr/>
          <p:nvPr/>
        </p:nvSpPr>
        <p:spPr>
          <a:xfrm>
            <a:off x="228599" y="1440397"/>
            <a:ext cx="3661417" cy="3641054"/>
          </a:xfrm>
          <a:prstGeom prst="rect">
            <a:avLst/>
          </a:prstGeom>
          <a:solidFill>
            <a:srgbClr val="E2E8F0"/>
          </a:solidFill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F070957-82C0-AF8D-78B8-210A2E865A9A}"/>
              </a:ext>
            </a:extLst>
          </p:cNvPr>
          <p:cNvGrpSpPr/>
          <p:nvPr/>
        </p:nvGrpSpPr>
        <p:grpSpPr>
          <a:xfrm>
            <a:off x="3971109" y="1440397"/>
            <a:ext cx="4912812" cy="3641054"/>
            <a:chOff x="1965960" y="1440397"/>
            <a:chExt cx="3547872" cy="2687465"/>
          </a:xfrm>
        </p:grpSpPr>
        <p:sp>
          <p:nvSpPr>
            <p:cNvPr id="36" name="Shape 34">
              <a:extLst>
                <a:ext uri="{FF2B5EF4-FFF2-40B4-BE49-F238E27FC236}">
                  <a16:creationId xmlns:a16="http://schemas.microsoft.com/office/drawing/2014/main" id="{EE22AE4C-7C26-3826-223A-AFA346EA82D0}"/>
                </a:ext>
              </a:extLst>
            </p:cNvPr>
            <p:cNvSpPr/>
            <p:nvPr/>
          </p:nvSpPr>
          <p:spPr>
            <a:xfrm>
              <a:off x="1965960" y="1440397"/>
              <a:ext cx="1719072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Shape 35">
              <a:extLst>
                <a:ext uri="{FF2B5EF4-FFF2-40B4-BE49-F238E27FC236}">
                  <a16:creationId xmlns:a16="http://schemas.microsoft.com/office/drawing/2014/main" id="{C0E4836D-DF3F-0982-8892-C70CD6066D51}"/>
                </a:ext>
              </a:extLst>
            </p:cNvPr>
            <p:cNvSpPr/>
            <p:nvPr/>
          </p:nvSpPr>
          <p:spPr>
            <a:xfrm>
              <a:off x="1965960" y="1440397"/>
              <a:ext cx="1719072" cy="27432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5702F510-04BA-500F-EFAD-947AA61F8A15}"/>
                </a:ext>
              </a:extLst>
            </p:cNvPr>
            <p:cNvSpPr/>
            <p:nvPr/>
          </p:nvSpPr>
          <p:spPr>
            <a:xfrm>
              <a:off x="1965960" y="1440397"/>
              <a:ext cx="17190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ResNet50</a:t>
              </a:r>
              <a:endParaRPr lang="en-US" sz="900" dirty="0"/>
            </a:p>
          </p:txBody>
        </p:sp>
        <p:sp>
          <p:nvSpPr>
            <p:cNvPr id="39" name="Text 37">
              <a:extLst>
                <a:ext uri="{FF2B5EF4-FFF2-40B4-BE49-F238E27FC236}">
                  <a16:creationId xmlns:a16="http://schemas.microsoft.com/office/drawing/2014/main" id="{FC82FBCB-6DB9-9001-ACC0-992D53D2AB92}"/>
                </a:ext>
              </a:extLst>
            </p:cNvPr>
            <p:cNvSpPr/>
            <p:nvPr/>
          </p:nvSpPr>
          <p:spPr>
            <a:xfrm>
              <a:off x="2011680" y="1751293"/>
              <a:ext cx="1627632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900" b="1" dirty="0">
                  <a:solidFill>
                    <a:srgbClr val="2563E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주의</a:t>
              </a:r>
              <a:r>
                <a:rPr lang="en-US" sz="900" b="1" dirty="0" err="1">
                  <a:solidFill>
                    <a:srgbClr val="2563E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표지</a:t>
              </a:r>
              <a:endParaRPr lang="en-US" sz="900" dirty="0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44C4B979-8AD7-879E-0C49-36B350D93790}"/>
                </a:ext>
              </a:extLst>
            </p:cNvPr>
            <p:cNvSpPr/>
            <p:nvPr/>
          </p:nvSpPr>
          <p:spPr>
            <a:xfrm>
              <a:off x="2011680" y="2098765"/>
              <a:ext cx="16276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73.61%</a:t>
              </a:r>
              <a:endParaRPr lang="en-US" sz="900" dirty="0"/>
            </a:p>
          </p:txBody>
        </p:sp>
        <p:sp>
          <p:nvSpPr>
            <p:cNvPr id="41" name="Text 39">
              <a:extLst>
                <a:ext uri="{FF2B5EF4-FFF2-40B4-BE49-F238E27FC236}">
                  <a16:creationId xmlns:a16="http://schemas.microsoft.com/office/drawing/2014/main" id="{D61AA467-07D3-F5EE-851B-18D079B17101}"/>
                </a:ext>
              </a:extLst>
            </p:cNvPr>
            <p:cNvSpPr/>
            <p:nvPr/>
          </p:nvSpPr>
          <p:spPr>
            <a:xfrm>
              <a:off x="2011680" y="2318221"/>
              <a:ext cx="162763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ko-KR" altLang="ko-KR" sz="750" dirty="0" err="1"/>
                <a:t>파란색·삼각형</a:t>
              </a:r>
              <a:r>
                <a:rPr lang="ko-KR" altLang="ko-KR" sz="750" dirty="0"/>
                <a:t> 조합을 주의표지로 혼동. 색상 특징 학습 부족</a:t>
              </a:r>
              <a:endParaRPr lang="en-US" sz="750" dirty="0"/>
            </a:p>
          </p:txBody>
        </p:sp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367919C5-F906-0FB7-5EE1-611A53B2C3D5}"/>
                </a:ext>
              </a:extLst>
            </p:cNvPr>
            <p:cNvSpPr/>
            <p:nvPr/>
          </p:nvSpPr>
          <p:spPr>
            <a:xfrm>
              <a:off x="3794760" y="1440397"/>
              <a:ext cx="1719072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Shape 41">
              <a:extLst>
                <a:ext uri="{FF2B5EF4-FFF2-40B4-BE49-F238E27FC236}">
                  <a16:creationId xmlns:a16="http://schemas.microsoft.com/office/drawing/2014/main" id="{418C994D-0285-7A59-A379-F0D2C8EE8B11}"/>
                </a:ext>
              </a:extLst>
            </p:cNvPr>
            <p:cNvSpPr/>
            <p:nvPr/>
          </p:nvSpPr>
          <p:spPr>
            <a:xfrm>
              <a:off x="3794760" y="1440397"/>
              <a:ext cx="1719072" cy="274320"/>
            </a:xfrm>
            <a:prstGeom prst="rect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 42">
              <a:extLst>
                <a:ext uri="{FF2B5EF4-FFF2-40B4-BE49-F238E27FC236}">
                  <a16:creationId xmlns:a16="http://schemas.microsoft.com/office/drawing/2014/main" id="{56841B0E-DE54-2DBC-98D5-B8AE2D907E17}"/>
                </a:ext>
              </a:extLst>
            </p:cNvPr>
            <p:cNvSpPr/>
            <p:nvPr/>
          </p:nvSpPr>
          <p:spPr>
            <a:xfrm>
              <a:off x="3794760" y="1440397"/>
              <a:ext cx="17190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ResNet101</a:t>
              </a:r>
              <a:endParaRPr lang="en-US" sz="900" dirty="0"/>
            </a:p>
          </p:txBody>
        </p:sp>
        <p:sp>
          <p:nvSpPr>
            <p:cNvPr id="45" name="Text 43">
              <a:extLst>
                <a:ext uri="{FF2B5EF4-FFF2-40B4-BE49-F238E27FC236}">
                  <a16:creationId xmlns:a16="http://schemas.microsoft.com/office/drawing/2014/main" id="{FDB4F529-7ABF-3EF5-1C64-E7FDC230F204}"/>
                </a:ext>
              </a:extLst>
            </p:cNvPr>
            <p:cNvSpPr/>
            <p:nvPr/>
          </p:nvSpPr>
          <p:spPr>
            <a:xfrm>
              <a:off x="3840480" y="1751293"/>
              <a:ext cx="1627632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900" b="1" dirty="0">
                  <a:solidFill>
                    <a:srgbClr val="059669"/>
                  </a:solidFill>
                  <a:latin typeface="맑은 고딕" pitchFamily="34" charset="0"/>
                  <a:ea typeface="맑은 고딕" pitchFamily="34" charset="-122"/>
                </a:rPr>
                <a:t>보호구역</a:t>
              </a:r>
              <a:endParaRPr lang="en-US" sz="900" dirty="0"/>
            </a:p>
          </p:txBody>
        </p:sp>
        <p:sp>
          <p:nvSpPr>
            <p:cNvPr id="46" name="Text 44">
              <a:extLst>
                <a:ext uri="{FF2B5EF4-FFF2-40B4-BE49-F238E27FC236}">
                  <a16:creationId xmlns:a16="http://schemas.microsoft.com/office/drawing/2014/main" id="{2CDA12C7-1865-F8C1-F7B5-6C4EE5DE94C1}"/>
                </a:ext>
              </a:extLst>
            </p:cNvPr>
            <p:cNvSpPr/>
            <p:nvPr/>
          </p:nvSpPr>
          <p:spPr>
            <a:xfrm>
              <a:off x="3840480" y="2098765"/>
              <a:ext cx="16276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64.32%</a:t>
              </a:r>
              <a:endParaRPr lang="en-US" sz="900" dirty="0"/>
            </a:p>
          </p:txBody>
        </p:sp>
        <p:sp>
          <p:nvSpPr>
            <p:cNvPr id="47" name="Text 45">
              <a:extLst>
                <a:ext uri="{FF2B5EF4-FFF2-40B4-BE49-F238E27FC236}">
                  <a16:creationId xmlns:a16="http://schemas.microsoft.com/office/drawing/2014/main" id="{8DD821AD-E74D-76D6-3C89-47D41A909C5A}"/>
                </a:ext>
              </a:extLst>
            </p:cNvPr>
            <p:cNvSpPr/>
            <p:nvPr/>
          </p:nvSpPr>
          <p:spPr>
            <a:xfrm>
              <a:off x="3840480" y="2318221"/>
              <a:ext cx="162763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ko-KR" altLang="ko-KR" sz="750" dirty="0"/>
                <a:t>색상(파랑)·형태(삼각형)·텍스트 특징을 복합적으로 학습하여 정확히 분류</a:t>
              </a:r>
              <a:endParaRPr lang="en-US" sz="750" dirty="0"/>
            </a:p>
          </p:txBody>
        </p:sp>
        <p:sp>
          <p:nvSpPr>
            <p:cNvPr id="48" name="Shape 46">
              <a:extLst>
                <a:ext uri="{FF2B5EF4-FFF2-40B4-BE49-F238E27FC236}">
                  <a16:creationId xmlns:a16="http://schemas.microsoft.com/office/drawing/2014/main" id="{D098D228-16E5-0361-F622-84AA5EE2BE06}"/>
                </a:ext>
              </a:extLst>
            </p:cNvPr>
            <p:cNvSpPr/>
            <p:nvPr/>
          </p:nvSpPr>
          <p:spPr>
            <a:xfrm>
              <a:off x="1965960" y="2829414"/>
              <a:ext cx="1719072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Shape 47">
              <a:extLst>
                <a:ext uri="{FF2B5EF4-FFF2-40B4-BE49-F238E27FC236}">
                  <a16:creationId xmlns:a16="http://schemas.microsoft.com/office/drawing/2014/main" id="{F6B1EAA1-0B86-174B-D14C-B95068001A5F}"/>
                </a:ext>
              </a:extLst>
            </p:cNvPr>
            <p:cNvSpPr/>
            <p:nvPr/>
          </p:nvSpPr>
          <p:spPr>
            <a:xfrm>
              <a:off x="1965960" y="2829414"/>
              <a:ext cx="1719072" cy="274320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8">
              <a:extLst>
                <a:ext uri="{FF2B5EF4-FFF2-40B4-BE49-F238E27FC236}">
                  <a16:creationId xmlns:a16="http://schemas.microsoft.com/office/drawing/2014/main" id="{D5716471-9D0C-99F7-8833-D982B8D06448}"/>
                </a:ext>
              </a:extLst>
            </p:cNvPr>
            <p:cNvSpPr/>
            <p:nvPr/>
          </p:nvSpPr>
          <p:spPr>
            <a:xfrm>
              <a:off x="1965960" y="2829414"/>
              <a:ext cx="17190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VGG16</a:t>
              </a:r>
              <a:endParaRPr lang="en-US" sz="900" dirty="0"/>
            </a:p>
          </p:txBody>
        </p:sp>
        <p:sp>
          <p:nvSpPr>
            <p:cNvPr id="51" name="Text 49">
              <a:extLst>
                <a:ext uri="{FF2B5EF4-FFF2-40B4-BE49-F238E27FC236}">
                  <a16:creationId xmlns:a16="http://schemas.microsoft.com/office/drawing/2014/main" id="{355C7117-83DC-A2BB-2B1B-ED04734A9ED6}"/>
                </a:ext>
              </a:extLst>
            </p:cNvPr>
            <p:cNvSpPr/>
            <p:nvPr/>
          </p:nvSpPr>
          <p:spPr>
            <a:xfrm>
              <a:off x="2011680" y="3140310"/>
              <a:ext cx="1627632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ko-KR" altLang="en-US" sz="900" b="1" dirty="0">
                  <a:solidFill>
                    <a:srgbClr val="7C3AED"/>
                  </a:solidFill>
                  <a:latin typeface="맑은 고딕" pitchFamily="34" charset="0"/>
                  <a:ea typeface="맑은 고딕" pitchFamily="34" charset="-122"/>
                </a:rPr>
                <a:t>속도제한</a:t>
              </a:r>
              <a:r>
                <a:rPr lang="en-US" altLang="ko-KR" sz="900" b="1" dirty="0">
                  <a:solidFill>
                    <a:srgbClr val="7C3AED"/>
                  </a:solidFill>
                  <a:latin typeface="맑은 고딕" pitchFamily="34" charset="0"/>
                  <a:ea typeface="맑은 고딕" pitchFamily="34" charset="-122"/>
                </a:rPr>
                <a:t>40_60</a:t>
              </a:r>
              <a:endParaRPr lang="en-US" sz="900" dirty="0"/>
            </a:p>
          </p:txBody>
        </p:sp>
        <p:sp>
          <p:nvSpPr>
            <p:cNvPr id="52" name="Text 50">
              <a:extLst>
                <a:ext uri="{FF2B5EF4-FFF2-40B4-BE49-F238E27FC236}">
                  <a16:creationId xmlns:a16="http://schemas.microsoft.com/office/drawing/2014/main" id="{36AA585A-CC55-EBB5-41A4-B5C299CE7F78}"/>
                </a:ext>
              </a:extLst>
            </p:cNvPr>
            <p:cNvSpPr/>
            <p:nvPr/>
          </p:nvSpPr>
          <p:spPr>
            <a:xfrm>
              <a:off x="2011680" y="3487782"/>
              <a:ext cx="16276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40.32%</a:t>
              </a:r>
              <a:endParaRPr lang="en-US" sz="900" dirty="0"/>
            </a:p>
          </p:txBody>
        </p:sp>
        <p:sp>
          <p:nvSpPr>
            <p:cNvPr id="53" name="Text 51">
              <a:extLst>
                <a:ext uri="{FF2B5EF4-FFF2-40B4-BE49-F238E27FC236}">
                  <a16:creationId xmlns:a16="http://schemas.microsoft.com/office/drawing/2014/main" id="{AE4834C1-A73E-4DE4-4AEC-6C81199B81AD}"/>
                </a:ext>
              </a:extLst>
            </p:cNvPr>
            <p:cNvSpPr/>
            <p:nvPr/>
          </p:nvSpPr>
          <p:spPr>
            <a:xfrm>
              <a:off x="2011680" y="3707238"/>
              <a:ext cx="162763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여전히 붕괴 상태</a:t>
              </a:r>
              <a:endParaRPr lang="en-US" sz="750" dirty="0"/>
            </a:p>
          </p:txBody>
        </p:sp>
        <p:sp>
          <p:nvSpPr>
            <p:cNvPr id="54" name="Shape 52">
              <a:extLst>
                <a:ext uri="{FF2B5EF4-FFF2-40B4-BE49-F238E27FC236}">
                  <a16:creationId xmlns:a16="http://schemas.microsoft.com/office/drawing/2014/main" id="{32BD908F-051E-8C57-823A-73D705955E06}"/>
                </a:ext>
              </a:extLst>
            </p:cNvPr>
            <p:cNvSpPr/>
            <p:nvPr/>
          </p:nvSpPr>
          <p:spPr>
            <a:xfrm>
              <a:off x="3794760" y="2829414"/>
              <a:ext cx="1719072" cy="12984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5" name="Shape 53">
              <a:extLst>
                <a:ext uri="{FF2B5EF4-FFF2-40B4-BE49-F238E27FC236}">
                  <a16:creationId xmlns:a16="http://schemas.microsoft.com/office/drawing/2014/main" id="{C0254965-9D6D-F2C8-B658-533745FB311A}"/>
                </a:ext>
              </a:extLst>
            </p:cNvPr>
            <p:cNvSpPr/>
            <p:nvPr/>
          </p:nvSpPr>
          <p:spPr>
            <a:xfrm>
              <a:off x="3794760" y="2829414"/>
              <a:ext cx="1719072" cy="274320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 54">
              <a:extLst>
                <a:ext uri="{FF2B5EF4-FFF2-40B4-BE49-F238E27FC236}">
                  <a16:creationId xmlns:a16="http://schemas.microsoft.com/office/drawing/2014/main" id="{6D0A8D10-1327-A58E-1528-A69EADCCC46B}"/>
                </a:ext>
              </a:extLst>
            </p:cNvPr>
            <p:cNvSpPr/>
            <p:nvPr/>
          </p:nvSpPr>
          <p:spPr>
            <a:xfrm>
              <a:off x="3794760" y="2829414"/>
              <a:ext cx="17190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MobileNetV2</a:t>
              </a:r>
              <a:endParaRPr lang="en-US" sz="900" dirty="0"/>
            </a:p>
          </p:txBody>
        </p:sp>
        <p:sp>
          <p:nvSpPr>
            <p:cNvPr id="57" name="Text 55">
              <a:extLst>
                <a:ext uri="{FF2B5EF4-FFF2-40B4-BE49-F238E27FC236}">
                  <a16:creationId xmlns:a16="http://schemas.microsoft.com/office/drawing/2014/main" id="{9B78E69A-09A3-9762-A279-CD7837BB9470}"/>
                </a:ext>
              </a:extLst>
            </p:cNvPr>
            <p:cNvSpPr/>
            <p:nvPr/>
          </p:nvSpPr>
          <p:spPr>
            <a:xfrm>
              <a:off x="3840480" y="3140310"/>
              <a:ext cx="1627632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높이_중량제한</a:t>
              </a:r>
              <a:endParaRPr lang="en-US" sz="900" dirty="0"/>
            </a:p>
          </p:txBody>
        </p:sp>
        <p:sp>
          <p:nvSpPr>
            <p:cNvPr id="58" name="Text 56">
              <a:extLst>
                <a:ext uri="{FF2B5EF4-FFF2-40B4-BE49-F238E27FC236}">
                  <a16:creationId xmlns:a16="http://schemas.microsoft.com/office/drawing/2014/main" id="{B0623529-F994-B1D6-6CBE-F349CF9E0730}"/>
                </a:ext>
              </a:extLst>
            </p:cNvPr>
            <p:cNvSpPr/>
            <p:nvPr/>
          </p:nvSpPr>
          <p:spPr>
            <a:xfrm>
              <a:off x="3840480" y="3487782"/>
              <a:ext cx="1627632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11.50%</a:t>
              </a:r>
              <a:endParaRPr lang="en-US" sz="900" dirty="0"/>
            </a:p>
          </p:txBody>
        </p:sp>
        <p:sp>
          <p:nvSpPr>
            <p:cNvPr id="59" name="Text 57">
              <a:extLst>
                <a:ext uri="{FF2B5EF4-FFF2-40B4-BE49-F238E27FC236}">
                  <a16:creationId xmlns:a16="http://schemas.microsoft.com/office/drawing/2014/main" id="{7941D9DA-FAB3-42A6-8377-A5D6CD3CB75F}"/>
                </a:ext>
              </a:extLst>
            </p:cNvPr>
            <p:cNvSpPr/>
            <p:nvPr/>
          </p:nvSpPr>
          <p:spPr>
            <a:xfrm>
              <a:off x="3840480" y="3707238"/>
              <a:ext cx="1627632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여전히 붕괴 상태</a:t>
              </a:r>
              <a:endParaRPr lang="en-US" sz="750" dirty="0"/>
            </a:p>
          </p:txBody>
        </p:sp>
      </p:grpSp>
      <p:pic>
        <p:nvPicPr>
          <p:cNvPr id="5" name="그림 4" descr="The image shows a blue, triangular road sign in South Korea, depicting two children walking hand-in-hand under a clear sky.&#10;&#10;AI 생성 콘텐츠는 정확하지 않을 수 있습니다.">
            <a:extLst>
              <a:ext uri="{FF2B5EF4-FFF2-40B4-BE49-F238E27FC236}">
                <a16:creationId xmlns:a16="http://schemas.microsoft.com/office/drawing/2014/main" id="{2AB27BFC-1E00-82CD-F033-EBB6A6A43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6117"/>
            <a:ext cx="3551792" cy="355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6946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ResNet101 + 데이터 증강 – 도입 이유 &amp; 결과 &amp; 역효과 분석</a:t>
            </a:r>
            <a:endParaRPr lang="en-US" sz="2000" dirty="0"/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1544C978-AEEF-3504-CDD5-7E228852FC0A}"/>
              </a:ext>
            </a:extLst>
          </p:cNvPr>
          <p:cNvGrpSpPr/>
          <p:nvPr/>
        </p:nvGrpSpPr>
        <p:grpSpPr>
          <a:xfrm>
            <a:off x="228600" y="1051560"/>
            <a:ext cx="8686800" cy="1520169"/>
            <a:chOff x="228600" y="1051560"/>
            <a:chExt cx="4160520" cy="1691640"/>
          </a:xfrm>
        </p:grpSpPr>
        <p:sp>
          <p:nvSpPr>
            <p:cNvPr id="4" name="Shape 2"/>
            <p:cNvSpPr/>
            <p:nvPr/>
          </p:nvSpPr>
          <p:spPr>
            <a:xfrm>
              <a:off x="228600" y="1051560"/>
              <a:ext cx="4160520" cy="1691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228600" y="1051560"/>
              <a:ext cx="4160520" cy="347472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292608" y="1051560"/>
              <a:ext cx="40233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증강 도입 이유</a:t>
              </a:r>
              <a:endParaRPr lang="en-US" sz="10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20040" y="1463040"/>
              <a:ext cx="400507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① 더 나은 정확도 달성 가능성 탐색 (91.76% 향상 기대)</a:t>
              </a:r>
              <a:endParaRPr lang="en-US" sz="8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320040" y="1783080"/>
              <a:ext cx="400507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② 1차 실전 테스트에서 모든 모델이 복합 표지판 오예측</a:t>
              </a:r>
              <a:endParaRPr lang="en-US" sz="8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20040" y="2103120"/>
              <a:ext cx="400507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③ 밝기/대비 외 회전·줌으로 다양한 실도로 환경 대응</a:t>
              </a:r>
              <a:endParaRPr lang="en-US" sz="8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320040" y="2423160"/>
              <a:ext cx="400507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64748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적용: RandomRotation(0.15) · Zoom(0.12) · Contrast(0.15)</a:t>
              </a:r>
              <a:endParaRPr lang="en-US" sz="850" dirty="0"/>
            </a:p>
          </p:txBody>
        </p:sp>
      </p:grpSp>
      <p:sp>
        <p:nvSpPr>
          <p:cNvPr id="115" name="Shape 113"/>
          <p:cNvSpPr/>
          <p:nvPr/>
        </p:nvSpPr>
        <p:spPr>
          <a:xfrm>
            <a:off x="228600" y="5102352"/>
            <a:ext cx="8686800" cy="0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Text 114"/>
          <p:cNvSpPr/>
          <p:nvPr/>
        </p:nvSpPr>
        <p:spPr>
          <a:xfrm>
            <a:off x="292608" y="5102352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pic>
        <p:nvPicPr>
          <p:cNvPr id="119" name="그림 118" descr="The image shows a graph comparing the fine-tuning accuracy and loss of a ResNet101 model, indicating improvements in accuracy and a decrease in loss during the fine-tuning process.&#10;&#10;AI 생성 콘텐츠는 정확하지 않을 수 있습니다.">
            <a:extLst>
              <a:ext uri="{FF2B5EF4-FFF2-40B4-BE49-F238E27FC236}">
                <a16:creationId xmlns:a16="http://schemas.microsoft.com/office/drawing/2014/main" id="{6CC18FF3-0045-473A-87DE-7E3D2F242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98" y="2629249"/>
            <a:ext cx="7408004" cy="244844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43C32-2AAD-590C-A495-0AEB2D3EE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3623C2-B97F-2ED0-702B-AD8F9DAD8C5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5F6CB0-BE55-4CB7-C1E1-8219DC3792A5}"/>
              </a:ext>
            </a:extLst>
          </p:cNvPr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ResNet101 + 데이터 증강 – 도입 이유 &amp; 결과 &amp; 역효과 분석</a:t>
            </a:r>
            <a:endParaRPr lang="en-US" sz="2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3A53445-A9E2-A6F6-7CC5-30C1437BAD29}"/>
              </a:ext>
            </a:extLst>
          </p:cNvPr>
          <p:cNvSpPr/>
          <p:nvPr/>
        </p:nvSpPr>
        <p:spPr>
          <a:xfrm>
            <a:off x="4663440" y="1051560"/>
            <a:ext cx="4251960" cy="3267887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7E5B396-D791-C622-2911-7D6660E9182F}"/>
              </a:ext>
            </a:extLst>
          </p:cNvPr>
          <p:cNvSpPr/>
          <p:nvPr/>
        </p:nvSpPr>
        <p:spPr>
          <a:xfrm>
            <a:off x="4663440" y="1051560"/>
            <a:ext cx="425196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7FBF240-6F3A-3752-FCA4-BC02DD74D511}"/>
              </a:ext>
            </a:extLst>
          </p:cNvPr>
          <p:cNvSpPr/>
          <p:nvPr/>
        </p:nvSpPr>
        <p:spPr>
          <a:xfrm>
            <a:off x="4736592" y="1051560"/>
            <a:ext cx="4096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리포트 비교 (증강 vs 비증강 ResNet101)</a:t>
            </a:r>
            <a:endParaRPr lang="en-US" sz="950" dirty="0"/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747F002E-B6D9-7C54-09FD-6F506EC43BBD}"/>
              </a:ext>
            </a:extLst>
          </p:cNvPr>
          <p:cNvGrpSpPr/>
          <p:nvPr/>
        </p:nvGrpSpPr>
        <p:grpSpPr>
          <a:xfrm>
            <a:off x="4736592" y="1444752"/>
            <a:ext cx="4096512" cy="2800677"/>
            <a:chOff x="4736592" y="1444752"/>
            <a:chExt cx="4343400" cy="2816352"/>
          </a:xfrm>
        </p:grpSpPr>
        <p:sp>
          <p:nvSpPr>
            <p:cNvPr id="31" name="Shape 29">
              <a:extLst>
                <a:ext uri="{FF2B5EF4-FFF2-40B4-BE49-F238E27FC236}">
                  <a16:creationId xmlns:a16="http://schemas.microsoft.com/office/drawing/2014/main" id="{45A75F87-67BD-D059-0C4F-0BC26BFC23AB}"/>
                </a:ext>
              </a:extLst>
            </p:cNvPr>
            <p:cNvSpPr/>
            <p:nvPr/>
          </p:nvSpPr>
          <p:spPr>
            <a:xfrm>
              <a:off x="4736592" y="1444752"/>
              <a:ext cx="1664208" cy="274320"/>
            </a:xfrm>
            <a:prstGeom prst="rect">
              <a:avLst/>
            </a:prstGeom>
            <a:solidFill>
              <a:srgbClr val="1A2B4A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8399DC4E-0D95-D0B4-EE58-8A771C03B690}"/>
                </a:ext>
              </a:extLst>
            </p:cNvPr>
            <p:cNvSpPr/>
            <p:nvPr/>
          </p:nvSpPr>
          <p:spPr>
            <a:xfrm>
              <a:off x="4736592" y="1444752"/>
              <a:ext cx="1664208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클래스</a:t>
              </a:r>
              <a:endParaRPr lang="en-US" sz="800" dirty="0"/>
            </a:p>
          </p:txBody>
        </p:sp>
        <p:sp>
          <p:nvSpPr>
            <p:cNvPr id="33" name="Shape 31">
              <a:extLst>
                <a:ext uri="{FF2B5EF4-FFF2-40B4-BE49-F238E27FC236}">
                  <a16:creationId xmlns:a16="http://schemas.microsoft.com/office/drawing/2014/main" id="{8766FACB-603C-FD76-5D77-68E19F7FBB94}"/>
                </a:ext>
              </a:extLst>
            </p:cNvPr>
            <p:cNvSpPr/>
            <p:nvPr/>
          </p:nvSpPr>
          <p:spPr>
            <a:xfrm>
              <a:off x="6428232" y="1444752"/>
              <a:ext cx="868680" cy="274320"/>
            </a:xfrm>
            <a:prstGeom prst="rect">
              <a:avLst/>
            </a:prstGeom>
            <a:solidFill>
              <a:srgbClr val="1A2B4A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Text 32">
              <a:extLst>
                <a:ext uri="{FF2B5EF4-FFF2-40B4-BE49-F238E27FC236}">
                  <a16:creationId xmlns:a16="http://schemas.microsoft.com/office/drawing/2014/main" id="{68980A16-1846-5C85-FF06-7CEEE66CE1F1}"/>
                </a:ext>
              </a:extLst>
            </p:cNvPr>
            <p:cNvSpPr/>
            <p:nvPr/>
          </p:nvSpPr>
          <p:spPr>
            <a:xfrm>
              <a:off x="6428232" y="1444752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F1 (원본)</a:t>
              </a:r>
              <a:endParaRPr lang="en-US" sz="800" dirty="0"/>
            </a:p>
          </p:txBody>
        </p:sp>
        <p:sp>
          <p:nvSpPr>
            <p:cNvPr id="35" name="Shape 33">
              <a:extLst>
                <a:ext uri="{FF2B5EF4-FFF2-40B4-BE49-F238E27FC236}">
                  <a16:creationId xmlns:a16="http://schemas.microsoft.com/office/drawing/2014/main" id="{09766721-B585-0F75-54E6-9FC9D75F4B1E}"/>
                </a:ext>
              </a:extLst>
            </p:cNvPr>
            <p:cNvSpPr/>
            <p:nvPr/>
          </p:nvSpPr>
          <p:spPr>
            <a:xfrm>
              <a:off x="7315200" y="1444752"/>
              <a:ext cx="868680" cy="274320"/>
            </a:xfrm>
            <a:prstGeom prst="rect">
              <a:avLst/>
            </a:prstGeom>
            <a:solidFill>
              <a:srgbClr val="1A2B4A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 34">
              <a:extLst>
                <a:ext uri="{FF2B5EF4-FFF2-40B4-BE49-F238E27FC236}">
                  <a16:creationId xmlns:a16="http://schemas.microsoft.com/office/drawing/2014/main" id="{BD6ECF80-5E43-16DE-8E14-7684CF6ECD5D}"/>
                </a:ext>
              </a:extLst>
            </p:cNvPr>
            <p:cNvSpPr/>
            <p:nvPr/>
          </p:nvSpPr>
          <p:spPr>
            <a:xfrm>
              <a:off x="7315200" y="1444752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F1 (증강)</a:t>
              </a:r>
              <a:endParaRPr lang="en-US" sz="800" dirty="0"/>
            </a:p>
          </p:txBody>
        </p:sp>
        <p:sp>
          <p:nvSpPr>
            <p:cNvPr id="37" name="Shape 35">
              <a:extLst>
                <a:ext uri="{FF2B5EF4-FFF2-40B4-BE49-F238E27FC236}">
                  <a16:creationId xmlns:a16="http://schemas.microsoft.com/office/drawing/2014/main" id="{9AF6949A-0D32-D86C-AE2F-1263C0E1E38D}"/>
                </a:ext>
              </a:extLst>
            </p:cNvPr>
            <p:cNvSpPr/>
            <p:nvPr/>
          </p:nvSpPr>
          <p:spPr>
            <a:xfrm>
              <a:off x="8211312" y="1444752"/>
              <a:ext cx="868680" cy="274320"/>
            </a:xfrm>
            <a:prstGeom prst="rect">
              <a:avLst/>
            </a:prstGeom>
            <a:solidFill>
              <a:srgbClr val="1A2B4A"/>
            </a:solidFill>
            <a:ln w="12700">
              <a:solidFill>
                <a:srgbClr val="1A2B4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E90D7488-DFD9-76D7-1316-B9E38F31D3B9}"/>
                </a:ext>
              </a:extLst>
            </p:cNvPr>
            <p:cNvSpPr/>
            <p:nvPr/>
          </p:nvSpPr>
          <p:spPr>
            <a:xfrm>
              <a:off x="8211312" y="1444752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차이</a:t>
              </a:r>
              <a:endParaRPr lang="en-US" sz="800" dirty="0"/>
            </a:p>
          </p:txBody>
        </p:sp>
        <p:sp>
          <p:nvSpPr>
            <p:cNvPr id="39" name="Shape 37">
              <a:extLst>
                <a:ext uri="{FF2B5EF4-FFF2-40B4-BE49-F238E27FC236}">
                  <a16:creationId xmlns:a16="http://schemas.microsoft.com/office/drawing/2014/main" id="{B6825114-3BA3-CC17-7087-E4DA03A49B0B}"/>
                </a:ext>
              </a:extLst>
            </p:cNvPr>
            <p:cNvSpPr/>
            <p:nvPr/>
          </p:nvSpPr>
          <p:spPr>
            <a:xfrm>
              <a:off x="4736592" y="1737360"/>
              <a:ext cx="1664208" cy="2560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>
              <a:extLst>
                <a:ext uri="{FF2B5EF4-FFF2-40B4-BE49-F238E27FC236}">
                  <a16:creationId xmlns:a16="http://schemas.microsoft.com/office/drawing/2014/main" id="{9E9183F8-3DE5-B0BD-55CE-DD5E6A65A660}"/>
                </a:ext>
              </a:extLst>
            </p:cNvPr>
            <p:cNvSpPr/>
            <p:nvPr/>
          </p:nvSpPr>
          <p:spPr>
            <a:xfrm>
              <a:off x="4773168" y="1737360"/>
              <a:ext cx="1591056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속도제한90이상</a:t>
              </a:r>
              <a:endParaRPr lang="en-US" sz="800" dirty="0"/>
            </a:p>
          </p:txBody>
        </p:sp>
        <p:sp>
          <p:nvSpPr>
            <p:cNvPr id="41" name="Shape 39">
              <a:extLst>
                <a:ext uri="{FF2B5EF4-FFF2-40B4-BE49-F238E27FC236}">
                  <a16:creationId xmlns:a16="http://schemas.microsoft.com/office/drawing/2014/main" id="{C188E311-F67C-E010-6AAB-7B8C5537165D}"/>
                </a:ext>
              </a:extLst>
            </p:cNvPr>
            <p:cNvSpPr/>
            <p:nvPr/>
          </p:nvSpPr>
          <p:spPr>
            <a:xfrm>
              <a:off x="6428232" y="1737360"/>
              <a:ext cx="868680" cy="2560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2" name="Text 40">
              <a:extLst>
                <a:ext uri="{FF2B5EF4-FFF2-40B4-BE49-F238E27FC236}">
                  <a16:creationId xmlns:a16="http://schemas.microsoft.com/office/drawing/2014/main" id="{2BB4A787-3467-972B-3BD3-A66E5EC73DCD}"/>
                </a:ext>
              </a:extLst>
            </p:cNvPr>
            <p:cNvSpPr/>
            <p:nvPr/>
          </p:nvSpPr>
          <p:spPr>
            <a:xfrm>
              <a:off x="6464808" y="1737360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0.83</a:t>
              </a:r>
              <a:endParaRPr lang="en-US" sz="800" dirty="0"/>
            </a:p>
          </p:txBody>
        </p:sp>
        <p:sp>
          <p:nvSpPr>
            <p:cNvPr id="43" name="Shape 41">
              <a:extLst>
                <a:ext uri="{FF2B5EF4-FFF2-40B4-BE49-F238E27FC236}">
                  <a16:creationId xmlns:a16="http://schemas.microsoft.com/office/drawing/2014/main" id="{2F3FF3CF-4342-41AB-95DB-48A17175824C}"/>
                </a:ext>
              </a:extLst>
            </p:cNvPr>
            <p:cNvSpPr/>
            <p:nvPr/>
          </p:nvSpPr>
          <p:spPr>
            <a:xfrm>
              <a:off x="7315200" y="1737360"/>
              <a:ext cx="868680" cy="2560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 42">
              <a:extLst>
                <a:ext uri="{FF2B5EF4-FFF2-40B4-BE49-F238E27FC236}">
                  <a16:creationId xmlns:a16="http://schemas.microsoft.com/office/drawing/2014/main" id="{B6D85CDD-334E-A051-0C38-25406B4547E4}"/>
                </a:ext>
              </a:extLst>
            </p:cNvPr>
            <p:cNvSpPr/>
            <p:nvPr/>
          </p:nvSpPr>
          <p:spPr>
            <a:xfrm>
              <a:off x="7351776" y="1737360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0.39</a:t>
              </a:r>
              <a:endParaRPr lang="en-US" sz="800" dirty="0"/>
            </a:p>
          </p:txBody>
        </p:sp>
        <p:sp>
          <p:nvSpPr>
            <p:cNvPr id="45" name="Shape 43">
              <a:extLst>
                <a:ext uri="{FF2B5EF4-FFF2-40B4-BE49-F238E27FC236}">
                  <a16:creationId xmlns:a16="http://schemas.microsoft.com/office/drawing/2014/main" id="{DD731C10-6BB1-BF65-E7BB-442C758D935F}"/>
                </a:ext>
              </a:extLst>
            </p:cNvPr>
            <p:cNvSpPr/>
            <p:nvPr/>
          </p:nvSpPr>
          <p:spPr>
            <a:xfrm>
              <a:off x="8211312" y="1737360"/>
              <a:ext cx="868680" cy="2560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44">
              <a:extLst>
                <a:ext uri="{FF2B5EF4-FFF2-40B4-BE49-F238E27FC236}">
                  <a16:creationId xmlns:a16="http://schemas.microsoft.com/office/drawing/2014/main" id="{693D3E50-9F8E-3611-F49D-D1B7727F6361}"/>
                </a:ext>
              </a:extLst>
            </p:cNvPr>
            <p:cNvSpPr/>
            <p:nvPr/>
          </p:nvSpPr>
          <p:spPr>
            <a:xfrm>
              <a:off x="8247888" y="1737360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-0.44</a:t>
              </a:r>
              <a:endParaRPr lang="en-US" sz="800" dirty="0"/>
            </a:p>
          </p:txBody>
        </p:sp>
        <p:sp>
          <p:nvSpPr>
            <p:cNvPr id="47" name="Shape 45">
              <a:extLst>
                <a:ext uri="{FF2B5EF4-FFF2-40B4-BE49-F238E27FC236}">
                  <a16:creationId xmlns:a16="http://schemas.microsoft.com/office/drawing/2014/main" id="{10B56450-B8DB-19E9-A419-F4073C247483}"/>
                </a:ext>
              </a:extLst>
            </p:cNvPr>
            <p:cNvSpPr/>
            <p:nvPr/>
          </p:nvSpPr>
          <p:spPr>
            <a:xfrm>
              <a:off x="4736592" y="2020824"/>
              <a:ext cx="1664208" cy="25603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8" name="Text 46">
              <a:extLst>
                <a:ext uri="{FF2B5EF4-FFF2-40B4-BE49-F238E27FC236}">
                  <a16:creationId xmlns:a16="http://schemas.microsoft.com/office/drawing/2014/main" id="{D43956A8-943C-3CC3-62F6-F8FB0C265AF8}"/>
                </a:ext>
              </a:extLst>
            </p:cNvPr>
            <p:cNvSpPr/>
            <p:nvPr/>
          </p:nvSpPr>
          <p:spPr>
            <a:xfrm>
              <a:off x="4773168" y="2020824"/>
              <a:ext cx="1591056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스쿨존_30이하</a:t>
              </a:r>
              <a:endParaRPr lang="en-US" sz="800" dirty="0"/>
            </a:p>
          </p:txBody>
        </p:sp>
        <p:sp>
          <p:nvSpPr>
            <p:cNvPr id="49" name="Shape 47">
              <a:extLst>
                <a:ext uri="{FF2B5EF4-FFF2-40B4-BE49-F238E27FC236}">
                  <a16:creationId xmlns:a16="http://schemas.microsoft.com/office/drawing/2014/main" id="{A37C2404-61F7-B515-D039-5213CD106BE4}"/>
                </a:ext>
              </a:extLst>
            </p:cNvPr>
            <p:cNvSpPr/>
            <p:nvPr/>
          </p:nvSpPr>
          <p:spPr>
            <a:xfrm>
              <a:off x="6428232" y="2020824"/>
              <a:ext cx="868680" cy="25603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8">
              <a:extLst>
                <a:ext uri="{FF2B5EF4-FFF2-40B4-BE49-F238E27FC236}">
                  <a16:creationId xmlns:a16="http://schemas.microsoft.com/office/drawing/2014/main" id="{F3AE4239-A9F0-46D0-6FEE-C5A1432D6265}"/>
                </a:ext>
              </a:extLst>
            </p:cNvPr>
            <p:cNvSpPr/>
            <p:nvPr/>
          </p:nvSpPr>
          <p:spPr>
            <a:xfrm>
              <a:off x="6464808" y="2020824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0.86</a:t>
              </a:r>
              <a:endParaRPr lang="en-US" sz="800" dirty="0"/>
            </a:p>
          </p:txBody>
        </p:sp>
        <p:sp>
          <p:nvSpPr>
            <p:cNvPr id="51" name="Shape 49">
              <a:extLst>
                <a:ext uri="{FF2B5EF4-FFF2-40B4-BE49-F238E27FC236}">
                  <a16:creationId xmlns:a16="http://schemas.microsoft.com/office/drawing/2014/main" id="{B55DF15D-9C89-ACD1-5836-AFAEA969371C}"/>
                </a:ext>
              </a:extLst>
            </p:cNvPr>
            <p:cNvSpPr/>
            <p:nvPr/>
          </p:nvSpPr>
          <p:spPr>
            <a:xfrm>
              <a:off x="7315200" y="2020824"/>
              <a:ext cx="868680" cy="25603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Text 50">
              <a:extLst>
                <a:ext uri="{FF2B5EF4-FFF2-40B4-BE49-F238E27FC236}">
                  <a16:creationId xmlns:a16="http://schemas.microsoft.com/office/drawing/2014/main" id="{0BF9A5C4-C216-1EBD-00EC-8517DD8AD743}"/>
                </a:ext>
              </a:extLst>
            </p:cNvPr>
            <p:cNvSpPr/>
            <p:nvPr/>
          </p:nvSpPr>
          <p:spPr>
            <a:xfrm>
              <a:off x="7351776" y="2020824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0.44</a:t>
              </a:r>
              <a:endParaRPr lang="en-US" sz="800" dirty="0"/>
            </a:p>
          </p:txBody>
        </p:sp>
        <p:sp>
          <p:nvSpPr>
            <p:cNvPr id="53" name="Shape 51">
              <a:extLst>
                <a:ext uri="{FF2B5EF4-FFF2-40B4-BE49-F238E27FC236}">
                  <a16:creationId xmlns:a16="http://schemas.microsoft.com/office/drawing/2014/main" id="{9A3516F9-3244-F940-2BFA-AC4FEB212D83}"/>
                </a:ext>
              </a:extLst>
            </p:cNvPr>
            <p:cNvSpPr/>
            <p:nvPr/>
          </p:nvSpPr>
          <p:spPr>
            <a:xfrm>
              <a:off x="8211312" y="2020824"/>
              <a:ext cx="868680" cy="25603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Text 52">
              <a:extLst>
                <a:ext uri="{FF2B5EF4-FFF2-40B4-BE49-F238E27FC236}">
                  <a16:creationId xmlns:a16="http://schemas.microsoft.com/office/drawing/2014/main" id="{CBC8C971-06A5-1834-0E47-2F9FA13BC06D}"/>
                </a:ext>
              </a:extLst>
            </p:cNvPr>
            <p:cNvSpPr/>
            <p:nvPr/>
          </p:nvSpPr>
          <p:spPr>
            <a:xfrm>
              <a:off x="8247888" y="2020824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-0.42</a:t>
              </a:r>
              <a:endParaRPr lang="en-US" sz="800" dirty="0"/>
            </a:p>
          </p:txBody>
        </p:sp>
        <p:sp>
          <p:nvSpPr>
            <p:cNvPr id="55" name="Shape 53">
              <a:extLst>
                <a:ext uri="{FF2B5EF4-FFF2-40B4-BE49-F238E27FC236}">
                  <a16:creationId xmlns:a16="http://schemas.microsoft.com/office/drawing/2014/main" id="{72120017-5276-BA12-4A26-D3AEC5FBF578}"/>
                </a:ext>
              </a:extLst>
            </p:cNvPr>
            <p:cNvSpPr/>
            <p:nvPr/>
          </p:nvSpPr>
          <p:spPr>
            <a:xfrm>
              <a:off x="4736592" y="2304288"/>
              <a:ext cx="1664208" cy="2560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Text 54">
              <a:extLst>
                <a:ext uri="{FF2B5EF4-FFF2-40B4-BE49-F238E27FC236}">
                  <a16:creationId xmlns:a16="http://schemas.microsoft.com/office/drawing/2014/main" id="{2032AFDB-FB88-DDBA-716E-C79FB24A0FCF}"/>
                </a:ext>
              </a:extLst>
            </p:cNvPr>
            <p:cNvSpPr/>
            <p:nvPr/>
          </p:nvSpPr>
          <p:spPr>
            <a:xfrm>
              <a:off x="4773168" y="2304288"/>
              <a:ext cx="1591056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속도제한70_80</a:t>
              </a:r>
              <a:endParaRPr lang="en-US" sz="800" dirty="0"/>
            </a:p>
          </p:txBody>
        </p:sp>
        <p:sp>
          <p:nvSpPr>
            <p:cNvPr id="57" name="Shape 55">
              <a:extLst>
                <a:ext uri="{FF2B5EF4-FFF2-40B4-BE49-F238E27FC236}">
                  <a16:creationId xmlns:a16="http://schemas.microsoft.com/office/drawing/2014/main" id="{55AF6494-77DB-77AA-5CF6-08207272D6B2}"/>
                </a:ext>
              </a:extLst>
            </p:cNvPr>
            <p:cNvSpPr/>
            <p:nvPr/>
          </p:nvSpPr>
          <p:spPr>
            <a:xfrm>
              <a:off x="6428232" y="2304288"/>
              <a:ext cx="868680" cy="2560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Text 56">
              <a:extLst>
                <a:ext uri="{FF2B5EF4-FFF2-40B4-BE49-F238E27FC236}">
                  <a16:creationId xmlns:a16="http://schemas.microsoft.com/office/drawing/2014/main" id="{138AC141-B656-E436-5C66-A62BADBDF5A1}"/>
                </a:ext>
              </a:extLst>
            </p:cNvPr>
            <p:cNvSpPr/>
            <p:nvPr/>
          </p:nvSpPr>
          <p:spPr>
            <a:xfrm>
              <a:off x="6464808" y="2304288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0.86</a:t>
              </a:r>
              <a:endParaRPr lang="en-US" sz="800" dirty="0"/>
            </a:p>
          </p:txBody>
        </p:sp>
        <p:sp>
          <p:nvSpPr>
            <p:cNvPr id="59" name="Shape 57">
              <a:extLst>
                <a:ext uri="{FF2B5EF4-FFF2-40B4-BE49-F238E27FC236}">
                  <a16:creationId xmlns:a16="http://schemas.microsoft.com/office/drawing/2014/main" id="{CB0158AB-1C81-700F-11A4-BAE7C43977BB}"/>
                </a:ext>
              </a:extLst>
            </p:cNvPr>
            <p:cNvSpPr/>
            <p:nvPr/>
          </p:nvSpPr>
          <p:spPr>
            <a:xfrm>
              <a:off x="7315200" y="2304288"/>
              <a:ext cx="868680" cy="2560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Text 58">
              <a:extLst>
                <a:ext uri="{FF2B5EF4-FFF2-40B4-BE49-F238E27FC236}">
                  <a16:creationId xmlns:a16="http://schemas.microsoft.com/office/drawing/2014/main" id="{5412C49A-E56C-491D-1E66-CB2F993E0C44}"/>
                </a:ext>
              </a:extLst>
            </p:cNvPr>
            <p:cNvSpPr/>
            <p:nvPr/>
          </p:nvSpPr>
          <p:spPr>
            <a:xfrm>
              <a:off x="7351776" y="2304288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0.57</a:t>
              </a:r>
              <a:endParaRPr lang="en-US" sz="800" dirty="0"/>
            </a:p>
          </p:txBody>
        </p:sp>
        <p:sp>
          <p:nvSpPr>
            <p:cNvPr id="61" name="Shape 59">
              <a:extLst>
                <a:ext uri="{FF2B5EF4-FFF2-40B4-BE49-F238E27FC236}">
                  <a16:creationId xmlns:a16="http://schemas.microsoft.com/office/drawing/2014/main" id="{868C29BD-47F2-27B7-11A5-650352CC10CF}"/>
                </a:ext>
              </a:extLst>
            </p:cNvPr>
            <p:cNvSpPr/>
            <p:nvPr/>
          </p:nvSpPr>
          <p:spPr>
            <a:xfrm>
              <a:off x="8211312" y="2304288"/>
              <a:ext cx="868680" cy="2560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Text 60">
              <a:extLst>
                <a:ext uri="{FF2B5EF4-FFF2-40B4-BE49-F238E27FC236}">
                  <a16:creationId xmlns:a16="http://schemas.microsoft.com/office/drawing/2014/main" id="{C26E97C8-03BE-29F2-61C3-B6517883B092}"/>
                </a:ext>
              </a:extLst>
            </p:cNvPr>
            <p:cNvSpPr/>
            <p:nvPr/>
          </p:nvSpPr>
          <p:spPr>
            <a:xfrm>
              <a:off x="8247888" y="2304288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-0.29</a:t>
              </a:r>
              <a:endParaRPr lang="en-US" sz="800" dirty="0"/>
            </a:p>
          </p:txBody>
        </p:sp>
        <p:sp>
          <p:nvSpPr>
            <p:cNvPr id="63" name="Shape 61">
              <a:extLst>
                <a:ext uri="{FF2B5EF4-FFF2-40B4-BE49-F238E27FC236}">
                  <a16:creationId xmlns:a16="http://schemas.microsoft.com/office/drawing/2014/main" id="{3BA61D01-1A9C-DDE7-F2AA-75F31199677D}"/>
                </a:ext>
              </a:extLst>
            </p:cNvPr>
            <p:cNvSpPr/>
            <p:nvPr/>
          </p:nvSpPr>
          <p:spPr>
            <a:xfrm>
              <a:off x="4736592" y="2587752"/>
              <a:ext cx="1664208" cy="25603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Text 62">
              <a:extLst>
                <a:ext uri="{FF2B5EF4-FFF2-40B4-BE49-F238E27FC236}">
                  <a16:creationId xmlns:a16="http://schemas.microsoft.com/office/drawing/2014/main" id="{1CB5F545-C83D-68C9-34C5-5F98F95AF02F}"/>
                </a:ext>
              </a:extLst>
            </p:cNvPr>
            <p:cNvSpPr/>
            <p:nvPr/>
          </p:nvSpPr>
          <p:spPr>
            <a:xfrm>
              <a:off x="4773168" y="2587752"/>
              <a:ext cx="1591056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보호구역</a:t>
              </a:r>
              <a:endParaRPr lang="en-US" sz="800" dirty="0"/>
            </a:p>
          </p:txBody>
        </p:sp>
        <p:sp>
          <p:nvSpPr>
            <p:cNvPr id="65" name="Shape 63">
              <a:extLst>
                <a:ext uri="{FF2B5EF4-FFF2-40B4-BE49-F238E27FC236}">
                  <a16:creationId xmlns:a16="http://schemas.microsoft.com/office/drawing/2014/main" id="{6FFBAB4A-E828-A065-397A-49C8DEFE4C02}"/>
                </a:ext>
              </a:extLst>
            </p:cNvPr>
            <p:cNvSpPr/>
            <p:nvPr/>
          </p:nvSpPr>
          <p:spPr>
            <a:xfrm>
              <a:off x="6428232" y="2587752"/>
              <a:ext cx="868680" cy="25603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Text 64">
              <a:extLst>
                <a:ext uri="{FF2B5EF4-FFF2-40B4-BE49-F238E27FC236}">
                  <a16:creationId xmlns:a16="http://schemas.microsoft.com/office/drawing/2014/main" id="{DEEC38A3-A8BD-4D45-27AF-9DCFADAF9BAF}"/>
                </a:ext>
              </a:extLst>
            </p:cNvPr>
            <p:cNvSpPr/>
            <p:nvPr/>
          </p:nvSpPr>
          <p:spPr>
            <a:xfrm>
              <a:off x="6464808" y="2587752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0.91</a:t>
              </a:r>
              <a:endParaRPr lang="en-US" sz="800" dirty="0"/>
            </a:p>
          </p:txBody>
        </p:sp>
        <p:sp>
          <p:nvSpPr>
            <p:cNvPr id="67" name="Shape 65">
              <a:extLst>
                <a:ext uri="{FF2B5EF4-FFF2-40B4-BE49-F238E27FC236}">
                  <a16:creationId xmlns:a16="http://schemas.microsoft.com/office/drawing/2014/main" id="{EFB3C494-0339-F8A5-1CAC-6FDD4F5533B7}"/>
                </a:ext>
              </a:extLst>
            </p:cNvPr>
            <p:cNvSpPr/>
            <p:nvPr/>
          </p:nvSpPr>
          <p:spPr>
            <a:xfrm>
              <a:off x="7315200" y="2587752"/>
              <a:ext cx="868680" cy="25603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8" name="Text 66">
              <a:extLst>
                <a:ext uri="{FF2B5EF4-FFF2-40B4-BE49-F238E27FC236}">
                  <a16:creationId xmlns:a16="http://schemas.microsoft.com/office/drawing/2014/main" id="{06AC9479-8690-3270-B262-22A16011C4EA}"/>
                </a:ext>
              </a:extLst>
            </p:cNvPr>
            <p:cNvSpPr/>
            <p:nvPr/>
          </p:nvSpPr>
          <p:spPr>
            <a:xfrm>
              <a:off x="7351776" y="2587752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0.74</a:t>
              </a:r>
              <a:endParaRPr lang="en-US" sz="800" dirty="0"/>
            </a:p>
          </p:txBody>
        </p:sp>
        <p:sp>
          <p:nvSpPr>
            <p:cNvPr id="69" name="Shape 67">
              <a:extLst>
                <a:ext uri="{FF2B5EF4-FFF2-40B4-BE49-F238E27FC236}">
                  <a16:creationId xmlns:a16="http://schemas.microsoft.com/office/drawing/2014/main" id="{01CED2BA-E4E9-089B-D3E7-A600F1C91686}"/>
                </a:ext>
              </a:extLst>
            </p:cNvPr>
            <p:cNvSpPr/>
            <p:nvPr/>
          </p:nvSpPr>
          <p:spPr>
            <a:xfrm>
              <a:off x="8211312" y="2587752"/>
              <a:ext cx="868680" cy="25603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0" name="Text 68">
              <a:extLst>
                <a:ext uri="{FF2B5EF4-FFF2-40B4-BE49-F238E27FC236}">
                  <a16:creationId xmlns:a16="http://schemas.microsoft.com/office/drawing/2014/main" id="{7D21DCDD-2209-067F-DB0D-D46A5E0EFF6C}"/>
                </a:ext>
              </a:extLst>
            </p:cNvPr>
            <p:cNvSpPr/>
            <p:nvPr/>
          </p:nvSpPr>
          <p:spPr>
            <a:xfrm>
              <a:off x="8247888" y="2587752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-0.17</a:t>
              </a:r>
              <a:endParaRPr lang="en-US" sz="800" dirty="0"/>
            </a:p>
          </p:txBody>
        </p:sp>
        <p:sp>
          <p:nvSpPr>
            <p:cNvPr id="71" name="Shape 69">
              <a:extLst>
                <a:ext uri="{FF2B5EF4-FFF2-40B4-BE49-F238E27FC236}">
                  <a16:creationId xmlns:a16="http://schemas.microsoft.com/office/drawing/2014/main" id="{7C383B58-A3E3-2383-8686-17082A48C762}"/>
                </a:ext>
              </a:extLst>
            </p:cNvPr>
            <p:cNvSpPr/>
            <p:nvPr/>
          </p:nvSpPr>
          <p:spPr>
            <a:xfrm>
              <a:off x="4736592" y="2871216"/>
              <a:ext cx="1664208" cy="2560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" name="Text 70">
              <a:extLst>
                <a:ext uri="{FF2B5EF4-FFF2-40B4-BE49-F238E27FC236}">
                  <a16:creationId xmlns:a16="http://schemas.microsoft.com/office/drawing/2014/main" id="{91A63088-6F77-C979-1DD1-26CB9EBA75BE}"/>
                </a:ext>
              </a:extLst>
            </p:cNvPr>
            <p:cNvSpPr/>
            <p:nvPr/>
          </p:nvSpPr>
          <p:spPr>
            <a:xfrm>
              <a:off x="4773168" y="2871216"/>
              <a:ext cx="1591056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속도제한40_60</a:t>
              </a:r>
              <a:endParaRPr lang="en-US" sz="800" dirty="0"/>
            </a:p>
          </p:txBody>
        </p:sp>
        <p:sp>
          <p:nvSpPr>
            <p:cNvPr id="73" name="Shape 71">
              <a:extLst>
                <a:ext uri="{FF2B5EF4-FFF2-40B4-BE49-F238E27FC236}">
                  <a16:creationId xmlns:a16="http://schemas.microsoft.com/office/drawing/2014/main" id="{D0886EF8-0EFC-3612-7B61-AAFA65441FDB}"/>
                </a:ext>
              </a:extLst>
            </p:cNvPr>
            <p:cNvSpPr/>
            <p:nvPr/>
          </p:nvSpPr>
          <p:spPr>
            <a:xfrm>
              <a:off x="6428232" y="2871216"/>
              <a:ext cx="868680" cy="2560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4" name="Text 72">
              <a:extLst>
                <a:ext uri="{FF2B5EF4-FFF2-40B4-BE49-F238E27FC236}">
                  <a16:creationId xmlns:a16="http://schemas.microsoft.com/office/drawing/2014/main" id="{F2083E86-1228-8CD0-7184-4E0059D834F1}"/>
                </a:ext>
              </a:extLst>
            </p:cNvPr>
            <p:cNvSpPr/>
            <p:nvPr/>
          </p:nvSpPr>
          <p:spPr>
            <a:xfrm>
              <a:off x="6464808" y="2871216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0.91</a:t>
              </a:r>
              <a:endParaRPr lang="en-US" sz="800" dirty="0"/>
            </a:p>
          </p:txBody>
        </p:sp>
        <p:sp>
          <p:nvSpPr>
            <p:cNvPr id="75" name="Shape 73">
              <a:extLst>
                <a:ext uri="{FF2B5EF4-FFF2-40B4-BE49-F238E27FC236}">
                  <a16:creationId xmlns:a16="http://schemas.microsoft.com/office/drawing/2014/main" id="{53F9188C-B27B-804F-7BBA-F4FFD9E364A2}"/>
                </a:ext>
              </a:extLst>
            </p:cNvPr>
            <p:cNvSpPr/>
            <p:nvPr/>
          </p:nvSpPr>
          <p:spPr>
            <a:xfrm>
              <a:off x="7315200" y="2871216"/>
              <a:ext cx="868680" cy="2560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6" name="Text 74">
              <a:extLst>
                <a:ext uri="{FF2B5EF4-FFF2-40B4-BE49-F238E27FC236}">
                  <a16:creationId xmlns:a16="http://schemas.microsoft.com/office/drawing/2014/main" id="{0695E1BC-398A-7C6D-EF8E-9BD9E7A72F62}"/>
                </a:ext>
              </a:extLst>
            </p:cNvPr>
            <p:cNvSpPr/>
            <p:nvPr/>
          </p:nvSpPr>
          <p:spPr>
            <a:xfrm>
              <a:off x="7351776" y="2871216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0.74</a:t>
              </a:r>
              <a:endParaRPr lang="en-US" sz="800" dirty="0"/>
            </a:p>
          </p:txBody>
        </p:sp>
        <p:sp>
          <p:nvSpPr>
            <p:cNvPr id="77" name="Shape 75">
              <a:extLst>
                <a:ext uri="{FF2B5EF4-FFF2-40B4-BE49-F238E27FC236}">
                  <a16:creationId xmlns:a16="http://schemas.microsoft.com/office/drawing/2014/main" id="{56B5B9FD-38FD-E304-EAC7-0C7A646B8C5B}"/>
                </a:ext>
              </a:extLst>
            </p:cNvPr>
            <p:cNvSpPr/>
            <p:nvPr/>
          </p:nvSpPr>
          <p:spPr>
            <a:xfrm>
              <a:off x="8211312" y="2871216"/>
              <a:ext cx="868680" cy="2560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8" name="Text 76">
              <a:extLst>
                <a:ext uri="{FF2B5EF4-FFF2-40B4-BE49-F238E27FC236}">
                  <a16:creationId xmlns:a16="http://schemas.microsoft.com/office/drawing/2014/main" id="{A117D736-1581-9C64-1400-03A8A08CBF61}"/>
                </a:ext>
              </a:extLst>
            </p:cNvPr>
            <p:cNvSpPr/>
            <p:nvPr/>
          </p:nvSpPr>
          <p:spPr>
            <a:xfrm>
              <a:off x="8247888" y="2871216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-0.17</a:t>
              </a:r>
              <a:endParaRPr lang="en-US" sz="800" dirty="0"/>
            </a:p>
          </p:txBody>
        </p:sp>
        <p:sp>
          <p:nvSpPr>
            <p:cNvPr id="79" name="Shape 77">
              <a:extLst>
                <a:ext uri="{FF2B5EF4-FFF2-40B4-BE49-F238E27FC236}">
                  <a16:creationId xmlns:a16="http://schemas.microsoft.com/office/drawing/2014/main" id="{C277FECC-EF22-16C6-901C-4EAAE77FC7A5}"/>
                </a:ext>
              </a:extLst>
            </p:cNvPr>
            <p:cNvSpPr/>
            <p:nvPr/>
          </p:nvSpPr>
          <p:spPr>
            <a:xfrm>
              <a:off x="4736592" y="3154680"/>
              <a:ext cx="1664208" cy="25603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0" name="Text 78">
              <a:extLst>
                <a:ext uri="{FF2B5EF4-FFF2-40B4-BE49-F238E27FC236}">
                  <a16:creationId xmlns:a16="http://schemas.microsoft.com/office/drawing/2014/main" id="{B5D07BD4-0B23-2422-23B4-2D8AB88660BA}"/>
                </a:ext>
              </a:extLst>
            </p:cNvPr>
            <p:cNvSpPr/>
            <p:nvPr/>
          </p:nvSpPr>
          <p:spPr>
            <a:xfrm>
              <a:off x="4773168" y="3154680"/>
              <a:ext cx="1591056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진입_주정차금지</a:t>
              </a:r>
              <a:endParaRPr lang="en-US" sz="800" dirty="0"/>
            </a:p>
          </p:txBody>
        </p:sp>
        <p:sp>
          <p:nvSpPr>
            <p:cNvPr id="81" name="Shape 79">
              <a:extLst>
                <a:ext uri="{FF2B5EF4-FFF2-40B4-BE49-F238E27FC236}">
                  <a16:creationId xmlns:a16="http://schemas.microsoft.com/office/drawing/2014/main" id="{8E8D7BF5-5D1B-9091-56EF-06A4C36C43BD}"/>
                </a:ext>
              </a:extLst>
            </p:cNvPr>
            <p:cNvSpPr/>
            <p:nvPr/>
          </p:nvSpPr>
          <p:spPr>
            <a:xfrm>
              <a:off x="6428232" y="3154680"/>
              <a:ext cx="868680" cy="25603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2" name="Text 80">
              <a:extLst>
                <a:ext uri="{FF2B5EF4-FFF2-40B4-BE49-F238E27FC236}">
                  <a16:creationId xmlns:a16="http://schemas.microsoft.com/office/drawing/2014/main" id="{64DED1E2-2E58-B6F3-75EA-1C16D6BED803}"/>
                </a:ext>
              </a:extLst>
            </p:cNvPr>
            <p:cNvSpPr/>
            <p:nvPr/>
          </p:nvSpPr>
          <p:spPr>
            <a:xfrm>
              <a:off x="6464808" y="3154680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0.89</a:t>
              </a:r>
              <a:endParaRPr lang="en-US" sz="800" dirty="0"/>
            </a:p>
          </p:txBody>
        </p:sp>
        <p:sp>
          <p:nvSpPr>
            <p:cNvPr id="83" name="Shape 81">
              <a:extLst>
                <a:ext uri="{FF2B5EF4-FFF2-40B4-BE49-F238E27FC236}">
                  <a16:creationId xmlns:a16="http://schemas.microsoft.com/office/drawing/2014/main" id="{C81350E9-C3E2-4143-1621-4E42D26912D9}"/>
                </a:ext>
              </a:extLst>
            </p:cNvPr>
            <p:cNvSpPr/>
            <p:nvPr/>
          </p:nvSpPr>
          <p:spPr>
            <a:xfrm>
              <a:off x="7315200" y="3154680"/>
              <a:ext cx="868680" cy="25603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Text 82">
              <a:extLst>
                <a:ext uri="{FF2B5EF4-FFF2-40B4-BE49-F238E27FC236}">
                  <a16:creationId xmlns:a16="http://schemas.microsoft.com/office/drawing/2014/main" id="{4E8CC73B-664F-E2BF-99CC-BF64786B791C}"/>
                </a:ext>
              </a:extLst>
            </p:cNvPr>
            <p:cNvSpPr/>
            <p:nvPr/>
          </p:nvSpPr>
          <p:spPr>
            <a:xfrm>
              <a:off x="7351776" y="3154680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0.76</a:t>
              </a:r>
              <a:endParaRPr lang="en-US" sz="800" dirty="0"/>
            </a:p>
          </p:txBody>
        </p:sp>
        <p:sp>
          <p:nvSpPr>
            <p:cNvPr id="85" name="Shape 83">
              <a:extLst>
                <a:ext uri="{FF2B5EF4-FFF2-40B4-BE49-F238E27FC236}">
                  <a16:creationId xmlns:a16="http://schemas.microsoft.com/office/drawing/2014/main" id="{B77989E6-0B9F-AC06-9633-9885794B5385}"/>
                </a:ext>
              </a:extLst>
            </p:cNvPr>
            <p:cNvSpPr/>
            <p:nvPr/>
          </p:nvSpPr>
          <p:spPr>
            <a:xfrm>
              <a:off x="8211312" y="3154680"/>
              <a:ext cx="868680" cy="25603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6" name="Text 84">
              <a:extLst>
                <a:ext uri="{FF2B5EF4-FFF2-40B4-BE49-F238E27FC236}">
                  <a16:creationId xmlns:a16="http://schemas.microsoft.com/office/drawing/2014/main" id="{968155A1-44B3-B556-3A50-89381E2D8655}"/>
                </a:ext>
              </a:extLst>
            </p:cNvPr>
            <p:cNvSpPr/>
            <p:nvPr/>
          </p:nvSpPr>
          <p:spPr>
            <a:xfrm>
              <a:off x="8247888" y="3154680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-0.13</a:t>
              </a:r>
              <a:endParaRPr lang="en-US" sz="800" dirty="0"/>
            </a:p>
          </p:txBody>
        </p:sp>
        <p:sp>
          <p:nvSpPr>
            <p:cNvPr id="87" name="Shape 85">
              <a:extLst>
                <a:ext uri="{FF2B5EF4-FFF2-40B4-BE49-F238E27FC236}">
                  <a16:creationId xmlns:a16="http://schemas.microsoft.com/office/drawing/2014/main" id="{86EF7F9C-5DE0-F6EB-CCF5-3F74A2386B4F}"/>
                </a:ext>
              </a:extLst>
            </p:cNvPr>
            <p:cNvSpPr/>
            <p:nvPr/>
          </p:nvSpPr>
          <p:spPr>
            <a:xfrm>
              <a:off x="4736592" y="3438144"/>
              <a:ext cx="1664208" cy="2560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8" name="Text 86">
              <a:extLst>
                <a:ext uri="{FF2B5EF4-FFF2-40B4-BE49-F238E27FC236}">
                  <a16:creationId xmlns:a16="http://schemas.microsoft.com/office/drawing/2014/main" id="{657A574B-2714-BFD7-5D92-A6A4A34837CC}"/>
                </a:ext>
              </a:extLst>
            </p:cNvPr>
            <p:cNvSpPr/>
            <p:nvPr/>
          </p:nvSpPr>
          <p:spPr>
            <a:xfrm>
              <a:off x="4773168" y="3438144"/>
              <a:ext cx="1591056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지시표지</a:t>
              </a:r>
              <a:endParaRPr lang="en-US" sz="800" dirty="0"/>
            </a:p>
          </p:txBody>
        </p:sp>
        <p:sp>
          <p:nvSpPr>
            <p:cNvPr id="89" name="Shape 87">
              <a:extLst>
                <a:ext uri="{FF2B5EF4-FFF2-40B4-BE49-F238E27FC236}">
                  <a16:creationId xmlns:a16="http://schemas.microsoft.com/office/drawing/2014/main" id="{47A5C222-CE07-0D88-0988-3CEBE5AC42DD}"/>
                </a:ext>
              </a:extLst>
            </p:cNvPr>
            <p:cNvSpPr/>
            <p:nvPr/>
          </p:nvSpPr>
          <p:spPr>
            <a:xfrm>
              <a:off x="6428232" y="3438144"/>
              <a:ext cx="868680" cy="2560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0" name="Text 88">
              <a:extLst>
                <a:ext uri="{FF2B5EF4-FFF2-40B4-BE49-F238E27FC236}">
                  <a16:creationId xmlns:a16="http://schemas.microsoft.com/office/drawing/2014/main" id="{A78D3CE4-CB51-27D2-EA1E-08C6E7D1FED1}"/>
                </a:ext>
              </a:extLst>
            </p:cNvPr>
            <p:cNvSpPr/>
            <p:nvPr/>
          </p:nvSpPr>
          <p:spPr>
            <a:xfrm>
              <a:off x="6464808" y="3438144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0.96</a:t>
              </a:r>
              <a:endParaRPr lang="en-US" sz="800" dirty="0"/>
            </a:p>
          </p:txBody>
        </p:sp>
        <p:sp>
          <p:nvSpPr>
            <p:cNvPr id="91" name="Shape 89">
              <a:extLst>
                <a:ext uri="{FF2B5EF4-FFF2-40B4-BE49-F238E27FC236}">
                  <a16:creationId xmlns:a16="http://schemas.microsoft.com/office/drawing/2014/main" id="{60D08E51-87D1-9CD0-176E-4B6860AE90BF}"/>
                </a:ext>
              </a:extLst>
            </p:cNvPr>
            <p:cNvSpPr/>
            <p:nvPr/>
          </p:nvSpPr>
          <p:spPr>
            <a:xfrm>
              <a:off x="7315200" y="3438144"/>
              <a:ext cx="868680" cy="2560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2" name="Text 90">
              <a:extLst>
                <a:ext uri="{FF2B5EF4-FFF2-40B4-BE49-F238E27FC236}">
                  <a16:creationId xmlns:a16="http://schemas.microsoft.com/office/drawing/2014/main" id="{E3CE3A43-D371-8277-7E8E-F4FE216C8246}"/>
                </a:ext>
              </a:extLst>
            </p:cNvPr>
            <p:cNvSpPr/>
            <p:nvPr/>
          </p:nvSpPr>
          <p:spPr>
            <a:xfrm>
              <a:off x="7351776" y="3438144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0.87</a:t>
              </a:r>
              <a:endParaRPr lang="en-US" sz="800" dirty="0"/>
            </a:p>
          </p:txBody>
        </p:sp>
        <p:sp>
          <p:nvSpPr>
            <p:cNvPr id="93" name="Shape 91">
              <a:extLst>
                <a:ext uri="{FF2B5EF4-FFF2-40B4-BE49-F238E27FC236}">
                  <a16:creationId xmlns:a16="http://schemas.microsoft.com/office/drawing/2014/main" id="{D02128AC-D904-FE8F-93D9-5EF4AA48A0E4}"/>
                </a:ext>
              </a:extLst>
            </p:cNvPr>
            <p:cNvSpPr/>
            <p:nvPr/>
          </p:nvSpPr>
          <p:spPr>
            <a:xfrm>
              <a:off x="8211312" y="3438144"/>
              <a:ext cx="868680" cy="25603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Text 92">
              <a:extLst>
                <a:ext uri="{FF2B5EF4-FFF2-40B4-BE49-F238E27FC236}">
                  <a16:creationId xmlns:a16="http://schemas.microsoft.com/office/drawing/2014/main" id="{3E30477A-1717-0663-1D71-08C92E8C7274}"/>
                </a:ext>
              </a:extLst>
            </p:cNvPr>
            <p:cNvSpPr/>
            <p:nvPr/>
          </p:nvSpPr>
          <p:spPr>
            <a:xfrm>
              <a:off x="8247888" y="3438144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-0.09</a:t>
              </a:r>
              <a:endParaRPr lang="en-US" sz="800" dirty="0"/>
            </a:p>
          </p:txBody>
        </p:sp>
        <p:sp>
          <p:nvSpPr>
            <p:cNvPr id="95" name="Shape 93">
              <a:extLst>
                <a:ext uri="{FF2B5EF4-FFF2-40B4-BE49-F238E27FC236}">
                  <a16:creationId xmlns:a16="http://schemas.microsoft.com/office/drawing/2014/main" id="{290EC378-135B-FB7B-0058-E5A398486BF4}"/>
                </a:ext>
              </a:extLst>
            </p:cNvPr>
            <p:cNvSpPr/>
            <p:nvPr/>
          </p:nvSpPr>
          <p:spPr>
            <a:xfrm>
              <a:off x="4736592" y="3721608"/>
              <a:ext cx="1664208" cy="25603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6" name="Text 94">
              <a:extLst>
                <a:ext uri="{FF2B5EF4-FFF2-40B4-BE49-F238E27FC236}">
                  <a16:creationId xmlns:a16="http://schemas.microsoft.com/office/drawing/2014/main" id="{42331596-21E9-28CA-7362-E13F37B4ADA0}"/>
                </a:ext>
              </a:extLst>
            </p:cNvPr>
            <p:cNvSpPr/>
            <p:nvPr/>
          </p:nvSpPr>
          <p:spPr>
            <a:xfrm>
              <a:off x="4773168" y="3721608"/>
              <a:ext cx="1591056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주의표지</a:t>
              </a:r>
              <a:endParaRPr lang="en-US" sz="800" dirty="0"/>
            </a:p>
          </p:txBody>
        </p:sp>
        <p:sp>
          <p:nvSpPr>
            <p:cNvPr id="97" name="Shape 95">
              <a:extLst>
                <a:ext uri="{FF2B5EF4-FFF2-40B4-BE49-F238E27FC236}">
                  <a16:creationId xmlns:a16="http://schemas.microsoft.com/office/drawing/2014/main" id="{855F4274-35A3-8AAA-1E16-B78AA02F5A6A}"/>
                </a:ext>
              </a:extLst>
            </p:cNvPr>
            <p:cNvSpPr/>
            <p:nvPr/>
          </p:nvSpPr>
          <p:spPr>
            <a:xfrm>
              <a:off x="6428232" y="3721608"/>
              <a:ext cx="868680" cy="25603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8" name="Text 96">
              <a:extLst>
                <a:ext uri="{FF2B5EF4-FFF2-40B4-BE49-F238E27FC236}">
                  <a16:creationId xmlns:a16="http://schemas.microsoft.com/office/drawing/2014/main" id="{D9B12B77-B0CA-564C-3780-0E4CCE3E127D}"/>
                </a:ext>
              </a:extLst>
            </p:cNvPr>
            <p:cNvSpPr/>
            <p:nvPr/>
          </p:nvSpPr>
          <p:spPr>
            <a:xfrm>
              <a:off x="6464808" y="3721608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0.95</a:t>
              </a:r>
              <a:endParaRPr lang="en-US" sz="800" dirty="0"/>
            </a:p>
          </p:txBody>
        </p:sp>
        <p:sp>
          <p:nvSpPr>
            <p:cNvPr id="99" name="Shape 97">
              <a:extLst>
                <a:ext uri="{FF2B5EF4-FFF2-40B4-BE49-F238E27FC236}">
                  <a16:creationId xmlns:a16="http://schemas.microsoft.com/office/drawing/2014/main" id="{774DF278-1FBE-335E-1C9C-A0FE6D4446F6}"/>
                </a:ext>
              </a:extLst>
            </p:cNvPr>
            <p:cNvSpPr/>
            <p:nvPr/>
          </p:nvSpPr>
          <p:spPr>
            <a:xfrm>
              <a:off x="7315200" y="3721608"/>
              <a:ext cx="868680" cy="25603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0" name="Text 98">
              <a:extLst>
                <a:ext uri="{FF2B5EF4-FFF2-40B4-BE49-F238E27FC236}">
                  <a16:creationId xmlns:a16="http://schemas.microsoft.com/office/drawing/2014/main" id="{8846705E-A149-0CB0-9502-729BDD476711}"/>
                </a:ext>
              </a:extLst>
            </p:cNvPr>
            <p:cNvSpPr/>
            <p:nvPr/>
          </p:nvSpPr>
          <p:spPr>
            <a:xfrm>
              <a:off x="7351776" y="3721608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0.87</a:t>
              </a:r>
              <a:endParaRPr lang="en-US" sz="800" dirty="0"/>
            </a:p>
          </p:txBody>
        </p:sp>
        <p:sp>
          <p:nvSpPr>
            <p:cNvPr id="101" name="Shape 99">
              <a:extLst>
                <a:ext uri="{FF2B5EF4-FFF2-40B4-BE49-F238E27FC236}">
                  <a16:creationId xmlns:a16="http://schemas.microsoft.com/office/drawing/2014/main" id="{81FF890A-70A1-5BC0-FA1E-A5EC9A50D527}"/>
                </a:ext>
              </a:extLst>
            </p:cNvPr>
            <p:cNvSpPr/>
            <p:nvPr/>
          </p:nvSpPr>
          <p:spPr>
            <a:xfrm>
              <a:off x="8211312" y="3721608"/>
              <a:ext cx="868680" cy="25603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" name="Text 100">
              <a:extLst>
                <a:ext uri="{FF2B5EF4-FFF2-40B4-BE49-F238E27FC236}">
                  <a16:creationId xmlns:a16="http://schemas.microsoft.com/office/drawing/2014/main" id="{58C6B965-6A70-C26F-C122-5B9E03041FB8}"/>
                </a:ext>
              </a:extLst>
            </p:cNvPr>
            <p:cNvSpPr/>
            <p:nvPr/>
          </p:nvSpPr>
          <p:spPr>
            <a:xfrm>
              <a:off x="8247888" y="3721608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-0.08</a:t>
              </a:r>
              <a:endParaRPr lang="en-US" sz="800" dirty="0"/>
            </a:p>
          </p:txBody>
        </p:sp>
        <p:sp>
          <p:nvSpPr>
            <p:cNvPr id="103" name="Shape 101">
              <a:extLst>
                <a:ext uri="{FF2B5EF4-FFF2-40B4-BE49-F238E27FC236}">
                  <a16:creationId xmlns:a16="http://schemas.microsoft.com/office/drawing/2014/main" id="{05ADA7C8-8325-0F73-B1A4-C0BE6FDF6EFA}"/>
                </a:ext>
              </a:extLst>
            </p:cNvPr>
            <p:cNvSpPr/>
            <p:nvPr/>
          </p:nvSpPr>
          <p:spPr>
            <a:xfrm>
              <a:off x="4736592" y="4005072"/>
              <a:ext cx="1664208" cy="256032"/>
            </a:xfrm>
            <a:prstGeom prst="rect">
              <a:avLst/>
            </a:prstGeom>
            <a:solidFill>
              <a:srgbClr val="FEE2E2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" name="Text 102">
              <a:extLst>
                <a:ext uri="{FF2B5EF4-FFF2-40B4-BE49-F238E27FC236}">
                  <a16:creationId xmlns:a16="http://schemas.microsoft.com/office/drawing/2014/main" id="{0F154BDD-13A7-F2A2-177A-79FD1E2C5DC0}"/>
                </a:ext>
              </a:extLst>
            </p:cNvPr>
            <p:cNvSpPr/>
            <p:nvPr/>
          </p:nvSpPr>
          <p:spPr>
            <a:xfrm>
              <a:off x="4773168" y="4005072"/>
              <a:ext cx="1591056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전체 Accuracy</a:t>
              </a:r>
              <a:endParaRPr lang="en-US" sz="800" dirty="0"/>
            </a:p>
          </p:txBody>
        </p:sp>
        <p:sp>
          <p:nvSpPr>
            <p:cNvPr id="105" name="Shape 103">
              <a:extLst>
                <a:ext uri="{FF2B5EF4-FFF2-40B4-BE49-F238E27FC236}">
                  <a16:creationId xmlns:a16="http://schemas.microsoft.com/office/drawing/2014/main" id="{C310D40F-B1F1-C17F-C72A-F9499F623692}"/>
                </a:ext>
              </a:extLst>
            </p:cNvPr>
            <p:cNvSpPr/>
            <p:nvPr/>
          </p:nvSpPr>
          <p:spPr>
            <a:xfrm>
              <a:off x="6428232" y="4005072"/>
              <a:ext cx="868680" cy="256032"/>
            </a:xfrm>
            <a:prstGeom prst="rect">
              <a:avLst/>
            </a:prstGeom>
            <a:solidFill>
              <a:srgbClr val="FEE2E2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6" name="Text 104">
              <a:extLst>
                <a:ext uri="{FF2B5EF4-FFF2-40B4-BE49-F238E27FC236}">
                  <a16:creationId xmlns:a16="http://schemas.microsoft.com/office/drawing/2014/main" id="{C71FA79D-DA41-2947-9382-98EFE8807618}"/>
                </a:ext>
              </a:extLst>
            </p:cNvPr>
            <p:cNvSpPr/>
            <p:nvPr/>
          </p:nvSpPr>
          <p:spPr>
            <a:xfrm>
              <a:off x="6464808" y="4005072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91.76%</a:t>
              </a:r>
              <a:endParaRPr lang="en-US" sz="800" dirty="0"/>
            </a:p>
          </p:txBody>
        </p:sp>
        <p:sp>
          <p:nvSpPr>
            <p:cNvPr id="107" name="Shape 105">
              <a:extLst>
                <a:ext uri="{FF2B5EF4-FFF2-40B4-BE49-F238E27FC236}">
                  <a16:creationId xmlns:a16="http://schemas.microsoft.com/office/drawing/2014/main" id="{81E9CBE9-B4DE-5058-758E-46E1324DC070}"/>
                </a:ext>
              </a:extLst>
            </p:cNvPr>
            <p:cNvSpPr/>
            <p:nvPr/>
          </p:nvSpPr>
          <p:spPr>
            <a:xfrm>
              <a:off x="7315200" y="4005072"/>
              <a:ext cx="868680" cy="256032"/>
            </a:xfrm>
            <a:prstGeom prst="rect">
              <a:avLst/>
            </a:prstGeom>
            <a:solidFill>
              <a:srgbClr val="FEE2E2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8" name="Text 106">
              <a:extLst>
                <a:ext uri="{FF2B5EF4-FFF2-40B4-BE49-F238E27FC236}">
                  <a16:creationId xmlns:a16="http://schemas.microsoft.com/office/drawing/2014/main" id="{96370697-396D-8F74-6ABE-12ABB74B09EE}"/>
                </a:ext>
              </a:extLst>
            </p:cNvPr>
            <p:cNvSpPr/>
            <p:nvPr/>
          </p:nvSpPr>
          <p:spPr>
            <a:xfrm>
              <a:off x="7351776" y="4005072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77.07%</a:t>
              </a:r>
              <a:endParaRPr lang="en-US" sz="800" dirty="0"/>
            </a:p>
          </p:txBody>
        </p:sp>
        <p:sp>
          <p:nvSpPr>
            <p:cNvPr id="109" name="Shape 107">
              <a:extLst>
                <a:ext uri="{FF2B5EF4-FFF2-40B4-BE49-F238E27FC236}">
                  <a16:creationId xmlns:a16="http://schemas.microsoft.com/office/drawing/2014/main" id="{CBB4B552-85EB-C197-45E4-CF91DCD47642}"/>
                </a:ext>
              </a:extLst>
            </p:cNvPr>
            <p:cNvSpPr/>
            <p:nvPr/>
          </p:nvSpPr>
          <p:spPr>
            <a:xfrm>
              <a:off x="8211312" y="4005072"/>
              <a:ext cx="868680" cy="256032"/>
            </a:xfrm>
            <a:prstGeom prst="rect">
              <a:avLst/>
            </a:prstGeom>
            <a:solidFill>
              <a:srgbClr val="FEE2E2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0" name="Text 108">
              <a:extLst>
                <a:ext uri="{FF2B5EF4-FFF2-40B4-BE49-F238E27FC236}">
                  <a16:creationId xmlns:a16="http://schemas.microsoft.com/office/drawing/2014/main" id="{F60F7E30-1491-37D1-1FB7-726B023F7C35}"/>
                </a:ext>
              </a:extLst>
            </p:cNvPr>
            <p:cNvSpPr/>
            <p:nvPr/>
          </p:nvSpPr>
          <p:spPr>
            <a:xfrm>
              <a:off x="8247888" y="4005072"/>
              <a:ext cx="795528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-14.69%p</a:t>
              </a:r>
              <a:endParaRPr lang="en-US" sz="800" dirty="0"/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9C2808A5-F270-BA46-61B9-1F650D0BB755}"/>
              </a:ext>
            </a:extLst>
          </p:cNvPr>
          <p:cNvGrpSpPr/>
          <p:nvPr/>
        </p:nvGrpSpPr>
        <p:grpSpPr>
          <a:xfrm>
            <a:off x="4663440" y="4322698"/>
            <a:ext cx="4251960" cy="693436"/>
            <a:chOff x="4663440" y="4233672"/>
            <a:chExt cx="4251960" cy="822960"/>
          </a:xfrm>
        </p:grpSpPr>
        <p:sp>
          <p:nvSpPr>
            <p:cNvPr id="111" name="Shape 109">
              <a:extLst>
                <a:ext uri="{FF2B5EF4-FFF2-40B4-BE49-F238E27FC236}">
                  <a16:creationId xmlns:a16="http://schemas.microsoft.com/office/drawing/2014/main" id="{EEB5E775-5AB8-9758-5088-09EC586E3347}"/>
                </a:ext>
              </a:extLst>
            </p:cNvPr>
            <p:cNvSpPr/>
            <p:nvPr/>
          </p:nvSpPr>
          <p:spPr>
            <a:xfrm>
              <a:off x="4663440" y="4233672"/>
              <a:ext cx="4251960" cy="822960"/>
            </a:xfrm>
            <a:prstGeom prst="rect">
              <a:avLst/>
            </a:prstGeom>
            <a:solidFill>
              <a:srgbClr val="FEE2E2"/>
            </a:solidFill>
            <a:ln w="1016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" name="Text 110">
              <a:extLst>
                <a:ext uri="{FF2B5EF4-FFF2-40B4-BE49-F238E27FC236}">
                  <a16:creationId xmlns:a16="http://schemas.microsoft.com/office/drawing/2014/main" id="{236F6488-4CF1-667E-7DE9-D1171A1E7DB5}"/>
                </a:ext>
              </a:extLst>
            </p:cNvPr>
            <p:cNvSpPr/>
            <p:nvPr/>
          </p:nvSpPr>
          <p:spPr>
            <a:xfrm>
              <a:off x="4736592" y="4261104"/>
              <a:ext cx="409651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증강 역효과 원인</a:t>
              </a:r>
              <a:endParaRPr lang="en-US" sz="950" dirty="0"/>
            </a:p>
          </p:txBody>
        </p:sp>
        <p:sp>
          <p:nvSpPr>
            <p:cNvPr id="113" name="Text 111">
              <a:extLst>
                <a:ext uri="{FF2B5EF4-FFF2-40B4-BE49-F238E27FC236}">
                  <a16:creationId xmlns:a16="http://schemas.microsoft.com/office/drawing/2014/main" id="{DC191B2E-A208-432A-D8C1-3213F2C077BD}"/>
                </a:ext>
              </a:extLst>
            </p:cNvPr>
            <p:cNvSpPr/>
            <p:nvPr/>
          </p:nvSpPr>
          <p:spPr>
            <a:xfrm>
              <a:off x="4736592" y="4544568"/>
              <a:ext cx="4096512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회전·줌이 저해상도 크롭 이미지 숫자 픽셀을 뭉개서 30/80 구분 불가</a:t>
              </a:r>
              <a:endParaRPr lang="en-US" sz="850" dirty="0"/>
            </a:p>
          </p:txBody>
        </p:sp>
        <p:sp>
          <p:nvSpPr>
            <p:cNvPr id="114" name="Text 112">
              <a:extLst>
                <a:ext uri="{FF2B5EF4-FFF2-40B4-BE49-F238E27FC236}">
                  <a16:creationId xmlns:a16="http://schemas.microsoft.com/office/drawing/2014/main" id="{528E1A62-4897-30AD-67D6-C51F41F68063}"/>
                </a:ext>
              </a:extLst>
            </p:cNvPr>
            <p:cNvSpPr/>
            <p:nvPr/>
          </p:nvSpPr>
          <p:spPr>
            <a:xfrm>
              <a:off x="4736592" y="4782312"/>
              <a:ext cx="4096512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• class_weight 과민: 소수 클래스 과잉 예측으로 Precision 폭락</a:t>
              </a:r>
              <a:endParaRPr lang="en-US" sz="850" dirty="0"/>
            </a:p>
          </p:txBody>
        </p:sp>
      </p:grpSp>
      <p:sp>
        <p:nvSpPr>
          <p:cNvPr id="115" name="Shape 113">
            <a:extLst>
              <a:ext uri="{FF2B5EF4-FFF2-40B4-BE49-F238E27FC236}">
                <a16:creationId xmlns:a16="http://schemas.microsoft.com/office/drawing/2014/main" id="{AC3CEFB5-2153-26EF-119F-2EFE8488EBFB}"/>
              </a:ext>
            </a:extLst>
          </p:cNvPr>
          <p:cNvSpPr/>
          <p:nvPr/>
        </p:nvSpPr>
        <p:spPr>
          <a:xfrm>
            <a:off x="228600" y="5102352"/>
            <a:ext cx="8686800" cy="0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Text 114">
            <a:extLst>
              <a:ext uri="{FF2B5EF4-FFF2-40B4-BE49-F238E27FC236}">
                <a16:creationId xmlns:a16="http://schemas.microsoft.com/office/drawing/2014/main" id="{A70A794C-50CF-E64A-A620-8F30245846FA}"/>
              </a:ext>
            </a:extLst>
          </p:cNvPr>
          <p:cNvSpPr/>
          <p:nvPr/>
        </p:nvSpPr>
        <p:spPr>
          <a:xfrm>
            <a:off x="292608" y="5102352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23" name="Shape 2">
            <a:extLst>
              <a:ext uri="{FF2B5EF4-FFF2-40B4-BE49-F238E27FC236}">
                <a16:creationId xmlns:a16="http://schemas.microsoft.com/office/drawing/2014/main" id="{B88D587A-03CB-11E2-C564-6F936DCC34FA}"/>
              </a:ext>
            </a:extLst>
          </p:cNvPr>
          <p:cNvSpPr/>
          <p:nvPr/>
        </p:nvSpPr>
        <p:spPr>
          <a:xfrm>
            <a:off x="228600" y="1051560"/>
            <a:ext cx="4251960" cy="396457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Shape 3">
            <a:extLst>
              <a:ext uri="{FF2B5EF4-FFF2-40B4-BE49-F238E27FC236}">
                <a16:creationId xmlns:a16="http://schemas.microsoft.com/office/drawing/2014/main" id="{6F7DE8DC-3165-86A3-B921-5D68E13EB576}"/>
              </a:ext>
            </a:extLst>
          </p:cNvPr>
          <p:cNvSpPr/>
          <p:nvPr/>
        </p:nvSpPr>
        <p:spPr>
          <a:xfrm>
            <a:off x="228600" y="1051560"/>
            <a:ext cx="4251960" cy="312251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5" name="Text 4">
            <a:extLst>
              <a:ext uri="{FF2B5EF4-FFF2-40B4-BE49-F238E27FC236}">
                <a16:creationId xmlns:a16="http://schemas.microsoft.com/office/drawing/2014/main" id="{E68D3723-A31D-64CC-9432-32529A5100B1}"/>
              </a:ext>
            </a:extLst>
          </p:cNvPr>
          <p:cNvSpPr/>
          <p:nvPr/>
        </p:nvSpPr>
        <p:spPr>
          <a:xfrm>
            <a:off x="294015" y="1051560"/>
            <a:ext cx="4111785" cy="3122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ResNet101 + </a:t>
            </a:r>
            <a:r>
              <a:rPr lang="en-US" altLang="ko-KR" sz="10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r>
              <a:rPr lang="en-US" altLang="ko-KR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05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증강</a:t>
            </a:r>
            <a:endParaRPr lang="en-US" sz="1050" dirty="0"/>
          </a:p>
        </p:txBody>
      </p:sp>
      <p:pic>
        <p:nvPicPr>
          <p:cNvPr id="121" name="그림 120">
            <a:extLst>
              <a:ext uri="{FF2B5EF4-FFF2-40B4-BE49-F238E27FC236}">
                <a16:creationId xmlns:a16="http://schemas.microsoft.com/office/drawing/2014/main" id="{DEC3DEF4-4F86-AC8D-240D-27E0997CF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99032"/>
            <a:ext cx="4111785" cy="360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483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78B27-2A96-4DF6-3EAA-9B93DCEA2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7F66BC-BFAE-A0A3-1653-CF0F0E1736C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8B39A1-2945-3144-2B9D-6C68850DED9C}"/>
              </a:ext>
            </a:extLst>
          </p:cNvPr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ResNet101 + 데이터 증강 – 도입 이유 &amp; 결과 &amp; 역효과 분석</a:t>
            </a:r>
            <a:endParaRPr lang="en-US" sz="2000" dirty="0"/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FE0D6A62-A7BA-00C6-DA28-32C74820C953}"/>
              </a:ext>
            </a:extLst>
          </p:cNvPr>
          <p:cNvGrpSpPr/>
          <p:nvPr/>
        </p:nvGrpSpPr>
        <p:grpSpPr>
          <a:xfrm>
            <a:off x="4754880" y="1048946"/>
            <a:ext cx="4160520" cy="3888812"/>
            <a:chOff x="228600" y="3227832"/>
            <a:chExt cx="4160520" cy="1810512"/>
          </a:xfrm>
        </p:grpSpPr>
        <p:sp>
          <p:nvSpPr>
            <p:cNvPr id="13" name="Shape 11">
              <a:extLst>
                <a:ext uri="{FF2B5EF4-FFF2-40B4-BE49-F238E27FC236}">
                  <a16:creationId xmlns:a16="http://schemas.microsoft.com/office/drawing/2014/main" id="{4A4FDDA4-95C8-AEFB-7A84-FFFF98F9FCF9}"/>
                </a:ext>
              </a:extLst>
            </p:cNvPr>
            <p:cNvSpPr/>
            <p:nvPr/>
          </p:nvSpPr>
          <p:spPr>
            <a:xfrm>
              <a:off x="228600" y="3227832"/>
              <a:ext cx="4160520" cy="1810512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7EC78DD0-315F-72C7-F9DB-99ECBACE3BF0}"/>
                </a:ext>
              </a:extLst>
            </p:cNvPr>
            <p:cNvSpPr/>
            <p:nvPr/>
          </p:nvSpPr>
          <p:spPr>
            <a:xfrm>
              <a:off x="228600" y="3227832"/>
              <a:ext cx="4160520" cy="320040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AC497C32-8230-5987-3B92-7885A1826D3A}"/>
                </a:ext>
              </a:extLst>
            </p:cNvPr>
            <p:cNvSpPr/>
            <p:nvPr/>
          </p:nvSpPr>
          <p:spPr>
            <a:xfrm>
              <a:off x="292608" y="3227832"/>
              <a:ext cx="40233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증강 모델 실전 테스트 결과</a:t>
              </a:r>
              <a:endParaRPr lang="en-US" sz="1050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31BFB7A4-E456-6892-0EC0-3263DB2B40C2}"/>
                </a:ext>
              </a:extLst>
            </p:cNvPr>
            <p:cNvSpPr/>
            <p:nvPr/>
          </p:nvSpPr>
          <p:spPr>
            <a:xfrm>
              <a:off x="292608" y="3611880"/>
              <a:ext cx="4023360" cy="420624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241968CC-4BE7-98BF-7C1E-83E2A2313EF4}"/>
                </a:ext>
              </a:extLst>
            </p:cNvPr>
            <p:cNvSpPr/>
            <p:nvPr/>
          </p:nvSpPr>
          <p:spPr>
            <a:xfrm>
              <a:off x="347472" y="3630168"/>
              <a:ext cx="141732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4748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signtest.jpg (복합)</a:t>
              </a:r>
              <a:endParaRPr lang="en-US" sz="75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3592F788-3048-BA13-D07D-4CC63B3FB506}"/>
                </a:ext>
              </a:extLst>
            </p:cNvPr>
            <p:cNvSpPr/>
            <p:nvPr/>
          </p:nvSpPr>
          <p:spPr>
            <a:xfrm>
              <a:off x="347472" y="3813048"/>
              <a:ext cx="192024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059669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보호구역 (87.99%)</a:t>
              </a:r>
              <a:endParaRPr lang="en-US" sz="85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DDB29911-64F6-1B2A-11DE-9D7AF071E67C}"/>
                </a:ext>
              </a:extLst>
            </p:cNvPr>
            <p:cNvSpPr/>
            <p:nvPr/>
          </p:nvSpPr>
          <p:spPr>
            <a:xfrm>
              <a:off x="2331720" y="3685032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ResNet101과 동일 예측</a:t>
              </a:r>
              <a:endParaRPr lang="en-US" sz="800" dirty="0"/>
            </a:p>
          </p:txBody>
        </p:sp>
        <p:sp>
          <p:nvSpPr>
            <p:cNvPr id="20" name="Shape 18">
              <a:extLst>
                <a:ext uri="{FF2B5EF4-FFF2-40B4-BE49-F238E27FC236}">
                  <a16:creationId xmlns:a16="http://schemas.microsoft.com/office/drawing/2014/main" id="{C5BA6E89-7270-6F64-0A84-9638663C2167}"/>
                </a:ext>
              </a:extLst>
            </p:cNvPr>
            <p:cNvSpPr/>
            <p:nvPr/>
          </p:nvSpPr>
          <p:spPr>
            <a:xfrm>
              <a:off x="292608" y="4087368"/>
              <a:ext cx="4023360" cy="420624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A446F4EB-31D6-591F-8495-FA76E8ECCA27}"/>
                </a:ext>
              </a:extLst>
            </p:cNvPr>
            <p:cNvSpPr/>
            <p:nvPr/>
          </p:nvSpPr>
          <p:spPr>
            <a:xfrm>
              <a:off x="347472" y="4105656"/>
              <a:ext cx="141732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4748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crop30_signtest.jpg</a:t>
              </a:r>
              <a:endParaRPr lang="en-US" sz="750" dirty="0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D520CA0E-3C6A-7E69-3759-2C1A2D49A764}"/>
                </a:ext>
              </a:extLst>
            </p:cNvPr>
            <p:cNvSpPr/>
            <p:nvPr/>
          </p:nvSpPr>
          <p:spPr>
            <a:xfrm>
              <a:off x="347472" y="4288536"/>
              <a:ext cx="192024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속도제한70_80 (80.57%)</a:t>
              </a:r>
              <a:endParaRPr lang="en-US" sz="850" dirty="0"/>
            </a:p>
          </p:txBody>
        </p:sp>
        <p:sp>
          <p:nvSpPr>
            <p:cNvPr id="23" name="Text 21">
              <a:extLst>
                <a:ext uri="{FF2B5EF4-FFF2-40B4-BE49-F238E27FC236}">
                  <a16:creationId xmlns:a16="http://schemas.microsoft.com/office/drawing/2014/main" id="{E2066041-878F-F523-34E1-2C7CB22EBE93}"/>
                </a:ext>
              </a:extLst>
            </p:cNvPr>
            <p:cNvSpPr/>
            <p:nvPr/>
          </p:nvSpPr>
          <p:spPr>
            <a:xfrm>
              <a:off x="2331720" y="416052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30→80으로 오판독! (증강 역효과)</a:t>
              </a:r>
              <a:endParaRPr lang="en-US" sz="800" dirty="0"/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2709EA02-D4EE-6B32-93D4-6D686AD1922E}"/>
                </a:ext>
              </a:extLst>
            </p:cNvPr>
            <p:cNvSpPr/>
            <p:nvPr/>
          </p:nvSpPr>
          <p:spPr>
            <a:xfrm>
              <a:off x="292608" y="4562856"/>
              <a:ext cx="4023360" cy="420624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36BEEC86-D96E-A832-8B5A-243CBABC145A}"/>
                </a:ext>
              </a:extLst>
            </p:cNvPr>
            <p:cNvSpPr/>
            <p:nvPr/>
          </p:nvSpPr>
          <p:spPr>
            <a:xfrm>
              <a:off x="347472" y="4581144"/>
              <a:ext cx="141732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4748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cropBT_signtest.jpg</a:t>
              </a:r>
              <a:endParaRPr lang="en-US" sz="750" dirty="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88B0ADFE-C697-7829-9960-1168312B5D41}"/>
                </a:ext>
              </a:extLst>
            </p:cNvPr>
            <p:cNvSpPr/>
            <p:nvPr/>
          </p:nvSpPr>
          <p:spPr>
            <a:xfrm>
              <a:off x="347472" y="4764024"/>
              <a:ext cx="192024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b="1" dirty="0">
                  <a:solidFill>
                    <a:srgbClr val="059669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보호구역 (99.02%)</a:t>
              </a:r>
              <a:endParaRPr lang="en-US" sz="85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2ED48742-8EFB-EA35-5676-86008EE8EDBE}"/>
                </a:ext>
              </a:extLst>
            </p:cNvPr>
            <p:cNvSpPr/>
            <p:nvPr/>
          </p:nvSpPr>
          <p:spPr>
            <a:xfrm>
              <a:off x="2331720" y="4636008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상단 표지판 단독 → 대성공</a:t>
              </a:r>
              <a:endParaRPr lang="en-US" sz="800" dirty="0"/>
            </a:p>
          </p:txBody>
        </p:sp>
      </p:grpSp>
      <p:sp>
        <p:nvSpPr>
          <p:cNvPr id="115" name="Shape 113">
            <a:extLst>
              <a:ext uri="{FF2B5EF4-FFF2-40B4-BE49-F238E27FC236}">
                <a16:creationId xmlns:a16="http://schemas.microsoft.com/office/drawing/2014/main" id="{7E6352D8-D6F7-515A-CBD1-C31FB2221E6C}"/>
              </a:ext>
            </a:extLst>
          </p:cNvPr>
          <p:cNvSpPr/>
          <p:nvPr/>
        </p:nvSpPr>
        <p:spPr>
          <a:xfrm>
            <a:off x="228600" y="5102352"/>
            <a:ext cx="8686800" cy="0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Text 114">
            <a:extLst>
              <a:ext uri="{FF2B5EF4-FFF2-40B4-BE49-F238E27FC236}">
                <a16:creationId xmlns:a16="http://schemas.microsoft.com/office/drawing/2014/main" id="{3DD6D04F-CC7A-4664-1922-2E15E599D032}"/>
              </a:ext>
            </a:extLst>
          </p:cNvPr>
          <p:cNvSpPr/>
          <p:nvPr/>
        </p:nvSpPr>
        <p:spPr>
          <a:xfrm>
            <a:off x="292608" y="5102352"/>
            <a:ext cx="8503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pic>
        <p:nvPicPr>
          <p:cNvPr id="5" name="그림 4" descr="The image shows a road sign with a pedestrian symbol, indicating a pedestrian zone, and a number 30, suggesting a speed limit of 30 km/h.&#10;&#10;AI 생성 콘텐츠는 정확하지 않을 수 있습니다.">
            <a:extLst>
              <a:ext uri="{FF2B5EF4-FFF2-40B4-BE49-F238E27FC236}">
                <a16:creationId xmlns:a16="http://schemas.microsoft.com/office/drawing/2014/main" id="{61A0FF73-8F90-472D-63FE-176E6EC46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48946"/>
            <a:ext cx="2066545" cy="2340895"/>
          </a:xfrm>
          <a:prstGeom prst="rect">
            <a:avLst/>
          </a:prstGeom>
        </p:spPr>
      </p:pic>
      <p:pic>
        <p:nvPicPr>
          <p:cNvPr id="7" name="그림 6" descr="30&#10;&#10;AI 생성 콘텐츠는 정확하지 않을 수 있습니다.">
            <a:extLst>
              <a:ext uri="{FF2B5EF4-FFF2-40B4-BE49-F238E27FC236}">
                <a16:creationId xmlns:a16="http://schemas.microsoft.com/office/drawing/2014/main" id="{6157E5B8-229B-C42D-9209-9A4411B7C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0008" y="1048939"/>
            <a:ext cx="2289257" cy="2340894"/>
          </a:xfrm>
          <a:prstGeom prst="rect">
            <a:avLst/>
          </a:prstGeom>
        </p:spPr>
      </p:pic>
      <p:pic>
        <p:nvPicPr>
          <p:cNvPr id="9" name="그림 8" descr="The image shows a blue, triangular road sign in South Korea, depicting two children walking hand-in-hand under a clear sky.&#10;&#10;AI 생성 콘텐츠는 정확하지 않을 수 있습니다.">
            <a:extLst>
              <a:ext uri="{FF2B5EF4-FFF2-40B4-BE49-F238E27FC236}">
                <a16:creationId xmlns:a16="http://schemas.microsoft.com/office/drawing/2014/main" id="{03280A80-D27B-F2E1-FC47-9B21275C7B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830" y="3455995"/>
            <a:ext cx="1481763" cy="148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154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최종 결과 – 모델 종합 비교 &amp; 프로젝트 결론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029968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029968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28600" y="10515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1위  ResNet101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46304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91.76%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389888" cy="256032"/>
          </a:xfrm>
          <a:prstGeom prst="rect">
            <a:avLst/>
          </a:prstGeom>
          <a:solidFill>
            <a:srgbClr val="F8FAFC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83464" y="232257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모델 · 스쿨존 Prec 0.80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판독 우수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441448" y="1051560"/>
            <a:ext cx="2029968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441448" y="1051560"/>
            <a:ext cx="2029968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441448" y="10515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2위  ResNet50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41448" y="146304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90.62%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761488" y="2011680"/>
            <a:ext cx="1389888" cy="256032"/>
          </a:xfrm>
          <a:prstGeom prst="rect">
            <a:avLst/>
          </a:prstGeom>
          <a:solidFill>
            <a:srgbClr val="F8FAFC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761488" y="20116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496312" y="232257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성능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스쿨존 Prec 0.68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54296" y="1051560"/>
            <a:ext cx="2029968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654296" y="1051560"/>
            <a:ext cx="2029968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654296" y="10515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3위  ResNet101+증강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54296" y="146304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77.07%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974336" y="2011680"/>
            <a:ext cx="1389888" cy="256032"/>
          </a:xfrm>
          <a:prstGeom prst="rect">
            <a:avLst/>
          </a:prstGeom>
          <a:solidFill>
            <a:srgbClr val="F8FAFC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974336" y="20116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232257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증강 역효과 발생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판독 성능 저하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867144" y="1051560"/>
            <a:ext cx="2029968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867144" y="1051560"/>
            <a:ext cx="2029968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867144" y="1051560"/>
            <a:ext cx="20299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4위  VGG16 / MobileNetV2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67144" y="1463040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29% / 0.94%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187184" y="2011680"/>
            <a:ext cx="1389888" cy="256032"/>
          </a:xfrm>
          <a:prstGeom prst="rect">
            <a:avLst/>
          </a:prstGeom>
          <a:solidFill>
            <a:srgbClr val="F8FAFC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187184" y="2011680"/>
            <a:ext cx="1389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22008" y="232257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붕괴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 Collapse</a:t>
            </a:r>
            <a:endParaRPr lang="en-US" sz="750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784347AD-9EFE-567B-BBCE-BB3093D7DB4F}"/>
              </a:ext>
            </a:extLst>
          </p:cNvPr>
          <p:cNvGrpSpPr/>
          <p:nvPr/>
        </p:nvGrpSpPr>
        <p:grpSpPr>
          <a:xfrm>
            <a:off x="228600" y="3090672"/>
            <a:ext cx="8686800" cy="1952264"/>
            <a:chOff x="228600" y="3090672"/>
            <a:chExt cx="8686800" cy="2084832"/>
          </a:xfrm>
        </p:grpSpPr>
        <p:sp>
          <p:nvSpPr>
            <p:cNvPr id="32" name="Text 30"/>
            <p:cNvSpPr/>
            <p:nvPr/>
          </p:nvSpPr>
          <p:spPr>
            <a:xfrm>
              <a:off x="228600" y="3090672"/>
              <a:ext cx="2286000" cy="31089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2B4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핵심 발견 &amp; 결론</a:t>
              </a:r>
              <a:endParaRPr lang="en-US" sz="120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228600" y="3474720"/>
              <a:ext cx="8686800" cy="384048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Shape 32"/>
            <p:cNvSpPr/>
            <p:nvPr/>
          </p:nvSpPr>
          <p:spPr>
            <a:xfrm>
              <a:off x="228600" y="3474720"/>
              <a:ext cx="384048" cy="384048"/>
            </a:xfrm>
            <a:prstGeom prst="rect">
              <a:avLst/>
            </a:prstGeom>
            <a:solidFill>
              <a:srgbClr val="059669"/>
            </a:solidFill>
            <a:ln w="12700">
              <a:solidFill>
                <a:srgbClr val="059669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228600" y="3474720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✓</a:t>
              </a:r>
              <a:endParaRPr lang="en-US" sz="14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658368" y="3493008"/>
              <a:ext cx="15544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059669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깊은 네트워크가 유리</a:t>
              </a:r>
              <a:endParaRPr lang="en-US" sz="95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658368" y="3694176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101층이 50층보다 표지판 숫자 미세 특징 판별에 유리 (스쿨존 Prec +0.12)</a:t>
              </a:r>
              <a:endParaRPr lang="en-US" sz="85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228600" y="3913632"/>
              <a:ext cx="8686800" cy="384048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Shape 37"/>
            <p:cNvSpPr/>
            <p:nvPr/>
          </p:nvSpPr>
          <p:spPr>
            <a:xfrm>
              <a:off x="228600" y="3913632"/>
              <a:ext cx="384048" cy="384048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 38"/>
            <p:cNvSpPr/>
            <p:nvPr/>
          </p:nvSpPr>
          <p:spPr>
            <a:xfrm>
              <a:off x="228600" y="3913632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△</a:t>
              </a:r>
              <a:endParaRPr lang="en-US" sz="14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658368" y="3931920"/>
              <a:ext cx="15544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D9770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증강 역효과 발견</a:t>
              </a:r>
              <a:endParaRPr lang="en-US" sz="95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658368" y="4133088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저해상도 크롭 이미지에 강한 기하학적 증강 시 숫자 인식 저하 (Acc -14.69%p)</a:t>
              </a:r>
              <a:endParaRPr lang="en-US" sz="85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228600" y="4352544"/>
              <a:ext cx="8686800" cy="384048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Shape 42"/>
            <p:cNvSpPr/>
            <p:nvPr/>
          </p:nvSpPr>
          <p:spPr>
            <a:xfrm>
              <a:off x="228600" y="4352544"/>
              <a:ext cx="384048" cy="384048"/>
            </a:xfrm>
            <a:prstGeom prst="rect">
              <a:avLst/>
            </a:prstGeom>
            <a:solidFill>
              <a:srgbClr val="DC2626"/>
            </a:solidFill>
            <a:ln w="12700">
              <a:solidFill>
                <a:srgbClr val="DC2626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43"/>
            <p:cNvSpPr/>
            <p:nvPr/>
          </p:nvSpPr>
          <p:spPr>
            <a:xfrm>
              <a:off x="228600" y="4352544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✗</a:t>
              </a:r>
              <a:endParaRPr lang="en-US" sz="14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658368" y="4370832"/>
              <a:ext cx="15544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DC262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경량화 모델 한계</a:t>
              </a:r>
              <a:endParaRPr lang="en-US" sz="95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658368" y="4572000"/>
              <a:ext cx="822960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1E293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불균형 데이터 + class_weight + 복잡한 데이터 환경에서 학습 붕괴 위험</a:t>
              </a:r>
              <a:endParaRPr lang="en-US" sz="85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228600" y="4791456"/>
              <a:ext cx="8686800" cy="384048"/>
            </a:xfrm>
            <a:prstGeom prst="rect">
              <a:avLst/>
            </a:prstGeom>
            <a:solidFill>
              <a:srgbClr val="F8FAFC"/>
            </a:solidFill>
            <a:ln w="1016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9" name="Shape 47"/>
            <p:cNvSpPr/>
            <p:nvPr/>
          </p:nvSpPr>
          <p:spPr>
            <a:xfrm>
              <a:off x="228600" y="4791456"/>
              <a:ext cx="384048" cy="384048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48"/>
            <p:cNvSpPr/>
            <p:nvPr/>
          </p:nvSpPr>
          <p:spPr>
            <a:xfrm>
              <a:off x="228600" y="4791456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!</a:t>
              </a:r>
              <a:endParaRPr lang="en-US" sz="14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658368" y="4809744"/>
              <a:ext cx="155448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2563E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탐지기 선행 필수</a:t>
              </a:r>
              <a:endParaRPr lang="en-US" sz="95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292608" y="5084064"/>
              <a:ext cx="8485632" cy="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2563E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향후: YOLO+ResNet101 파이프라인 · 약한 증강 실험 · OCR 모듈 추가 · 엣지 디바이스 경량화</a:t>
              </a:r>
              <a:endParaRPr lang="en-US" sz="850" dirty="0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097280" y="1097280"/>
            <a:ext cx="6949440" cy="2880360"/>
          </a:xfrm>
          <a:prstGeom prst="rect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188720" y="132588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224028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C284045  최원오  |  머신러닝 기말 프로젝트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26517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CNN 기반 전이학습을 통한 한국 도로 표지판 인식 및 위험도 분류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4114800"/>
            <a:ext cx="1993392" cy="8412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28600" y="416052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ResNet101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91.76%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461772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성능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04872" y="4114800"/>
            <a:ext cx="1993392" cy="8412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404872" y="416052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153,083장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클래스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04872" y="461772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81144" y="4114800"/>
            <a:ext cx="1993392" cy="8412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81144" y="416052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증강 역효과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81144" y="461772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발견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57416" y="4114800"/>
            <a:ext cx="1993392" cy="84124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757416" y="416052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YOLO+ResNet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8BD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파이프라인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57416" y="461772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과제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0" y="5065776"/>
            <a:ext cx="9144000" cy="6629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3300</Words>
  <Application>Microsoft Office PowerPoint</Application>
  <PresentationFormat>화면 슬라이드 쇼(16:9)</PresentationFormat>
  <Paragraphs>691</Paragraphs>
  <Slides>30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최원오</cp:lastModifiedBy>
  <cp:revision>10</cp:revision>
  <dcterms:created xsi:type="dcterms:W3CDTF">2026-06-08T04:11:57Z</dcterms:created>
  <dcterms:modified xsi:type="dcterms:W3CDTF">2026-06-08T17:57:18Z</dcterms:modified>
</cp:coreProperties>
</file>